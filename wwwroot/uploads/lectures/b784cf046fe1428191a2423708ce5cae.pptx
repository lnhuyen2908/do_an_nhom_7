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4"/>
  </p:notesMasterIdLst>
  <p:sldIdLst>
    <p:sldId id="256" r:id="rId2"/>
    <p:sldId id="257" r:id="rId3"/>
    <p:sldId id="262" r:id="rId4"/>
    <p:sldId id="258" r:id="rId5"/>
    <p:sldId id="260" r:id="rId6"/>
    <p:sldId id="261" r:id="rId7"/>
    <p:sldId id="263" r:id="rId8"/>
    <p:sldId id="264" r:id="rId9"/>
    <p:sldId id="265" r:id="rId10"/>
    <p:sldId id="323" r:id="rId11"/>
    <p:sldId id="324" r:id="rId12"/>
    <p:sldId id="266" r:id="rId13"/>
    <p:sldId id="267" r:id="rId14"/>
    <p:sldId id="268" r:id="rId15"/>
    <p:sldId id="269" r:id="rId16"/>
    <p:sldId id="291" r:id="rId17"/>
    <p:sldId id="270" r:id="rId18"/>
    <p:sldId id="271" r:id="rId19"/>
    <p:sldId id="272" r:id="rId20"/>
    <p:sldId id="273" r:id="rId21"/>
    <p:sldId id="280" r:id="rId22"/>
    <p:sldId id="274" r:id="rId23"/>
    <p:sldId id="275" r:id="rId24"/>
    <p:sldId id="276" r:id="rId25"/>
    <p:sldId id="277" r:id="rId26"/>
    <p:sldId id="850" r:id="rId27"/>
    <p:sldId id="278" r:id="rId28"/>
    <p:sldId id="279" r:id="rId29"/>
    <p:sldId id="858" r:id="rId30"/>
    <p:sldId id="859" r:id="rId31"/>
    <p:sldId id="860" r:id="rId32"/>
    <p:sldId id="281" r:id="rId33"/>
    <p:sldId id="290" r:id="rId34"/>
    <p:sldId id="282" r:id="rId35"/>
    <p:sldId id="283" r:id="rId36"/>
    <p:sldId id="284" r:id="rId37"/>
    <p:sldId id="285" r:id="rId38"/>
    <p:sldId id="286" r:id="rId39"/>
    <p:sldId id="287" r:id="rId40"/>
    <p:sldId id="289" r:id="rId41"/>
    <p:sldId id="288" r:id="rId42"/>
    <p:sldId id="292" r:id="rId43"/>
    <p:sldId id="293" r:id="rId44"/>
    <p:sldId id="294" r:id="rId45"/>
    <p:sldId id="295" r:id="rId46"/>
    <p:sldId id="296" r:id="rId47"/>
    <p:sldId id="297" r:id="rId48"/>
    <p:sldId id="299" r:id="rId49"/>
    <p:sldId id="298" r:id="rId50"/>
    <p:sldId id="300" r:id="rId51"/>
    <p:sldId id="301" r:id="rId52"/>
    <p:sldId id="302" r:id="rId53"/>
    <p:sldId id="303" r:id="rId54"/>
    <p:sldId id="304" r:id="rId55"/>
    <p:sldId id="305" r:id="rId56"/>
    <p:sldId id="306" r:id="rId57"/>
    <p:sldId id="307" r:id="rId58"/>
    <p:sldId id="308" r:id="rId59"/>
    <p:sldId id="309" r:id="rId60"/>
    <p:sldId id="862" r:id="rId61"/>
    <p:sldId id="864" r:id="rId62"/>
    <p:sldId id="310" r:id="rId63"/>
    <p:sldId id="311" r:id="rId64"/>
    <p:sldId id="312" r:id="rId65"/>
    <p:sldId id="313" r:id="rId66"/>
    <p:sldId id="314" r:id="rId67"/>
    <p:sldId id="315" r:id="rId68"/>
    <p:sldId id="318" r:id="rId69"/>
    <p:sldId id="319" r:id="rId70"/>
    <p:sldId id="863" r:id="rId71"/>
    <p:sldId id="320" r:id="rId72"/>
    <p:sldId id="321" r:id="rId73"/>
    <p:sldId id="333" r:id="rId74"/>
    <p:sldId id="865" r:id="rId75"/>
    <p:sldId id="335" r:id="rId76"/>
    <p:sldId id="336" r:id="rId77"/>
    <p:sldId id="337" r:id="rId78"/>
    <p:sldId id="334" r:id="rId79"/>
    <p:sldId id="866" r:id="rId80"/>
    <p:sldId id="861" r:id="rId81"/>
    <p:sldId id="357" r:id="rId82"/>
    <p:sldId id="339" r:id="rId83"/>
    <p:sldId id="358" r:id="rId84"/>
    <p:sldId id="330" r:id="rId85"/>
    <p:sldId id="331" r:id="rId86"/>
    <p:sldId id="873" r:id="rId87"/>
    <p:sldId id="867" r:id="rId88"/>
    <p:sldId id="868" r:id="rId89"/>
    <p:sldId id="869" r:id="rId90"/>
    <p:sldId id="870" r:id="rId91"/>
    <p:sldId id="871" r:id="rId92"/>
    <p:sldId id="872" r:id="rId9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en le" initials="hl" lastIdx="1" clrIdx="0">
    <p:extLst>
      <p:ext uri="{19B8F6BF-5375-455C-9EA6-DF929625EA0E}">
        <p15:presenceInfo xmlns:p15="http://schemas.microsoft.com/office/powerpoint/2012/main" userId="3d017afa0d0e244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88945" autoAdjust="0"/>
  </p:normalViewPr>
  <p:slideViewPr>
    <p:cSldViewPr snapToGrid="0">
      <p:cViewPr varScale="1">
        <p:scale>
          <a:sx n="56" d="100"/>
          <a:sy n="56" d="100"/>
        </p:scale>
        <p:origin x="872"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commentAuthors" Target="commentAuthor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2-26T08:34:55.780" idx="1">
    <p:pos x="6545" y="252"/>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B706C-3F43-41D5-97BF-E702E9B12240}"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2A8251-6C65-4522-A18C-DC23D5E7690E}" type="slidenum">
              <a:rPr lang="en-US" smtClean="0"/>
              <a:t>‹#›</a:t>
            </a:fld>
            <a:endParaRPr lang="en-US"/>
          </a:p>
        </p:txBody>
      </p:sp>
    </p:spTree>
    <p:extLst>
      <p:ext uri="{BB962C8B-B14F-4D97-AF65-F5344CB8AC3E}">
        <p14:creationId xmlns:p14="http://schemas.microsoft.com/office/powerpoint/2010/main" val="4105387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4D6F88A-F17F-491B-A558-A5E9980DD532}" type="slidenum">
              <a:rPr lang="en-US" smtClean="0"/>
              <a:pPr/>
              <a:t>29</a:t>
            </a:fld>
            <a:endParaRPr lang="en-US"/>
          </a:p>
        </p:txBody>
      </p:sp>
    </p:spTree>
    <p:extLst>
      <p:ext uri="{BB962C8B-B14F-4D97-AF65-F5344CB8AC3E}">
        <p14:creationId xmlns:p14="http://schemas.microsoft.com/office/powerpoint/2010/main" val="2177784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4D6F88A-F17F-491B-A558-A5E9980DD532}" type="slidenum">
              <a:rPr lang="en-US" smtClean="0"/>
              <a:pPr/>
              <a:t>30</a:t>
            </a:fld>
            <a:endParaRPr lang="en-US"/>
          </a:p>
        </p:txBody>
      </p:sp>
    </p:spTree>
    <p:extLst>
      <p:ext uri="{BB962C8B-B14F-4D97-AF65-F5344CB8AC3E}">
        <p14:creationId xmlns:p14="http://schemas.microsoft.com/office/powerpoint/2010/main" val="722178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4D6F88A-F17F-491B-A558-A5E9980DD532}" type="slidenum">
              <a:rPr lang="en-US" smtClean="0"/>
              <a:pPr/>
              <a:t>31</a:t>
            </a:fld>
            <a:endParaRPr lang="en-US"/>
          </a:p>
        </p:txBody>
      </p:sp>
    </p:spTree>
    <p:extLst>
      <p:ext uri="{BB962C8B-B14F-4D97-AF65-F5344CB8AC3E}">
        <p14:creationId xmlns:p14="http://schemas.microsoft.com/office/powerpoint/2010/main" val="1664541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solidFill>
                  <a:srgbClr val="212529"/>
                </a:solidFill>
                <a:effectLst/>
                <a:latin typeface="Segoe UI" panose="020B0502040204020203" pitchFamily="34" charset="0"/>
                <a:ea typeface="Times New Roman" panose="02020603050405020304" pitchFamily="18" charset="0"/>
              </a:rPr>
              <a:t>Chú</a:t>
            </a:r>
            <a:r>
              <a:rPr lang="en-US" sz="1800" dirty="0">
                <a:solidFill>
                  <a:srgbClr val="212529"/>
                </a:solidFill>
                <a:effectLst/>
                <a:latin typeface="Segoe UI" panose="020B0502040204020203" pitchFamily="34" charset="0"/>
                <a:ea typeface="Times New Roman" panose="02020603050405020304" pitchFamily="18" charset="0"/>
              </a:rPr>
              <a:t> ý </a:t>
            </a:r>
            <a:r>
              <a:rPr lang="en-US" sz="1800" dirty="0" err="1">
                <a:solidFill>
                  <a:srgbClr val="212529"/>
                </a:solidFill>
                <a:effectLst/>
                <a:latin typeface="Segoe UI" panose="020B0502040204020203" pitchFamily="34" charset="0"/>
                <a:ea typeface="Times New Roman" panose="02020603050405020304" pitchFamily="18" charset="0"/>
              </a:rPr>
              <a:t>cần</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rPr>
              <a:t>nạp</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rPr>
              <a:t>thư</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rPr>
              <a:t>viện</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rPr>
              <a:t>Linq</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rPr>
              <a:t>bằng</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rPr>
              <a:t>using </a:t>
            </a:r>
            <a:r>
              <a:rPr lang="en-US" sz="1800" dirty="0" err="1">
                <a:solidFill>
                  <a:srgbClr val="C22C72"/>
                </a:solidFill>
                <a:effectLst/>
                <a:latin typeface="Consolas" panose="020B0609020204030204" pitchFamily="49" charset="0"/>
                <a:ea typeface="Times New Roman" panose="02020603050405020304" pitchFamily="18" charset="0"/>
              </a:rPr>
              <a:t>System.Linq</a:t>
            </a:r>
            <a:r>
              <a:rPr lang="en-US" sz="1800" dirty="0">
                <a:solidFill>
                  <a:srgbClr val="C22C72"/>
                </a:solidFill>
                <a:effectLst/>
                <a:latin typeface="Consolas" panose="020B0609020204030204" pitchFamily="49" charset="0"/>
                <a:ea typeface="Times New Roman" panose="02020603050405020304" pitchFamily="18" charset="0"/>
              </a:rPr>
              <a:t>;</a:t>
            </a:r>
            <a:r>
              <a:rPr lang="en-US" sz="1800" dirty="0">
                <a:solidFill>
                  <a:srgbClr val="212529"/>
                </a:solidFill>
                <a:effectLst/>
                <a:latin typeface="Segoe UI" panose="020B0502040204020203" pitchFamily="34" charset="0"/>
                <a:ea typeface="Times New Roman" panose="02020603050405020304" pitchFamily="18" charset="0"/>
              </a:rPr>
              <a:t> ở </a:t>
            </a:r>
            <a:r>
              <a:rPr lang="en-US" sz="1800" dirty="0" err="1">
                <a:solidFill>
                  <a:srgbClr val="212529"/>
                </a:solidFill>
                <a:effectLst/>
                <a:latin typeface="Segoe UI" panose="020B0502040204020203" pitchFamily="34" charset="0"/>
                <a:ea typeface="Times New Roman" panose="02020603050405020304" pitchFamily="18" charset="0"/>
              </a:rPr>
              <a:t>đầu</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rPr>
              <a:t>để</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rPr>
              <a:t>có</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rPr>
              <a:t>phương</a:t>
            </a:r>
            <a:r>
              <a:rPr lang="en-US" sz="1800" dirty="0">
                <a:solidFill>
                  <a:srgbClr val="212529"/>
                </a:solidFill>
                <a:effectLst/>
                <a:latin typeface="Segoe UI" panose="020B0502040204020203" pitchFamily="34" charset="0"/>
                <a:ea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rPr>
              <a:t>thức</a:t>
            </a:r>
            <a:r>
              <a:rPr lang="en-US" sz="1800" dirty="0">
                <a:solidFill>
                  <a:srgbClr val="212529"/>
                </a:solidFill>
                <a:effectLst/>
                <a:latin typeface="Segoe UI" panose="020B0502040204020203" pitchFamily="34" charset="0"/>
                <a:ea typeface="Times New Roman" panose="02020603050405020304" pitchFamily="18" charset="0"/>
              </a:rPr>
              <a:t> Max(), Min(), Sum()</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F82A8251-6C65-4522-A18C-DC23D5E7690E}" type="slidenum">
              <a:rPr lang="en-US" smtClean="0"/>
              <a:t>66</a:t>
            </a:fld>
            <a:endParaRPr lang="en-US"/>
          </a:p>
        </p:txBody>
      </p:sp>
    </p:spTree>
    <p:extLst>
      <p:ext uri="{BB962C8B-B14F-4D97-AF65-F5344CB8AC3E}">
        <p14:creationId xmlns:p14="http://schemas.microsoft.com/office/powerpoint/2010/main" val="902245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543232-36D1-41C9-BAC4-DF475F655EA8}" type="slidenum">
              <a:rPr lang="en-US" smtClean="0"/>
              <a:t>85</a:t>
            </a:fld>
            <a:endParaRPr lang="en-US"/>
          </a:p>
        </p:txBody>
      </p:sp>
    </p:spTree>
    <p:extLst>
      <p:ext uri="{BB962C8B-B14F-4D97-AF65-F5344CB8AC3E}">
        <p14:creationId xmlns:p14="http://schemas.microsoft.com/office/powerpoint/2010/main" val="3096648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543232-36D1-41C9-BAC4-DF475F655EA8}" type="slidenum">
              <a:rPr lang="en-US" smtClean="0"/>
              <a:t>89</a:t>
            </a:fld>
            <a:endParaRPr lang="en-US"/>
          </a:p>
        </p:txBody>
      </p:sp>
    </p:spTree>
    <p:extLst>
      <p:ext uri="{BB962C8B-B14F-4D97-AF65-F5344CB8AC3E}">
        <p14:creationId xmlns:p14="http://schemas.microsoft.com/office/powerpoint/2010/main" val="1714959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2/26/2026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2/26/2026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2/26/2026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2/26/2026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docs.microsoft.com/en-us/dotnet/api/system.array"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3F57C-B36B-783B-3434-8AA14777BC05}"/>
              </a:ext>
            </a:extLst>
          </p:cNvPr>
          <p:cNvSpPr>
            <a:spLocks noGrp="1"/>
          </p:cNvSpPr>
          <p:nvPr>
            <p:ph type="ctrTitle"/>
          </p:nvPr>
        </p:nvSpPr>
        <p:spPr/>
        <p:txBody>
          <a:bodyPr/>
          <a:lstStyle/>
          <a:p>
            <a:r>
              <a:rPr lang="vi-VN" dirty="0"/>
              <a:t>Chương 2: 	</a:t>
            </a:r>
            <a:r>
              <a:rPr lang="vi-VN" dirty="0" err="1"/>
              <a:t>Lập</a:t>
            </a:r>
            <a:r>
              <a:rPr lang="vi-VN" dirty="0"/>
              <a:t> </a:t>
            </a:r>
            <a:r>
              <a:rPr lang="vi-VN" dirty="0" err="1"/>
              <a:t>trình</a:t>
            </a:r>
            <a:r>
              <a:rPr lang="vi-VN" dirty="0"/>
              <a:t> căn </a:t>
            </a:r>
            <a:r>
              <a:rPr lang="vi-VN" dirty="0" err="1"/>
              <a:t>bản</a:t>
            </a:r>
            <a:r>
              <a:rPr lang="vi-VN" dirty="0"/>
              <a:t> </a:t>
            </a:r>
            <a:r>
              <a:rPr lang="vi-VN" dirty="0" err="1"/>
              <a:t>với</a:t>
            </a:r>
            <a:r>
              <a:rPr lang="vi-VN" dirty="0"/>
              <a:t> c# .</a:t>
            </a:r>
            <a:r>
              <a:rPr lang="vi-VN" dirty="0" err="1"/>
              <a:t>net</a:t>
            </a:r>
            <a:r>
              <a:rPr lang="vi-VN" dirty="0"/>
              <a:t> </a:t>
            </a:r>
            <a:r>
              <a:rPr lang="vi-VN" dirty="0" err="1"/>
              <a:t>core</a:t>
            </a:r>
            <a:endParaRPr lang="vi-VN" dirty="0"/>
          </a:p>
        </p:txBody>
      </p:sp>
      <p:sp>
        <p:nvSpPr>
          <p:cNvPr id="3" name="Subtitle 2">
            <a:extLst>
              <a:ext uri="{FF2B5EF4-FFF2-40B4-BE49-F238E27FC236}">
                <a16:creationId xmlns:a16="http://schemas.microsoft.com/office/drawing/2014/main" id="{421B833B-E692-9933-A3CA-76D5C05352E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14208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24528-CA45-84E3-FA5B-4AE20ED33B97}"/>
              </a:ext>
            </a:extLst>
          </p:cNvPr>
          <p:cNvSpPr>
            <a:spLocks noGrp="1"/>
          </p:cNvSpPr>
          <p:nvPr>
            <p:ph type="title"/>
          </p:nvPr>
        </p:nvSpPr>
        <p:spPr/>
        <p:txBody>
          <a:bodyPr>
            <a:normAutofit/>
          </a:bodyPr>
          <a:lstStyle/>
          <a:p>
            <a:r>
              <a:rPr lang="vi-VN" sz="4000" b="1" dirty="0"/>
              <a:t>Chương 2: </a:t>
            </a:r>
            <a:r>
              <a:rPr lang="vi-VN" sz="4000" b="1" dirty="0" err="1"/>
              <a:t>Lập</a:t>
            </a:r>
            <a:r>
              <a:rPr lang="vi-VN" sz="4000" b="1" dirty="0"/>
              <a:t> </a:t>
            </a:r>
            <a:r>
              <a:rPr lang="vi-VN" sz="4000" b="1" dirty="0" err="1"/>
              <a:t>trình</a:t>
            </a:r>
            <a:r>
              <a:rPr lang="vi-VN" sz="4000" b="1" dirty="0"/>
              <a:t> căn </a:t>
            </a:r>
            <a:r>
              <a:rPr lang="vi-VN" sz="4000" b="1" dirty="0" err="1"/>
              <a:t>bản</a:t>
            </a:r>
            <a:r>
              <a:rPr lang="vi-VN" sz="4000" b="1" dirty="0"/>
              <a:t> </a:t>
            </a:r>
            <a:r>
              <a:rPr lang="vi-VN" sz="4000" b="1" dirty="0" err="1"/>
              <a:t>với</a:t>
            </a:r>
            <a:r>
              <a:rPr lang="vi-VN" sz="4000" b="1" dirty="0"/>
              <a:t> c# .</a:t>
            </a:r>
            <a:r>
              <a:rPr lang="vi-VN" sz="4000" b="1" dirty="0" err="1"/>
              <a:t>net</a:t>
            </a:r>
            <a:r>
              <a:rPr lang="vi-VN" sz="4000" b="1" dirty="0"/>
              <a:t> </a:t>
            </a:r>
            <a:r>
              <a:rPr lang="vi-VN" sz="4000" b="1" dirty="0" err="1"/>
              <a:t>core</a:t>
            </a:r>
            <a:endParaRPr lang="en-US" sz="4000" b="1" dirty="0"/>
          </a:p>
        </p:txBody>
      </p:sp>
      <p:sp>
        <p:nvSpPr>
          <p:cNvPr id="3" name="Content Placeholder 2">
            <a:extLst>
              <a:ext uri="{FF2B5EF4-FFF2-40B4-BE49-F238E27FC236}">
                <a16:creationId xmlns:a16="http://schemas.microsoft.com/office/drawing/2014/main" id="{B6588DB5-F3FE-197B-6B93-B9057E9FECDF}"/>
              </a:ext>
            </a:extLst>
          </p:cNvPr>
          <p:cNvSpPr>
            <a:spLocks noGrp="1"/>
          </p:cNvSpPr>
          <p:nvPr>
            <p:ph idx="1"/>
          </p:nvPr>
        </p:nvSpPr>
        <p:spPr/>
        <p:txBody>
          <a:bodyPr>
            <a:normAutofit/>
          </a:bodyPr>
          <a:lstStyle/>
          <a:p>
            <a:r>
              <a:rPr lang="vi-VN" b="1" dirty="0"/>
              <a:t>2.1	</a:t>
            </a:r>
            <a:r>
              <a:rPr lang="vi-VN" b="1" dirty="0" err="1"/>
              <a:t>Cấu</a:t>
            </a:r>
            <a:r>
              <a:rPr lang="vi-VN" b="1" dirty="0"/>
              <a:t> </a:t>
            </a:r>
            <a:r>
              <a:rPr lang="vi-VN" b="1" dirty="0" err="1"/>
              <a:t>trúc</a:t>
            </a:r>
            <a:r>
              <a:rPr lang="vi-VN" b="1" dirty="0"/>
              <a:t> </a:t>
            </a:r>
            <a:r>
              <a:rPr lang="vi-VN" b="1" dirty="0" err="1"/>
              <a:t>của</a:t>
            </a:r>
            <a:r>
              <a:rPr lang="vi-VN" b="1" dirty="0"/>
              <a:t> chương </a:t>
            </a:r>
            <a:r>
              <a:rPr lang="vi-VN" b="1" dirty="0" err="1"/>
              <a:t>trình</a:t>
            </a:r>
            <a:r>
              <a:rPr lang="vi-VN" b="1" dirty="0"/>
              <a:t> c#, chương </a:t>
            </a:r>
            <a:r>
              <a:rPr lang="vi-VN" b="1" dirty="0" err="1"/>
              <a:t>trình</a:t>
            </a:r>
            <a:r>
              <a:rPr lang="vi-VN" b="1" dirty="0"/>
              <a:t> c# </a:t>
            </a:r>
            <a:r>
              <a:rPr lang="vi-VN" b="1" dirty="0" err="1"/>
              <a:t>đầu</a:t>
            </a:r>
            <a:r>
              <a:rPr lang="vi-VN" b="1" dirty="0"/>
              <a:t> tiên, </a:t>
            </a:r>
            <a:r>
              <a:rPr lang="vi-VN" b="1" dirty="0" err="1"/>
              <a:t>Namespace</a:t>
            </a:r>
            <a:endParaRPr lang="vi-VN" b="1" dirty="0"/>
          </a:p>
          <a:p>
            <a:r>
              <a:rPr lang="vi-VN" b="1" dirty="0"/>
              <a:t>2.2	</a:t>
            </a:r>
            <a:r>
              <a:rPr lang="vi-VN" b="1" dirty="0" err="1"/>
              <a:t>Chú</a:t>
            </a:r>
            <a:r>
              <a:rPr lang="vi-VN" b="1" dirty="0"/>
              <a:t> </a:t>
            </a:r>
            <a:r>
              <a:rPr lang="vi-VN" b="1" dirty="0" err="1"/>
              <a:t>thích</a:t>
            </a:r>
            <a:r>
              <a:rPr lang="vi-VN" b="1" dirty="0"/>
              <a:t>, </a:t>
            </a:r>
            <a:r>
              <a:rPr lang="vi-VN" b="1" dirty="0" err="1"/>
              <a:t>Biến</a:t>
            </a:r>
            <a:r>
              <a:rPr lang="vi-VN" b="1" dirty="0"/>
              <a:t>, </a:t>
            </a:r>
            <a:r>
              <a:rPr lang="vi-VN" b="1" dirty="0" err="1"/>
              <a:t>hằng</a:t>
            </a:r>
            <a:r>
              <a:rPr lang="vi-VN" b="1" dirty="0"/>
              <a:t> </a:t>
            </a:r>
            <a:r>
              <a:rPr lang="vi-VN" b="1" dirty="0" err="1"/>
              <a:t>số</a:t>
            </a:r>
            <a:r>
              <a:rPr lang="vi-VN" b="1" dirty="0"/>
              <a:t>, </a:t>
            </a:r>
            <a:r>
              <a:rPr lang="vi-VN" b="1" dirty="0" err="1"/>
              <a:t>kiểu</a:t>
            </a:r>
            <a:r>
              <a:rPr lang="vi-VN" b="1" dirty="0"/>
              <a:t> </a:t>
            </a:r>
            <a:r>
              <a:rPr lang="vi-VN" b="1" dirty="0" err="1"/>
              <a:t>dữ</a:t>
            </a:r>
            <a:r>
              <a:rPr lang="vi-VN" b="1" dirty="0"/>
              <a:t> </a:t>
            </a:r>
            <a:r>
              <a:rPr lang="vi-VN" b="1" dirty="0" err="1"/>
              <a:t>liệu</a:t>
            </a:r>
            <a:r>
              <a:rPr lang="vi-VN" b="1" dirty="0"/>
              <a:t> </a:t>
            </a:r>
            <a:r>
              <a:rPr lang="vi-VN" b="1" dirty="0" err="1"/>
              <a:t>và</a:t>
            </a:r>
            <a:r>
              <a:rPr lang="vi-VN" b="1" dirty="0"/>
              <a:t> </a:t>
            </a:r>
            <a:r>
              <a:rPr lang="vi-VN" b="1" dirty="0" err="1"/>
              <a:t>nhập</a:t>
            </a:r>
            <a:r>
              <a:rPr lang="vi-VN" b="1" dirty="0"/>
              <a:t> </a:t>
            </a:r>
            <a:r>
              <a:rPr lang="vi-VN" b="1" dirty="0" err="1"/>
              <a:t>xuất</a:t>
            </a:r>
            <a:r>
              <a:rPr lang="vi-VN" b="1" dirty="0"/>
              <a:t> </a:t>
            </a:r>
            <a:r>
              <a:rPr lang="vi-VN" b="1" dirty="0" err="1"/>
              <a:t>dữ</a:t>
            </a:r>
            <a:r>
              <a:rPr lang="vi-VN" b="1" dirty="0"/>
              <a:t> </a:t>
            </a:r>
            <a:r>
              <a:rPr lang="vi-VN" b="1" dirty="0" err="1"/>
              <a:t>liệu</a:t>
            </a:r>
            <a:r>
              <a:rPr lang="vi-VN" b="1" dirty="0"/>
              <a:t> C# .NET </a:t>
            </a:r>
            <a:r>
              <a:rPr lang="vi-VN" b="1" dirty="0" err="1"/>
              <a:t>Core</a:t>
            </a:r>
            <a:endParaRPr lang="vi-VN" b="1" dirty="0"/>
          </a:p>
          <a:p>
            <a:r>
              <a:rPr lang="vi-VN" b="1" dirty="0"/>
              <a:t>2.3	</a:t>
            </a:r>
            <a:r>
              <a:rPr lang="vi-VN" b="1" dirty="0" err="1"/>
              <a:t>Các</a:t>
            </a:r>
            <a:r>
              <a:rPr lang="vi-VN" b="1" dirty="0"/>
              <a:t> </a:t>
            </a:r>
            <a:r>
              <a:rPr lang="vi-VN" b="1" dirty="0" err="1"/>
              <a:t>toán</a:t>
            </a:r>
            <a:r>
              <a:rPr lang="vi-VN" b="1" dirty="0"/>
              <a:t> </a:t>
            </a:r>
            <a:r>
              <a:rPr lang="vi-VN" b="1" dirty="0" err="1"/>
              <a:t>tử</a:t>
            </a:r>
            <a:endParaRPr lang="vi-VN" b="1" dirty="0"/>
          </a:p>
          <a:p>
            <a:r>
              <a:rPr lang="vi-VN" b="1" dirty="0"/>
              <a:t>2.4	Câu </a:t>
            </a:r>
            <a:r>
              <a:rPr lang="vi-VN" b="1" dirty="0" err="1"/>
              <a:t>lệnh</a:t>
            </a:r>
            <a:r>
              <a:rPr lang="vi-VN" b="1" dirty="0"/>
              <a:t> </a:t>
            </a:r>
            <a:r>
              <a:rPr lang="vi-VN" b="1" dirty="0" err="1"/>
              <a:t>rẽ</a:t>
            </a:r>
            <a:r>
              <a:rPr lang="vi-VN" b="1" dirty="0"/>
              <a:t> </a:t>
            </a:r>
            <a:r>
              <a:rPr lang="vi-VN" b="1" dirty="0" err="1"/>
              <a:t>nhánh</a:t>
            </a:r>
            <a:r>
              <a:rPr lang="vi-VN" b="1" dirty="0"/>
              <a:t> </a:t>
            </a:r>
            <a:r>
              <a:rPr lang="vi-VN" b="1" dirty="0" err="1"/>
              <a:t>if</a:t>
            </a:r>
            <a:r>
              <a:rPr lang="vi-VN" b="1" dirty="0"/>
              <a:t>, </a:t>
            </a:r>
            <a:r>
              <a:rPr lang="vi-VN" b="1" dirty="0" err="1"/>
              <a:t>switch</a:t>
            </a:r>
            <a:endParaRPr lang="vi-VN" b="1" dirty="0"/>
          </a:p>
          <a:p>
            <a:r>
              <a:rPr lang="en-US" b="1" dirty="0"/>
              <a:t>2.5	</a:t>
            </a:r>
            <a:r>
              <a:rPr lang="en-US" b="1" dirty="0" err="1"/>
              <a:t>Vòng</a:t>
            </a:r>
            <a:r>
              <a:rPr lang="en-US" b="1" dirty="0"/>
              <a:t> </a:t>
            </a:r>
            <a:r>
              <a:rPr lang="en-US" b="1" dirty="0" err="1"/>
              <a:t>lặp</a:t>
            </a:r>
            <a:r>
              <a:rPr lang="en-US" b="1" dirty="0"/>
              <a:t> </a:t>
            </a:r>
            <a:r>
              <a:rPr lang="en-US" b="1" dirty="0" err="1"/>
              <a:t>trong</a:t>
            </a:r>
            <a:r>
              <a:rPr lang="en-US" b="1" dirty="0"/>
              <a:t> </a:t>
            </a:r>
            <a:r>
              <a:rPr lang="en-US" b="1" dirty="0" err="1"/>
              <a:t>trong</a:t>
            </a:r>
            <a:r>
              <a:rPr lang="en-US" b="1" dirty="0"/>
              <a:t> C# </a:t>
            </a:r>
            <a:r>
              <a:rPr lang="en-US" b="1" dirty="0" err="1"/>
              <a:t>và</a:t>
            </a:r>
            <a:r>
              <a:rPr lang="en-US" b="1" dirty="0"/>
              <a:t> </a:t>
            </a:r>
            <a:r>
              <a:rPr lang="en-US" b="1" dirty="0" err="1"/>
              <a:t>câu</a:t>
            </a:r>
            <a:r>
              <a:rPr lang="en-US" b="1" dirty="0"/>
              <a:t> </a:t>
            </a:r>
            <a:r>
              <a:rPr lang="en-US" b="1" dirty="0" err="1"/>
              <a:t>lệnh</a:t>
            </a:r>
            <a:r>
              <a:rPr lang="en-US" b="1" dirty="0"/>
              <a:t> break continue </a:t>
            </a:r>
            <a:r>
              <a:rPr lang="en-US" b="1" dirty="0" err="1"/>
              <a:t>goto</a:t>
            </a:r>
            <a:r>
              <a:rPr lang="en-US" b="1" dirty="0"/>
              <a:t> </a:t>
            </a:r>
          </a:p>
          <a:p>
            <a:r>
              <a:rPr lang="en-US" b="1" dirty="0"/>
              <a:t>2.6	</a:t>
            </a:r>
            <a:r>
              <a:rPr lang="en-US" b="1" dirty="0" err="1"/>
              <a:t>Dữ</a:t>
            </a:r>
            <a:r>
              <a:rPr lang="en-US" b="1" dirty="0"/>
              <a:t> </a:t>
            </a:r>
            <a:r>
              <a:rPr lang="en-US" b="1" dirty="0" err="1"/>
              <a:t>liệu</a:t>
            </a:r>
            <a:r>
              <a:rPr lang="en-US" b="1" dirty="0"/>
              <a:t> </a:t>
            </a:r>
            <a:r>
              <a:rPr lang="en-US" b="1" dirty="0" err="1"/>
              <a:t>kiểu</a:t>
            </a:r>
            <a:r>
              <a:rPr lang="en-US" b="1" dirty="0"/>
              <a:t> </a:t>
            </a:r>
            <a:r>
              <a:rPr lang="en-US" b="1" dirty="0" err="1"/>
              <a:t>mảng</a:t>
            </a:r>
            <a:endParaRPr lang="en-US" b="1" dirty="0"/>
          </a:p>
          <a:p>
            <a:r>
              <a:rPr lang="en-US" b="1" dirty="0"/>
              <a:t>2.7	Struct </a:t>
            </a:r>
            <a:r>
              <a:rPr lang="en-US" b="1" dirty="0" err="1"/>
              <a:t>và</a:t>
            </a:r>
            <a:r>
              <a:rPr lang="en-US" b="1" dirty="0"/>
              <a:t> Enum </a:t>
            </a:r>
          </a:p>
          <a:p>
            <a:r>
              <a:rPr lang="en-US" b="1" dirty="0"/>
              <a:t>2.8	</a:t>
            </a:r>
            <a:r>
              <a:rPr lang="en-US" b="1" dirty="0" err="1"/>
              <a:t>Xử</a:t>
            </a:r>
            <a:r>
              <a:rPr lang="en-US" b="1" dirty="0"/>
              <a:t> </a:t>
            </a:r>
            <a:r>
              <a:rPr lang="en-US" b="1" dirty="0" err="1"/>
              <a:t>lý</a:t>
            </a:r>
            <a:r>
              <a:rPr lang="en-US" b="1" dirty="0"/>
              <a:t> </a:t>
            </a:r>
            <a:r>
              <a:rPr lang="en-US" b="1" dirty="0" err="1"/>
              <a:t>ngoại</a:t>
            </a:r>
            <a:r>
              <a:rPr lang="en-US" b="1" dirty="0"/>
              <a:t> </a:t>
            </a:r>
            <a:r>
              <a:rPr lang="en-US" b="1" dirty="0" err="1"/>
              <a:t>lệ</a:t>
            </a:r>
            <a:endParaRPr lang="en-US" b="1" dirty="0"/>
          </a:p>
          <a:p>
            <a:endParaRPr lang="en-US" b="1" dirty="0"/>
          </a:p>
        </p:txBody>
      </p:sp>
    </p:spTree>
    <p:extLst>
      <p:ext uri="{BB962C8B-B14F-4D97-AF65-F5344CB8AC3E}">
        <p14:creationId xmlns:p14="http://schemas.microsoft.com/office/powerpoint/2010/main" val="3596776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B5D425-D0AA-F8B0-297A-E5A997A5112F}"/>
              </a:ext>
            </a:extLst>
          </p:cNvPr>
          <p:cNvSpPr>
            <a:spLocks noGrp="1"/>
          </p:cNvSpPr>
          <p:nvPr>
            <p:ph type="title"/>
          </p:nvPr>
        </p:nvSpPr>
        <p:spPr>
          <a:xfrm>
            <a:off x="1097280" y="758952"/>
            <a:ext cx="10058400" cy="3892168"/>
          </a:xfrm>
        </p:spPr>
        <p:txBody>
          <a:bodyPr vert="horz" lIns="91440" tIns="45720" rIns="91440" bIns="45720" rtlCol="0" anchor="b">
            <a:normAutofit/>
          </a:bodyPr>
          <a:lstStyle/>
          <a:p>
            <a:r>
              <a:rPr lang="en-US" sz="7400" b="1"/>
              <a:t>2.1	Cấu trúc của chương trình c#, chương trình c# đầu tiên, Namespace</a:t>
            </a:r>
            <a:endParaRPr lang="en-US" sz="7400"/>
          </a:p>
        </p:txBody>
      </p:sp>
      <p:sp>
        <p:nvSpPr>
          <p:cNvPr id="17" name="Rectangle 16">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ext Placeholder 3">
            <a:extLst>
              <a:ext uri="{FF2B5EF4-FFF2-40B4-BE49-F238E27FC236}">
                <a16:creationId xmlns:a16="http://schemas.microsoft.com/office/drawing/2014/main" id="{FA41DB1E-2DE8-2C91-232D-9C6CA511E66C}"/>
              </a:ext>
            </a:extLst>
          </p:cNvPr>
          <p:cNvSpPr>
            <a:spLocks noGrp="1"/>
          </p:cNvSpPr>
          <p:nvPr>
            <p:ph type="body" idx="1"/>
          </p:nvPr>
        </p:nvSpPr>
        <p:spPr>
          <a:xfrm>
            <a:off x="1100051" y="5225240"/>
            <a:ext cx="10058400" cy="1143000"/>
          </a:xfrm>
        </p:spPr>
        <p:txBody>
          <a:bodyPr vert="horz" lIns="91440" tIns="45720" rIns="91440" bIns="45720" rtlCol="0">
            <a:normAutofit/>
          </a:bodyPr>
          <a:lstStyle/>
          <a:p>
            <a:endParaRPr lang="en-US">
              <a:solidFill>
                <a:srgbClr val="FFFFFF"/>
              </a:solidFill>
            </a:endParaRPr>
          </a:p>
        </p:txBody>
      </p:sp>
      <p:sp>
        <p:nvSpPr>
          <p:cNvPr id="19" name="Rectangle 18">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1964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A5410-3F7D-CDE2-694C-A1A4BF7A2F6D}"/>
              </a:ext>
            </a:extLst>
          </p:cNvPr>
          <p:cNvSpPr>
            <a:spLocks noGrp="1"/>
          </p:cNvSpPr>
          <p:nvPr>
            <p:ph type="title"/>
          </p:nvPr>
        </p:nvSpPr>
        <p:spPr/>
        <p:txBody>
          <a:bodyPr>
            <a:normAutofit/>
          </a:bodyPr>
          <a:lstStyle/>
          <a:p>
            <a:r>
              <a:rPr lang="en-US" b="1" dirty="0" err="1"/>
              <a:t>Tạo</a:t>
            </a:r>
            <a:r>
              <a:rPr lang="en-US" b="1" dirty="0"/>
              <a:t> project</a:t>
            </a:r>
          </a:p>
        </p:txBody>
      </p:sp>
      <p:sp>
        <p:nvSpPr>
          <p:cNvPr id="3" name="Content Placeholder 2">
            <a:extLst>
              <a:ext uri="{FF2B5EF4-FFF2-40B4-BE49-F238E27FC236}">
                <a16:creationId xmlns:a16="http://schemas.microsoft.com/office/drawing/2014/main" id="{6297A1FB-59B1-41AD-A14A-3E4D098C0856}"/>
              </a:ext>
            </a:extLst>
          </p:cNvPr>
          <p:cNvSpPr>
            <a:spLocks noGrp="1"/>
          </p:cNvSpPr>
          <p:nvPr>
            <p:ph idx="1"/>
          </p:nvPr>
        </p:nvSpPr>
        <p:spPr>
          <a:xfrm>
            <a:off x="1097280" y="1845734"/>
            <a:ext cx="4001494" cy="4023360"/>
          </a:xfrm>
        </p:spPr>
        <p:txBody>
          <a:bodyPr/>
          <a:lstStyle/>
          <a:p>
            <a:r>
              <a:rPr lang="en-US" dirty="0"/>
              <a:t>- </a:t>
            </a:r>
            <a:r>
              <a:rPr lang="en-US" dirty="0" err="1"/>
              <a:t>Khởi</a:t>
            </a:r>
            <a:r>
              <a:rPr lang="en-US" dirty="0"/>
              <a:t> </a:t>
            </a:r>
            <a:r>
              <a:rPr lang="en-US" dirty="0" err="1"/>
              <a:t>động</a:t>
            </a:r>
            <a:r>
              <a:rPr lang="en-US" dirty="0"/>
              <a:t> Visual Studio 2022</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create a new Project</a:t>
            </a:r>
          </a:p>
          <a:p>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C87E639-A66C-31DF-89CB-49C68DD29289}"/>
              </a:ext>
            </a:extLst>
          </p:cNvPr>
          <p:cNvPicPr>
            <a:picLocks noChangeAspect="1"/>
          </p:cNvPicPr>
          <p:nvPr/>
        </p:nvPicPr>
        <p:blipFill>
          <a:blip r:embed="rId2"/>
          <a:stretch>
            <a:fillRect/>
          </a:stretch>
        </p:blipFill>
        <p:spPr>
          <a:xfrm>
            <a:off x="5604752" y="1934192"/>
            <a:ext cx="5489968" cy="3846443"/>
          </a:xfrm>
          <a:prstGeom prst="rect">
            <a:avLst/>
          </a:prstGeom>
        </p:spPr>
      </p:pic>
    </p:spTree>
    <p:extLst>
      <p:ext uri="{BB962C8B-B14F-4D97-AF65-F5344CB8AC3E}">
        <p14:creationId xmlns:p14="http://schemas.microsoft.com/office/powerpoint/2010/main" val="3301140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50AD0-3165-2C46-CB17-588638A2DDC9}"/>
              </a:ext>
            </a:extLst>
          </p:cNvPr>
          <p:cNvSpPr>
            <a:spLocks noGrp="1"/>
          </p:cNvSpPr>
          <p:nvPr>
            <p:ph type="title"/>
          </p:nvPr>
        </p:nvSpPr>
        <p:spPr/>
        <p:txBody>
          <a:bodyPr/>
          <a:lstStyle/>
          <a:p>
            <a:r>
              <a:rPr lang="en-US" b="1" dirty="0" err="1"/>
              <a:t>Tạo</a:t>
            </a:r>
            <a:r>
              <a:rPr lang="en-US" b="1" dirty="0"/>
              <a:t> project</a:t>
            </a:r>
            <a:endParaRPr lang="en-US" dirty="0"/>
          </a:p>
        </p:txBody>
      </p:sp>
      <p:sp>
        <p:nvSpPr>
          <p:cNvPr id="3" name="Content Placeholder 2">
            <a:extLst>
              <a:ext uri="{FF2B5EF4-FFF2-40B4-BE49-F238E27FC236}">
                <a16:creationId xmlns:a16="http://schemas.microsoft.com/office/drawing/2014/main" id="{4015C5E1-AA26-36AB-A9F7-665A6C4DBF39}"/>
              </a:ext>
            </a:extLst>
          </p:cNvPr>
          <p:cNvSpPr>
            <a:spLocks noGrp="1"/>
          </p:cNvSpPr>
          <p:nvPr>
            <p:ph idx="1"/>
          </p:nvPr>
        </p:nvSpPr>
        <p:spPr>
          <a:xfrm>
            <a:off x="1097280" y="1845734"/>
            <a:ext cx="3385943" cy="4023360"/>
          </a:xfrm>
        </p:spPr>
        <p:txBody>
          <a:bodyPr/>
          <a:lstStyle/>
          <a:p>
            <a:r>
              <a:rPr lang="en-US" dirty="0" err="1"/>
              <a:t>Chọn</a:t>
            </a:r>
            <a:r>
              <a:rPr lang="en-US" dirty="0"/>
              <a:t> </a:t>
            </a:r>
            <a:r>
              <a:rPr lang="en-US" dirty="0" err="1"/>
              <a:t>loại</a:t>
            </a:r>
            <a:r>
              <a:rPr lang="en-US" dirty="0"/>
              <a:t> </a:t>
            </a:r>
            <a:r>
              <a:rPr lang="en-US" dirty="0" err="1"/>
              <a:t>ứng</a:t>
            </a:r>
            <a:r>
              <a:rPr lang="en-US" dirty="0"/>
              <a:t> </a:t>
            </a:r>
            <a:r>
              <a:rPr lang="en-US" dirty="0" err="1"/>
              <a:t>dụng</a:t>
            </a:r>
            <a:r>
              <a:rPr lang="en-US" dirty="0"/>
              <a:t> Console App, </a:t>
            </a:r>
            <a:r>
              <a:rPr lang="en-US" dirty="0" err="1"/>
              <a:t>chọn</a:t>
            </a:r>
            <a:r>
              <a:rPr lang="en-US" dirty="0"/>
              <a:t> Next</a:t>
            </a:r>
          </a:p>
        </p:txBody>
      </p:sp>
      <p:pic>
        <p:nvPicPr>
          <p:cNvPr id="5" name="Picture 4">
            <a:extLst>
              <a:ext uri="{FF2B5EF4-FFF2-40B4-BE49-F238E27FC236}">
                <a16:creationId xmlns:a16="http://schemas.microsoft.com/office/drawing/2014/main" id="{20FFAF21-F521-0352-6172-40408773552A}"/>
              </a:ext>
            </a:extLst>
          </p:cNvPr>
          <p:cNvPicPr>
            <a:picLocks noChangeAspect="1"/>
          </p:cNvPicPr>
          <p:nvPr/>
        </p:nvPicPr>
        <p:blipFill>
          <a:blip r:embed="rId2"/>
          <a:stretch>
            <a:fillRect/>
          </a:stretch>
        </p:blipFill>
        <p:spPr>
          <a:xfrm>
            <a:off x="4573686" y="1438744"/>
            <a:ext cx="6886132" cy="4890967"/>
          </a:xfrm>
          <a:prstGeom prst="rect">
            <a:avLst/>
          </a:prstGeom>
        </p:spPr>
      </p:pic>
    </p:spTree>
    <p:extLst>
      <p:ext uri="{BB962C8B-B14F-4D97-AF65-F5344CB8AC3E}">
        <p14:creationId xmlns:p14="http://schemas.microsoft.com/office/powerpoint/2010/main" val="3928146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DA1832-7891-E276-5480-0A6D25EE1533}"/>
              </a:ext>
            </a:extLst>
          </p:cNvPr>
          <p:cNvPicPr>
            <a:picLocks noChangeAspect="1"/>
          </p:cNvPicPr>
          <p:nvPr/>
        </p:nvPicPr>
        <p:blipFill rotWithShape="1">
          <a:blip r:embed="rId2"/>
          <a:srcRect l="1539" r="-1"/>
          <a:stretch/>
        </p:blipFill>
        <p:spPr>
          <a:xfrm>
            <a:off x="2635800" y="107208"/>
            <a:ext cx="8946901" cy="62903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itle 1">
            <a:extLst>
              <a:ext uri="{FF2B5EF4-FFF2-40B4-BE49-F238E27FC236}">
                <a16:creationId xmlns:a16="http://schemas.microsoft.com/office/drawing/2014/main" id="{15B7C7D6-0E52-661C-7CE4-264682A483E3}"/>
              </a:ext>
            </a:extLst>
          </p:cNvPr>
          <p:cNvSpPr txBox="1">
            <a:spLocks/>
          </p:cNvSpPr>
          <p:nvPr/>
        </p:nvSpPr>
        <p:spPr>
          <a:xfrm>
            <a:off x="665922" y="287338"/>
            <a:ext cx="1595438" cy="143192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err="1"/>
              <a:t>Tạo</a:t>
            </a:r>
            <a:r>
              <a:rPr lang="en-US" sz="4000" b="1" dirty="0"/>
              <a:t> project</a:t>
            </a:r>
            <a:endParaRPr lang="en-US" sz="4000" dirty="0"/>
          </a:p>
        </p:txBody>
      </p:sp>
    </p:spTree>
    <p:extLst>
      <p:ext uri="{BB962C8B-B14F-4D97-AF65-F5344CB8AC3E}">
        <p14:creationId xmlns:p14="http://schemas.microsoft.com/office/powerpoint/2010/main" val="2863328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87B5-3DE8-9554-5CD7-3979FD254148}"/>
              </a:ext>
            </a:extLst>
          </p:cNvPr>
          <p:cNvSpPr>
            <a:spLocks noGrp="1"/>
          </p:cNvSpPr>
          <p:nvPr>
            <p:ph type="title" idx="4294967295"/>
          </p:nvPr>
        </p:nvSpPr>
        <p:spPr>
          <a:xfrm>
            <a:off x="665922" y="287338"/>
            <a:ext cx="1595438" cy="1431925"/>
          </a:xfrm>
        </p:spPr>
        <p:txBody>
          <a:bodyPr>
            <a:noAutofit/>
          </a:bodyPr>
          <a:lstStyle/>
          <a:p>
            <a:r>
              <a:rPr lang="en-US" sz="4000" b="1" dirty="0" err="1"/>
              <a:t>Tạo</a:t>
            </a:r>
            <a:r>
              <a:rPr lang="en-US" sz="4000" b="1" dirty="0"/>
              <a:t> project</a:t>
            </a:r>
            <a:endParaRPr lang="en-US" sz="4000" dirty="0"/>
          </a:p>
        </p:txBody>
      </p:sp>
      <p:pic>
        <p:nvPicPr>
          <p:cNvPr id="7" name="Picture 6">
            <a:extLst>
              <a:ext uri="{FF2B5EF4-FFF2-40B4-BE49-F238E27FC236}">
                <a16:creationId xmlns:a16="http://schemas.microsoft.com/office/drawing/2014/main" id="{72A0BB3E-3380-F8DB-836F-BDA17FD2D8B2}"/>
              </a:ext>
            </a:extLst>
          </p:cNvPr>
          <p:cNvPicPr>
            <a:picLocks noChangeAspect="1"/>
          </p:cNvPicPr>
          <p:nvPr/>
        </p:nvPicPr>
        <p:blipFill>
          <a:blip r:embed="rId2"/>
          <a:stretch>
            <a:fillRect/>
          </a:stretch>
        </p:blipFill>
        <p:spPr>
          <a:xfrm>
            <a:off x="2633869" y="99391"/>
            <a:ext cx="8936747" cy="62694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02232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0B9EE-6077-8731-05E7-B0BBC99B3762}"/>
              </a:ext>
            </a:extLst>
          </p:cNvPr>
          <p:cNvSpPr>
            <a:spLocks noGrp="1"/>
          </p:cNvSpPr>
          <p:nvPr>
            <p:ph type="title"/>
          </p:nvPr>
        </p:nvSpPr>
        <p:spPr>
          <a:xfrm>
            <a:off x="818984" y="636104"/>
            <a:ext cx="10058400" cy="602254"/>
          </a:xfrm>
        </p:spPr>
        <p:txBody>
          <a:bodyPr>
            <a:normAutofit fontScale="90000"/>
          </a:bodyPr>
          <a:lstStyle/>
          <a:p>
            <a:r>
              <a:rPr lang="en-US" b="1" dirty="0" err="1">
                <a:solidFill>
                  <a:srgbClr val="0070C0"/>
                </a:solidFill>
              </a:rPr>
              <a:t>Chương</a:t>
            </a:r>
            <a:r>
              <a:rPr lang="en-US" b="1" dirty="0">
                <a:solidFill>
                  <a:srgbClr val="0070C0"/>
                </a:solidFill>
              </a:rPr>
              <a:t> </a:t>
            </a:r>
            <a:r>
              <a:rPr lang="en-US" b="1" dirty="0" err="1">
                <a:solidFill>
                  <a:srgbClr val="0070C0"/>
                </a:solidFill>
              </a:rPr>
              <a:t>trình</a:t>
            </a:r>
            <a:r>
              <a:rPr lang="en-US" b="1" dirty="0">
                <a:solidFill>
                  <a:srgbClr val="0070C0"/>
                </a:solidFill>
              </a:rPr>
              <a:t> </a:t>
            </a:r>
            <a:r>
              <a:rPr lang="en-US" b="1" dirty="0" err="1">
                <a:solidFill>
                  <a:srgbClr val="0070C0"/>
                </a:solidFill>
              </a:rPr>
              <a:t>đầu</a:t>
            </a:r>
            <a:r>
              <a:rPr lang="en-US" b="1" dirty="0">
                <a:solidFill>
                  <a:srgbClr val="0070C0"/>
                </a:solidFill>
              </a:rPr>
              <a:t> </a:t>
            </a:r>
            <a:r>
              <a:rPr lang="en-US" b="1" dirty="0" err="1">
                <a:solidFill>
                  <a:srgbClr val="0070C0"/>
                </a:solidFill>
              </a:rPr>
              <a:t>tiên</a:t>
            </a:r>
            <a:endParaRPr lang="en-US" b="1" dirty="0">
              <a:solidFill>
                <a:srgbClr val="0070C0"/>
              </a:solidFill>
            </a:endParaRPr>
          </a:p>
        </p:txBody>
      </p:sp>
      <p:sp>
        <p:nvSpPr>
          <p:cNvPr id="3" name="Content Placeholder 2">
            <a:extLst>
              <a:ext uri="{FF2B5EF4-FFF2-40B4-BE49-F238E27FC236}">
                <a16:creationId xmlns:a16="http://schemas.microsoft.com/office/drawing/2014/main" id="{95FE20AA-CDC9-9F9A-8606-0FC5B84F71B2}"/>
              </a:ext>
            </a:extLst>
          </p:cNvPr>
          <p:cNvSpPr>
            <a:spLocks noGrp="1"/>
          </p:cNvSpPr>
          <p:nvPr>
            <p:ph idx="1"/>
          </p:nvPr>
        </p:nvSpPr>
        <p:spPr>
          <a:xfrm>
            <a:off x="487017" y="3022758"/>
            <a:ext cx="10191584" cy="2898648"/>
          </a:xfrm>
        </p:spPr>
        <p:txBody>
          <a:bodyPr>
            <a:normAutofit fontScale="77500" lnSpcReduction="20000"/>
          </a:bodyPr>
          <a:lstStyle/>
          <a:p>
            <a:pPr>
              <a:buFont typeface="Wingdings" panose="05000000000000000000" pitchFamily="2" charset="2"/>
              <a:buChar char="Ø"/>
            </a:pPr>
            <a:r>
              <a:rPr lang="vi-VN" dirty="0" err="1"/>
              <a:t>Bỏ</a:t>
            </a:r>
            <a:r>
              <a:rPr lang="vi-VN" dirty="0"/>
              <a:t> qua </a:t>
            </a:r>
            <a:r>
              <a:rPr lang="vi-VN" dirty="0" err="1"/>
              <a:t>cấu</a:t>
            </a:r>
            <a:r>
              <a:rPr lang="vi-VN" dirty="0"/>
              <a:t> </a:t>
            </a:r>
            <a:r>
              <a:rPr lang="vi-VN" dirty="0" err="1"/>
              <a:t>trúc</a:t>
            </a:r>
            <a:r>
              <a:rPr lang="vi-VN" dirty="0"/>
              <a:t> cơ </a:t>
            </a:r>
            <a:r>
              <a:rPr lang="vi-VN" dirty="0" err="1"/>
              <a:t>bản</a:t>
            </a:r>
            <a:r>
              <a:rPr lang="vi-VN" dirty="0"/>
              <a:t> </a:t>
            </a:r>
            <a:r>
              <a:rPr lang="vi-VN" dirty="0" err="1"/>
              <a:t>cần</a:t>
            </a:r>
            <a:r>
              <a:rPr lang="vi-VN" dirty="0"/>
              <a:t> </a:t>
            </a:r>
            <a:r>
              <a:rPr lang="vi-VN" dirty="0" err="1"/>
              <a:t>thiết</a:t>
            </a:r>
            <a:r>
              <a:rPr lang="vi-VN" dirty="0"/>
              <a:t> trong </a:t>
            </a:r>
            <a:r>
              <a:rPr lang="vi-VN" dirty="0" err="1"/>
              <a:t>các</a:t>
            </a:r>
            <a:r>
              <a:rPr lang="vi-VN" dirty="0"/>
              <a:t> phiên </a:t>
            </a:r>
            <a:r>
              <a:rPr lang="vi-VN" dirty="0" err="1"/>
              <a:t>bản</a:t>
            </a:r>
            <a:r>
              <a:rPr lang="vi-VN" dirty="0"/>
              <a:t> </a:t>
            </a:r>
            <a:r>
              <a:rPr lang="vi-VN" dirty="0" err="1"/>
              <a:t>cũ</a:t>
            </a:r>
            <a:r>
              <a:rPr lang="vi-VN" dirty="0"/>
              <a:t> hơn</a:t>
            </a:r>
            <a:endParaRPr lang="en-US" dirty="0"/>
          </a:p>
          <a:p>
            <a:pPr>
              <a:buFont typeface="Wingdings" panose="05000000000000000000" pitchFamily="2" charset="2"/>
              <a:buChar char="Ø"/>
            </a:pPr>
            <a:r>
              <a:rPr lang="vi-VN" dirty="0"/>
              <a:t>Ở </a:t>
            </a:r>
            <a:r>
              <a:rPr lang="vi-VN" dirty="0" err="1"/>
              <a:t>file</a:t>
            </a:r>
            <a:r>
              <a:rPr lang="vi-VN" dirty="0"/>
              <a:t> </a:t>
            </a:r>
            <a:r>
              <a:rPr lang="vi-VN" dirty="0" err="1"/>
              <a:t>mới</a:t>
            </a:r>
            <a:r>
              <a:rPr lang="vi-VN" dirty="0"/>
              <a:t> </a:t>
            </a:r>
            <a:r>
              <a:rPr lang="vi-VN" dirty="0" err="1"/>
              <a:t>này</a:t>
            </a:r>
            <a:r>
              <a:rPr lang="vi-VN" dirty="0"/>
              <a:t>, </a:t>
            </a:r>
            <a:r>
              <a:rPr lang="vi-VN" dirty="0" err="1"/>
              <a:t>có</a:t>
            </a:r>
            <a:r>
              <a:rPr lang="vi-VN" dirty="0"/>
              <a:t> </a:t>
            </a:r>
            <a:r>
              <a:rPr lang="vi-VN" dirty="0" err="1"/>
              <a:t>dòng</a:t>
            </a:r>
            <a:r>
              <a:rPr lang="vi-VN" dirty="0"/>
              <a:t> </a:t>
            </a:r>
            <a:r>
              <a:rPr lang="vi-VN" dirty="0" err="1"/>
              <a:t>Console.WriteLine</a:t>
            </a:r>
            <a:r>
              <a:rPr lang="vi-VN" dirty="0"/>
              <a:t>("</a:t>
            </a:r>
            <a:r>
              <a:rPr lang="vi-VN" dirty="0" err="1"/>
              <a:t>Hello</a:t>
            </a:r>
            <a:r>
              <a:rPr lang="vi-VN" dirty="0"/>
              <a:t>, </a:t>
            </a:r>
            <a:r>
              <a:rPr lang="vi-VN" dirty="0" err="1"/>
              <a:t>World</a:t>
            </a:r>
            <a:r>
              <a:rPr lang="vi-VN" dirty="0"/>
              <a:t>!") </a:t>
            </a:r>
            <a:r>
              <a:rPr lang="vi-VN" dirty="0" err="1"/>
              <a:t>viết</a:t>
            </a:r>
            <a:r>
              <a:rPr lang="vi-VN" dirty="0"/>
              <a:t> không </a:t>
            </a:r>
            <a:r>
              <a:rPr lang="vi-VN" dirty="0" err="1"/>
              <a:t>thuộc</a:t>
            </a:r>
            <a:r>
              <a:rPr lang="vi-VN" dirty="0"/>
              <a:t> </a:t>
            </a:r>
            <a:r>
              <a:rPr lang="vi-VN" dirty="0" err="1"/>
              <a:t>namespace</a:t>
            </a:r>
            <a:r>
              <a:rPr lang="vi-VN" dirty="0"/>
              <a:t> </a:t>
            </a:r>
            <a:r>
              <a:rPr lang="vi-VN" dirty="0" err="1"/>
              <a:t>nào</a:t>
            </a:r>
            <a:r>
              <a:rPr lang="vi-VN" dirty="0"/>
              <a:t>, không </a:t>
            </a:r>
            <a:r>
              <a:rPr lang="vi-VN" dirty="0" err="1"/>
              <a:t>thuộc</a:t>
            </a:r>
            <a:r>
              <a:rPr lang="vi-VN" dirty="0"/>
              <a:t> </a:t>
            </a:r>
            <a:r>
              <a:rPr lang="vi-VN" dirty="0" err="1"/>
              <a:t>lớp</a:t>
            </a:r>
            <a:r>
              <a:rPr lang="vi-VN" dirty="0"/>
              <a:t> </a:t>
            </a:r>
            <a:r>
              <a:rPr lang="vi-VN" dirty="0" err="1"/>
              <a:t>nào</a:t>
            </a:r>
            <a:r>
              <a:rPr lang="vi-VN" dirty="0"/>
              <a:t> =&gt; </a:t>
            </a:r>
            <a:r>
              <a:rPr lang="vi-VN" dirty="0" err="1"/>
              <a:t>Vậy</a:t>
            </a:r>
            <a:r>
              <a:rPr lang="vi-VN" dirty="0"/>
              <a:t> </a:t>
            </a:r>
            <a:r>
              <a:rPr lang="vi-VN" dirty="0" err="1"/>
              <a:t>trình</a:t>
            </a:r>
            <a:r>
              <a:rPr lang="vi-VN" dirty="0"/>
              <a:t> biên </a:t>
            </a:r>
            <a:r>
              <a:rPr lang="vi-VN" dirty="0" err="1"/>
              <a:t>dịch</a:t>
            </a:r>
            <a:r>
              <a:rPr lang="vi-VN" dirty="0"/>
              <a:t> </a:t>
            </a:r>
            <a:r>
              <a:rPr lang="vi-VN" dirty="0" err="1"/>
              <a:t>sẽ</a:t>
            </a:r>
            <a:r>
              <a:rPr lang="vi-VN" dirty="0"/>
              <a:t> coi đây </a:t>
            </a:r>
            <a:r>
              <a:rPr lang="vi-VN" dirty="0" err="1"/>
              <a:t>là</a:t>
            </a:r>
            <a:r>
              <a:rPr lang="vi-VN" dirty="0"/>
              <a:t> </a:t>
            </a:r>
            <a:r>
              <a:rPr lang="vi-VN" dirty="0" err="1"/>
              <a:t>top-level</a:t>
            </a:r>
            <a:r>
              <a:rPr lang="vi-VN" dirty="0"/>
              <a:t> </a:t>
            </a:r>
            <a:r>
              <a:rPr lang="vi-VN" dirty="0" err="1"/>
              <a:t>statement</a:t>
            </a:r>
            <a:r>
              <a:rPr lang="vi-VN" dirty="0"/>
              <a:t> </a:t>
            </a:r>
            <a:r>
              <a:rPr lang="vi-VN" dirty="0" err="1"/>
              <a:t>và</a:t>
            </a:r>
            <a:r>
              <a:rPr lang="vi-VN" dirty="0"/>
              <a:t> </a:t>
            </a:r>
            <a:r>
              <a:rPr lang="vi-VN" dirty="0" err="1"/>
              <a:t>thuộc</a:t>
            </a:r>
            <a:r>
              <a:rPr lang="vi-VN" dirty="0"/>
              <a:t> </a:t>
            </a:r>
            <a:r>
              <a:rPr lang="vi-VN" dirty="0" err="1"/>
              <a:t>hàm</a:t>
            </a:r>
            <a:r>
              <a:rPr lang="vi-VN" dirty="0"/>
              <a:t> </a:t>
            </a:r>
            <a:r>
              <a:rPr lang="vi-VN" dirty="0" err="1"/>
              <a:t>Main</a:t>
            </a:r>
            <a:r>
              <a:rPr lang="vi-VN" dirty="0"/>
              <a:t>, </a:t>
            </a:r>
            <a:r>
              <a:rPr lang="vi-VN" dirty="0" err="1"/>
              <a:t>nó</a:t>
            </a:r>
            <a:r>
              <a:rPr lang="vi-VN" dirty="0"/>
              <a:t> </a:t>
            </a:r>
            <a:r>
              <a:rPr lang="vi-VN" dirty="0" err="1"/>
              <a:t>sẽ</a:t>
            </a:r>
            <a:r>
              <a:rPr lang="vi-VN" dirty="0"/>
              <a:t> </a:t>
            </a:r>
            <a:r>
              <a:rPr lang="vi-VN" dirty="0" err="1"/>
              <a:t>tự</a:t>
            </a:r>
            <a:r>
              <a:rPr lang="vi-VN" dirty="0"/>
              <a:t> </a:t>
            </a:r>
            <a:r>
              <a:rPr lang="vi-VN" dirty="0" err="1"/>
              <a:t>phát</a:t>
            </a:r>
            <a:r>
              <a:rPr lang="vi-VN" dirty="0"/>
              <a:t> sinh </a:t>
            </a:r>
            <a:r>
              <a:rPr lang="vi-VN" dirty="0" err="1"/>
              <a:t>hàm</a:t>
            </a:r>
            <a:r>
              <a:rPr lang="vi-VN" dirty="0"/>
              <a:t> </a:t>
            </a:r>
            <a:r>
              <a:rPr lang="vi-VN" dirty="0" err="1"/>
              <a:t>này</a:t>
            </a:r>
            <a:r>
              <a:rPr lang="vi-VN" dirty="0"/>
              <a:t>.</a:t>
            </a:r>
          </a:p>
          <a:p>
            <a:pPr>
              <a:buFont typeface="Wingdings" panose="05000000000000000000" pitchFamily="2" charset="2"/>
              <a:buChar char="Ø"/>
            </a:pPr>
            <a:r>
              <a:rPr lang="vi-VN" b="1" dirty="0"/>
              <a:t>Khi </a:t>
            </a:r>
            <a:r>
              <a:rPr lang="vi-VN" b="1" dirty="0" err="1"/>
              <a:t>viết</a:t>
            </a:r>
            <a:r>
              <a:rPr lang="vi-VN" b="1" dirty="0"/>
              <a:t> </a:t>
            </a:r>
            <a:r>
              <a:rPr lang="vi-VN" b="1" dirty="0" err="1"/>
              <a:t>code</a:t>
            </a:r>
            <a:r>
              <a:rPr lang="vi-VN" b="1" dirty="0"/>
              <a:t> </a:t>
            </a:r>
            <a:r>
              <a:rPr lang="vi-VN" b="1" dirty="0" err="1"/>
              <a:t>bạn</a:t>
            </a:r>
            <a:r>
              <a:rPr lang="vi-VN" b="1" dirty="0"/>
              <a:t> </a:t>
            </a:r>
            <a:r>
              <a:rPr lang="vi-VN" b="1" dirty="0" err="1"/>
              <a:t>cần</a:t>
            </a:r>
            <a:r>
              <a:rPr lang="vi-VN" b="1" dirty="0"/>
              <a:t> lưu ý:</a:t>
            </a:r>
          </a:p>
          <a:p>
            <a:pPr>
              <a:buFont typeface="Arial" panose="020B0604020202020204" pitchFamily="34" charset="0"/>
              <a:buChar char="•"/>
            </a:pPr>
            <a:r>
              <a:rPr lang="vi-VN" dirty="0" err="1"/>
              <a:t>Chỉ</a:t>
            </a:r>
            <a:r>
              <a:rPr lang="vi-VN" dirty="0"/>
              <a:t> </a:t>
            </a:r>
            <a:r>
              <a:rPr lang="vi-VN" dirty="0" err="1"/>
              <a:t>có</a:t>
            </a:r>
            <a:r>
              <a:rPr lang="vi-VN" dirty="0"/>
              <a:t> </a:t>
            </a:r>
            <a:r>
              <a:rPr lang="vi-VN" dirty="0" err="1"/>
              <a:t>một</a:t>
            </a:r>
            <a:r>
              <a:rPr lang="vi-VN" dirty="0"/>
              <a:t> </a:t>
            </a:r>
            <a:r>
              <a:rPr lang="vi-VN" dirty="0" err="1"/>
              <a:t>file</a:t>
            </a:r>
            <a:r>
              <a:rPr lang="vi-VN" dirty="0"/>
              <a:t> </a:t>
            </a:r>
            <a:r>
              <a:rPr lang="vi-VN" dirty="0" err="1"/>
              <a:t>để</a:t>
            </a:r>
            <a:r>
              <a:rPr lang="vi-VN" dirty="0"/>
              <a:t> </a:t>
            </a:r>
            <a:r>
              <a:rPr lang="vi-VN" dirty="0" err="1"/>
              <a:t>chứa</a:t>
            </a:r>
            <a:r>
              <a:rPr lang="vi-VN" dirty="0"/>
              <a:t> </a:t>
            </a:r>
            <a:r>
              <a:rPr lang="vi-VN" dirty="0" err="1"/>
              <a:t>các</a:t>
            </a:r>
            <a:r>
              <a:rPr lang="vi-VN" dirty="0"/>
              <a:t> </a:t>
            </a:r>
            <a:r>
              <a:rPr lang="vi-VN" dirty="0" err="1"/>
              <a:t>top-level</a:t>
            </a:r>
            <a:r>
              <a:rPr lang="vi-VN" dirty="0"/>
              <a:t> </a:t>
            </a:r>
            <a:r>
              <a:rPr lang="vi-VN" dirty="0" err="1"/>
              <a:t>statement</a:t>
            </a:r>
            <a:endParaRPr lang="vi-VN" dirty="0"/>
          </a:p>
          <a:p>
            <a:pPr>
              <a:buFont typeface="Arial" panose="020B0604020202020204" pitchFamily="34" charset="0"/>
              <a:buChar char="•"/>
            </a:pPr>
            <a:r>
              <a:rPr lang="vi-VN" dirty="0" err="1"/>
              <a:t>Nếu</a:t>
            </a:r>
            <a:r>
              <a:rPr lang="vi-VN" dirty="0"/>
              <a:t> </a:t>
            </a:r>
            <a:r>
              <a:rPr lang="vi-VN" dirty="0" err="1"/>
              <a:t>viết</a:t>
            </a:r>
            <a:r>
              <a:rPr lang="vi-VN" dirty="0"/>
              <a:t> </a:t>
            </a:r>
            <a:r>
              <a:rPr lang="vi-VN" dirty="0" err="1"/>
              <a:t>top-level</a:t>
            </a:r>
            <a:r>
              <a:rPr lang="vi-VN" dirty="0"/>
              <a:t> </a:t>
            </a:r>
            <a:r>
              <a:rPr lang="vi-VN" dirty="0" err="1"/>
              <a:t>statement</a:t>
            </a:r>
            <a:r>
              <a:rPr lang="vi-VN" dirty="0"/>
              <a:t> ở </a:t>
            </a:r>
            <a:r>
              <a:rPr lang="vi-VN" dirty="0" err="1"/>
              <a:t>nhiều</a:t>
            </a:r>
            <a:r>
              <a:rPr lang="vi-VN" dirty="0"/>
              <a:t> </a:t>
            </a:r>
            <a:r>
              <a:rPr lang="vi-VN" dirty="0" err="1"/>
              <a:t>file</a:t>
            </a:r>
            <a:r>
              <a:rPr lang="vi-VN" dirty="0"/>
              <a:t>, </a:t>
            </a:r>
            <a:r>
              <a:rPr lang="vi-VN" dirty="0" err="1"/>
              <a:t>sẽ</a:t>
            </a:r>
            <a:r>
              <a:rPr lang="vi-VN" dirty="0"/>
              <a:t> </a:t>
            </a:r>
            <a:r>
              <a:rPr lang="vi-VN" dirty="0" err="1"/>
              <a:t>phát</a:t>
            </a:r>
            <a:r>
              <a:rPr lang="vi-VN" dirty="0"/>
              <a:t> sinh </a:t>
            </a:r>
            <a:r>
              <a:rPr lang="vi-VN" dirty="0" err="1"/>
              <a:t>lỗi</a:t>
            </a:r>
            <a:r>
              <a:rPr lang="vi-VN" dirty="0"/>
              <a:t> biên </a:t>
            </a:r>
            <a:r>
              <a:rPr lang="vi-VN" dirty="0" err="1"/>
              <a:t>dịch</a:t>
            </a:r>
            <a:r>
              <a:rPr lang="vi-VN" dirty="0"/>
              <a:t>. </a:t>
            </a:r>
            <a:r>
              <a:rPr lang="vi-VN" dirty="0" err="1"/>
              <a:t>File</a:t>
            </a:r>
            <a:r>
              <a:rPr lang="vi-VN" dirty="0"/>
              <a:t> </a:t>
            </a:r>
            <a:r>
              <a:rPr lang="vi-VN" dirty="0" err="1"/>
              <a:t>chứa</a:t>
            </a:r>
            <a:r>
              <a:rPr lang="vi-VN" dirty="0"/>
              <a:t> </a:t>
            </a:r>
            <a:r>
              <a:rPr lang="vi-VN" dirty="0" err="1"/>
              <a:t>các</a:t>
            </a:r>
            <a:r>
              <a:rPr lang="vi-VN" dirty="0"/>
              <a:t> </a:t>
            </a:r>
            <a:r>
              <a:rPr lang="vi-VN" dirty="0" err="1"/>
              <a:t>top-level</a:t>
            </a:r>
            <a:r>
              <a:rPr lang="vi-VN" dirty="0"/>
              <a:t> </a:t>
            </a:r>
            <a:r>
              <a:rPr lang="vi-VN" dirty="0" err="1"/>
              <a:t>statement</a:t>
            </a:r>
            <a:r>
              <a:rPr lang="vi-VN" dirty="0"/>
              <a:t> </a:t>
            </a:r>
            <a:r>
              <a:rPr lang="vi-VN" dirty="0" err="1"/>
              <a:t>từ</a:t>
            </a:r>
            <a:r>
              <a:rPr lang="vi-VN" dirty="0"/>
              <a:t> đây </a:t>
            </a:r>
            <a:r>
              <a:rPr lang="vi-VN" dirty="0" err="1"/>
              <a:t>tạm</a:t>
            </a:r>
            <a:r>
              <a:rPr lang="vi-VN" dirty="0"/>
              <a:t> </a:t>
            </a:r>
            <a:r>
              <a:rPr lang="vi-VN" dirty="0" err="1"/>
              <a:t>gọi</a:t>
            </a:r>
            <a:r>
              <a:rPr lang="vi-VN" dirty="0"/>
              <a:t> </a:t>
            </a:r>
            <a:r>
              <a:rPr lang="vi-VN" dirty="0" err="1"/>
              <a:t>là</a:t>
            </a:r>
            <a:r>
              <a:rPr lang="vi-VN" dirty="0"/>
              <a:t> </a:t>
            </a:r>
            <a:r>
              <a:rPr lang="vi-VN" dirty="0" err="1"/>
              <a:t>file</a:t>
            </a:r>
            <a:r>
              <a:rPr lang="vi-VN" dirty="0"/>
              <a:t> </a:t>
            </a:r>
            <a:r>
              <a:rPr lang="vi-VN" dirty="0" err="1"/>
              <a:t>top-level</a:t>
            </a:r>
            <a:r>
              <a:rPr lang="vi-VN" dirty="0"/>
              <a:t>.</a:t>
            </a:r>
          </a:p>
          <a:p>
            <a:pPr>
              <a:buFont typeface="Arial" panose="020B0604020202020204" pitchFamily="34" charset="0"/>
              <a:buChar char="•"/>
            </a:pPr>
            <a:r>
              <a:rPr lang="vi-VN" dirty="0" err="1"/>
              <a:t>Dùng</a:t>
            </a:r>
            <a:r>
              <a:rPr lang="vi-VN" dirty="0"/>
              <a:t> </a:t>
            </a:r>
            <a:r>
              <a:rPr lang="vi-VN" dirty="0" err="1"/>
              <a:t>chỉ</a:t>
            </a:r>
            <a:r>
              <a:rPr lang="vi-VN" dirty="0"/>
              <a:t> </a:t>
            </a:r>
            <a:r>
              <a:rPr lang="vi-VN" dirty="0" err="1"/>
              <a:t>thị</a:t>
            </a:r>
            <a:r>
              <a:rPr lang="vi-VN" dirty="0"/>
              <a:t> </a:t>
            </a:r>
            <a:r>
              <a:rPr lang="vi-VN" dirty="0" err="1"/>
              <a:t>using</a:t>
            </a:r>
            <a:r>
              <a:rPr lang="vi-VN" dirty="0"/>
              <a:t>, khai </a:t>
            </a:r>
            <a:r>
              <a:rPr lang="vi-VN" dirty="0" err="1"/>
              <a:t>báo</a:t>
            </a:r>
            <a:r>
              <a:rPr lang="vi-VN" dirty="0"/>
              <a:t> </a:t>
            </a:r>
            <a:r>
              <a:rPr lang="vi-VN" dirty="0" err="1"/>
              <a:t>lớp</a:t>
            </a:r>
            <a:r>
              <a:rPr lang="vi-VN" dirty="0"/>
              <a:t>, truy </a:t>
            </a:r>
            <a:r>
              <a:rPr lang="vi-VN" dirty="0" err="1"/>
              <a:t>cập</a:t>
            </a:r>
            <a:r>
              <a:rPr lang="vi-VN" dirty="0"/>
              <a:t> tham </a:t>
            </a:r>
            <a:r>
              <a:rPr lang="vi-VN" dirty="0" err="1"/>
              <a:t>số</a:t>
            </a:r>
            <a:r>
              <a:rPr lang="vi-VN" dirty="0"/>
              <a:t> trong </a:t>
            </a:r>
            <a:r>
              <a:rPr lang="vi-VN" dirty="0" err="1"/>
              <a:t>file</a:t>
            </a:r>
            <a:r>
              <a:rPr lang="vi-VN" dirty="0"/>
              <a:t> </a:t>
            </a:r>
            <a:r>
              <a:rPr lang="vi-VN" dirty="0" err="1"/>
              <a:t>top-level</a:t>
            </a:r>
            <a:endParaRPr lang="vi-VN" dirty="0"/>
          </a:p>
          <a:p>
            <a:pPr>
              <a:buFont typeface="Arial" panose="020B0604020202020204" pitchFamily="34" charset="0"/>
              <a:buChar char="•"/>
            </a:pPr>
            <a:r>
              <a:rPr lang="vi-VN" dirty="0" err="1"/>
              <a:t>Nếu</a:t>
            </a:r>
            <a:r>
              <a:rPr lang="vi-VN" dirty="0"/>
              <a:t> </a:t>
            </a:r>
            <a:r>
              <a:rPr lang="vi-VN" dirty="0" err="1"/>
              <a:t>cần</a:t>
            </a:r>
            <a:r>
              <a:rPr lang="vi-VN" dirty="0"/>
              <a:t> </a:t>
            </a:r>
            <a:r>
              <a:rPr lang="vi-VN" dirty="0" err="1"/>
              <a:t>nạp</a:t>
            </a:r>
            <a:r>
              <a:rPr lang="vi-VN" dirty="0"/>
              <a:t> </a:t>
            </a:r>
            <a:r>
              <a:rPr lang="vi-VN" dirty="0" err="1"/>
              <a:t>namespace</a:t>
            </a:r>
            <a:r>
              <a:rPr lang="vi-VN" dirty="0"/>
              <a:t>, thư </a:t>
            </a:r>
            <a:r>
              <a:rPr lang="vi-VN" dirty="0" err="1"/>
              <a:t>viện</a:t>
            </a:r>
            <a:r>
              <a:rPr lang="vi-VN" dirty="0"/>
              <a:t> </a:t>
            </a:r>
            <a:r>
              <a:rPr lang="vi-VN" dirty="0" err="1"/>
              <a:t>vào</a:t>
            </a:r>
            <a:r>
              <a:rPr lang="vi-VN" dirty="0"/>
              <a:t> </a:t>
            </a:r>
            <a:r>
              <a:rPr lang="vi-VN" dirty="0" err="1"/>
              <a:t>file</a:t>
            </a:r>
            <a:r>
              <a:rPr lang="vi-VN" dirty="0"/>
              <a:t> </a:t>
            </a:r>
            <a:r>
              <a:rPr lang="vi-VN" dirty="0" err="1"/>
              <a:t>top-level</a:t>
            </a:r>
            <a:r>
              <a:rPr lang="vi-VN" dirty="0"/>
              <a:t> </a:t>
            </a:r>
            <a:r>
              <a:rPr lang="vi-VN" dirty="0" err="1"/>
              <a:t>vẫn</a:t>
            </a:r>
            <a:r>
              <a:rPr lang="vi-VN" dirty="0"/>
              <a:t> </a:t>
            </a:r>
            <a:r>
              <a:rPr lang="vi-VN" dirty="0" err="1"/>
              <a:t>sử</a:t>
            </a:r>
            <a:r>
              <a:rPr lang="vi-VN" dirty="0"/>
              <a:t> </a:t>
            </a:r>
            <a:r>
              <a:rPr lang="vi-VN" dirty="0" err="1"/>
              <a:t>dụng</a:t>
            </a:r>
            <a:r>
              <a:rPr lang="vi-VN" dirty="0"/>
              <a:t> </a:t>
            </a:r>
            <a:r>
              <a:rPr lang="vi-VN" dirty="0" err="1"/>
              <a:t>chỉ</a:t>
            </a:r>
            <a:r>
              <a:rPr lang="vi-VN" dirty="0"/>
              <a:t> </a:t>
            </a:r>
            <a:r>
              <a:rPr lang="vi-VN" dirty="0" err="1"/>
              <a:t>thị</a:t>
            </a:r>
            <a:r>
              <a:rPr lang="vi-VN" dirty="0"/>
              <a:t> </a:t>
            </a:r>
            <a:r>
              <a:rPr lang="vi-VN" dirty="0" err="1"/>
              <a:t>using</a:t>
            </a:r>
            <a:r>
              <a:rPr lang="vi-VN" dirty="0"/>
              <a:t> </a:t>
            </a:r>
            <a:r>
              <a:rPr lang="vi-VN" dirty="0" err="1"/>
              <a:t>chú</a:t>
            </a:r>
            <a:r>
              <a:rPr lang="vi-VN" dirty="0"/>
              <a:t> ý </a:t>
            </a:r>
            <a:r>
              <a:rPr lang="vi-VN" dirty="0" err="1"/>
              <a:t>viết</a:t>
            </a:r>
            <a:r>
              <a:rPr lang="vi-VN" dirty="0"/>
              <a:t> </a:t>
            </a:r>
            <a:r>
              <a:rPr lang="vi-VN" dirty="0" err="1"/>
              <a:t>nó</a:t>
            </a:r>
            <a:r>
              <a:rPr lang="vi-VN" dirty="0"/>
              <a:t> ở </a:t>
            </a:r>
            <a:r>
              <a:rPr lang="vi-VN" dirty="0" err="1"/>
              <a:t>đầu</a:t>
            </a:r>
            <a:r>
              <a:rPr lang="vi-VN" dirty="0"/>
              <a:t> </a:t>
            </a:r>
            <a:r>
              <a:rPr lang="vi-VN" dirty="0" err="1"/>
              <a:t>file</a:t>
            </a:r>
            <a:r>
              <a:rPr lang="vi-VN" dirty="0"/>
              <a:t>.</a:t>
            </a:r>
            <a:endParaRPr lang="en-US" dirty="0"/>
          </a:p>
        </p:txBody>
      </p:sp>
      <p:pic>
        <p:nvPicPr>
          <p:cNvPr id="5" name="Picture 4">
            <a:extLst>
              <a:ext uri="{FF2B5EF4-FFF2-40B4-BE49-F238E27FC236}">
                <a16:creationId xmlns:a16="http://schemas.microsoft.com/office/drawing/2014/main" id="{C3B72DDE-BAB1-E48C-536C-0B6ED1AE8DE9}"/>
              </a:ext>
            </a:extLst>
          </p:cNvPr>
          <p:cNvPicPr>
            <a:picLocks noChangeAspect="1"/>
          </p:cNvPicPr>
          <p:nvPr/>
        </p:nvPicPr>
        <p:blipFill>
          <a:blip r:embed="rId2"/>
          <a:stretch>
            <a:fillRect/>
          </a:stretch>
        </p:blipFill>
        <p:spPr>
          <a:xfrm>
            <a:off x="107116" y="1238358"/>
            <a:ext cx="11766395" cy="1677189"/>
          </a:xfrm>
          <a:prstGeom prst="rect">
            <a:avLst/>
          </a:prstGeom>
        </p:spPr>
      </p:pic>
    </p:spTree>
    <p:extLst>
      <p:ext uri="{BB962C8B-B14F-4D97-AF65-F5344CB8AC3E}">
        <p14:creationId xmlns:p14="http://schemas.microsoft.com/office/powerpoint/2010/main" val="2984015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D1D6C-CBBF-D74D-F25C-EC4906A2170A}"/>
              </a:ext>
            </a:extLst>
          </p:cNvPr>
          <p:cNvSpPr>
            <a:spLocks noGrp="1"/>
          </p:cNvSpPr>
          <p:nvPr>
            <p:ph type="title"/>
          </p:nvPr>
        </p:nvSpPr>
        <p:spPr/>
        <p:txBody>
          <a:bodyPr/>
          <a:lstStyle/>
          <a:p>
            <a:r>
              <a:rPr lang="en-US" b="1" dirty="0" err="1">
                <a:solidFill>
                  <a:srgbClr val="0070C0"/>
                </a:solidFill>
              </a:rPr>
              <a:t>Chương</a:t>
            </a:r>
            <a:r>
              <a:rPr lang="en-US" b="1" dirty="0">
                <a:solidFill>
                  <a:srgbClr val="0070C0"/>
                </a:solidFill>
              </a:rPr>
              <a:t> </a:t>
            </a:r>
            <a:r>
              <a:rPr lang="en-US" b="1" dirty="0" err="1">
                <a:solidFill>
                  <a:srgbClr val="0070C0"/>
                </a:solidFill>
              </a:rPr>
              <a:t>trình</a:t>
            </a:r>
            <a:r>
              <a:rPr lang="en-US" b="1" dirty="0">
                <a:solidFill>
                  <a:srgbClr val="0070C0"/>
                </a:solidFill>
              </a:rPr>
              <a:t> </a:t>
            </a:r>
            <a:r>
              <a:rPr lang="en-US" b="1" dirty="0" err="1">
                <a:solidFill>
                  <a:srgbClr val="0070C0"/>
                </a:solidFill>
              </a:rPr>
              <a:t>đầu</a:t>
            </a:r>
            <a:r>
              <a:rPr lang="en-US" b="1" dirty="0">
                <a:solidFill>
                  <a:srgbClr val="0070C0"/>
                </a:solidFill>
              </a:rPr>
              <a:t> </a:t>
            </a:r>
            <a:r>
              <a:rPr lang="en-US" b="1" dirty="0" err="1">
                <a:solidFill>
                  <a:srgbClr val="0070C0"/>
                </a:solidFill>
              </a:rPr>
              <a:t>tiên</a:t>
            </a:r>
            <a:endParaRPr lang="en-US" dirty="0">
              <a:solidFill>
                <a:srgbClr val="0070C0"/>
              </a:solidFill>
            </a:endParaRPr>
          </a:p>
        </p:txBody>
      </p:sp>
      <p:sp>
        <p:nvSpPr>
          <p:cNvPr id="3" name="Content Placeholder 2">
            <a:extLst>
              <a:ext uri="{FF2B5EF4-FFF2-40B4-BE49-F238E27FC236}">
                <a16:creationId xmlns:a16="http://schemas.microsoft.com/office/drawing/2014/main" id="{66B7ADF2-D7D3-13ED-E6BA-8B8F97B07DDB}"/>
              </a:ext>
            </a:extLst>
          </p:cNvPr>
          <p:cNvSpPr>
            <a:spLocks noGrp="1"/>
          </p:cNvSpPr>
          <p:nvPr>
            <p:ph idx="1"/>
          </p:nvPr>
        </p:nvSpPr>
        <p:spPr/>
        <p:txBody>
          <a:bodyPr>
            <a:normAutofit fontScale="70000" lnSpcReduction="20000"/>
          </a:bodyPr>
          <a:lstStyle/>
          <a:p>
            <a:r>
              <a:rPr lang="vi-VN" dirty="0"/>
              <a:t>Trong </a:t>
            </a:r>
            <a:r>
              <a:rPr lang="vi-VN" dirty="0" err="1"/>
              <a:t>các</a:t>
            </a:r>
            <a:r>
              <a:rPr lang="vi-VN" dirty="0"/>
              <a:t> phiên </a:t>
            </a:r>
            <a:r>
              <a:rPr lang="vi-VN" dirty="0" err="1"/>
              <a:t>bản</a:t>
            </a:r>
            <a:r>
              <a:rPr lang="vi-VN" dirty="0"/>
              <a:t> C# </a:t>
            </a:r>
            <a:r>
              <a:rPr lang="vi-VN" dirty="0" err="1"/>
              <a:t>trước</a:t>
            </a:r>
            <a:r>
              <a:rPr lang="vi-VN" dirty="0"/>
              <a:t> đây, </a:t>
            </a:r>
            <a:r>
              <a:rPr lang="vi-VN" dirty="0" err="1"/>
              <a:t>bạn</a:t>
            </a:r>
            <a:r>
              <a:rPr lang="vi-VN" dirty="0"/>
              <a:t> </a:t>
            </a:r>
            <a:r>
              <a:rPr lang="vi-VN" dirty="0" err="1"/>
              <a:t>phải</a:t>
            </a:r>
            <a:r>
              <a:rPr lang="vi-VN" dirty="0"/>
              <a:t> </a:t>
            </a:r>
            <a:r>
              <a:rPr lang="vi-VN" dirty="0" err="1"/>
              <a:t>viết</a:t>
            </a:r>
            <a:r>
              <a:rPr lang="vi-VN" dirty="0"/>
              <a:t> chương </a:t>
            </a:r>
            <a:r>
              <a:rPr lang="vi-VN" dirty="0" err="1"/>
              <a:t>trình</a:t>
            </a:r>
            <a:r>
              <a:rPr lang="vi-VN" dirty="0"/>
              <a:t> </a:t>
            </a:r>
            <a:r>
              <a:rPr lang="vi-VN" dirty="0" err="1"/>
              <a:t>với</a:t>
            </a:r>
            <a:r>
              <a:rPr lang="vi-VN" dirty="0"/>
              <a:t> </a:t>
            </a:r>
            <a:r>
              <a:rPr lang="vi-VN" dirty="0" err="1"/>
              <a:t>cấu</a:t>
            </a:r>
            <a:r>
              <a:rPr lang="vi-VN" dirty="0"/>
              <a:t> </a:t>
            </a:r>
            <a:r>
              <a:rPr lang="vi-VN" dirty="0" err="1"/>
              <a:t>trúc</a:t>
            </a:r>
            <a:r>
              <a:rPr lang="vi-VN" dirty="0"/>
              <a:t> như sau:</a:t>
            </a:r>
            <a:endParaRPr lang="en-US" dirty="0"/>
          </a:p>
          <a:p>
            <a:pPr>
              <a:lnSpc>
                <a:spcPct val="120000"/>
              </a:lnSpc>
              <a:spcBef>
                <a:spcPts val="600"/>
              </a:spcBef>
              <a:spcAft>
                <a:spcPts val="0"/>
              </a:spcAft>
            </a:pPr>
            <a:r>
              <a:rPr lang="en-US" sz="2400" dirty="0">
                <a:solidFill>
                  <a:srgbClr val="FF0000"/>
                </a:solidFill>
              </a:rPr>
              <a:t>using System;</a:t>
            </a:r>
          </a:p>
          <a:p>
            <a:pPr>
              <a:lnSpc>
                <a:spcPct val="120000"/>
              </a:lnSpc>
              <a:spcBef>
                <a:spcPts val="600"/>
              </a:spcBef>
              <a:spcAft>
                <a:spcPts val="0"/>
              </a:spcAft>
            </a:pPr>
            <a:r>
              <a:rPr lang="en-US" sz="2400" dirty="0"/>
              <a:t>namespace CS001_HelloWorld</a:t>
            </a:r>
          </a:p>
          <a:p>
            <a:pPr>
              <a:lnSpc>
                <a:spcPct val="120000"/>
              </a:lnSpc>
              <a:spcBef>
                <a:spcPts val="600"/>
              </a:spcBef>
              <a:spcAft>
                <a:spcPts val="0"/>
              </a:spcAft>
            </a:pPr>
            <a:r>
              <a:rPr lang="en-US" sz="2400" dirty="0"/>
              <a:t>{</a:t>
            </a:r>
          </a:p>
          <a:p>
            <a:pPr>
              <a:lnSpc>
                <a:spcPct val="120000"/>
              </a:lnSpc>
              <a:spcBef>
                <a:spcPts val="600"/>
              </a:spcBef>
              <a:spcAft>
                <a:spcPts val="0"/>
              </a:spcAft>
            </a:pPr>
            <a:r>
              <a:rPr lang="en-US" sz="2400" dirty="0"/>
              <a:t>    class Program</a:t>
            </a:r>
          </a:p>
          <a:p>
            <a:pPr>
              <a:lnSpc>
                <a:spcPct val="120000"/>
              </a:lnSpc>
              <a:spcBef>
                <a:spcPts val="600"/>
              </a:spcBef>
              <a:spcAft>
                <a:spcPts val="0"/>
              </a:spcAft>
            </a:pPr>
            <a:r>
              <a:rPr lang="en-US" sz="2400" dirty="0"/>
              <a:t>    {</a:t>
            </a:r>
          </a:p>
          <a:p>
            <a:pPr>
              <a:lnSpc>
                <a:spcPct val="120000"/>
              </a:lnSpc>
              <a:spcBef>
                <a:spcPts val="600"/>
              </a:spcBef>
              <a:spcAft>
                <a:spcPts val="0"/>
              </a:spcAft>
            </a:pPr>
            <a:r>
              <a:rPr lang="en-US" sz="2400" dirty="0"/>
              <a:t>        static void Main(string[] </a:t>
            </a:r>
            <a:r>
              <a:rPr lang="en-US" sz="2400" dirty="0" err="1"/>
              <a:t>args</a:t>
            </a:r>
            <a:r>
              <a:rPr lang="en-US" sz="2400" dirty="0"/>
              <a:t>)</a:t>
            </a:r>
          </a:p>
          <a:p>
            <a:pPr>
              <a:lnSpc>
                <a:spcPct val="120000"/>
              </a:lnSpc>
              <a:spcBef>
                <a:spcPts val="600"/>
              </a:spcBef>
              <a:spcAft>
                <a:spcPts val="0"/>
              </a:spcAft>
            </a:pPr>
            <a:r>
              <a:rPr lang="en-US" sz="2400" dirty="0"/>
              <a:t>        {</a:t>
            </a:r>
          </a:p>
          <a:p>
            <a:pPr>
              <a:lnSpc>
                <a:spcPct val="120000"/>
              </a:lnSpc>
              <a:spcBef>
                <a:spcPts val="600"/>
              </a:spcBef>
              <a:spcAft>
                <a:spcPts val="0"/>
              </a:spcAft>
            </a:pPr>
            <a:r>
              <a:rPr lang="en-US" sz="2400" dirty="0"/>
              <a:t>            </a:t>
            </a:r>
            <a:r>
              <a:rPr lang="en-US" sz="2400" dirty="0" err="1"/>
              <a:t>Console.WriteLine</a:t>
            </a:r>
            <a:r>
              <a:rPr lang="en-US" sz="2400" dirty="0"/>
              <a:t>("Xin </a:t>
            </a:r>
            <a:r>
              <a:rPr lang="en-US" sz="2400" dirty="0" err="1"/>
              <a:t>chào</a:t>
            </a:r>
            <a:r>
              <a:rPr lang="en-US" sz="2400" dirty="0"/>
              <a:t> C# NET CORE!");</a:t>
            </a:r>
          </a:p>
          <a:p>
            <a:pPr>
              <a:lnSpc>
                <a:spcPct val="120000"/>
              </a:lnSpc>
              <a:spcBef>
                <a:spcPts val="600"/>
              </a:spcBef>
              <a:spcAft>
                <a:spcPts val="0"/>
              </a:spcAft>
            </a:pPr>
            <a:r>
              <a:rPr lang="en-US" sz="2400" dirty="0"/>
              <a:t>        }</a:t>
            </a:r>
          </a:p>
          <a:p>
            <a:pPr>
              <a:lnSpc>
                <a:spcPct val="120000"/>
              </a:lnSpc>
              <a:spcBef>
                <a:spcPts val="600"/>
              </a:spcBef>
              <a:spcAft>
                <a:spcPts val="0"/>
              </a:spcAft>
            </a:pPr>
            <a:r>
              <a:rPr lang="en-US" sz="2400" dirty="0"/>
              <a:t>    }</a:t>
            </a:r>
          </a:p>
          <a:p>
            <a:pPr>
              <a:lnSpc>
                <a:spcPct val="120000"/>
              </a:lnSpc>
              <a:spcBef>
                <a:spcPts val="600"/>
              </a:spcBef>
              <a:spcAft>
                <a:spcPts val="0"/>
              </a:spcAft>
            </a:pPr>
            <a:r>
              <a:rPr lang="en-US" sz="2400" dirty="0"/>
              <a:t>}</a:t>
            </a:r>
          </a:p>
        </p:txBody>
      </p:sp>
    </p:spTree>
    <p:extLst>
      <p:ext uri="{BB962C8B-B14F-4D97-AF65-F5344CB8AC3E}">
        <p14:creationId xmlns:p14="http://schemas.microsoft.com/office/powerpoint/2010/main" val="608344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136775" y="228600"/>
            <a:ext cx="8153400" cy="990600"/>
          </a:xfrm>
        </p:spPr>
        <p:txBody>
          <a:bodyPr/>
          <a:lstStyle/>
          <a:p>
            <a:pPr eaLnBrk="1" hangingPunct="1"/>
            <a:r>
              <a:rPr lang="en-US" altLang="en-US" b="1">
                <a:solidFill>
                  <a:srgbClr val="0070C0"/>
                </a:solidFill>
              </a:rPr>
              <a:t>Cấu trúc chương trình C#</a:t>
            </a:r>
          </a:p>
        </p:txBody>
      </p:sp>
      <p:sp>
        <p:nvSpPr>
          <p:cNvPr id="5" name="Slide Number Placeholder 3"/>
          <p:cNvSpPr>
            <a:spLocks noGrp="1"/>
          </p:cNvSpPr>
          <p:nvPr>
            <p:ph type="sldNum" sz="quarter" idx="4294967295"/>
          </p:nvPr>
        </p:nvSpPr>
        <p:spPr/>
        <p:txBody>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eaLnBrk="1" hangingPunct="1">
              <a:lnSpc>
                <a:spcPct val="80000"/>
              </a:lnSpc>
            </a:pPr>
            <a:fld id="{4D2ACD96-80FA-4F3D-97A2-5B3D1ED0568E}" type="slidenum">
              <a:rPr lang="en-US" altLang="en-US" sz="1200">
                <a:solidFill>
                  <a:srgbClr val="FFFFFF"/>
                </a:solidFill>
              </a:rPr>
              <a:pPr eaLnBrk="1" hangingPunct="1">
                <a:lnSpc>
                  <a:spcPct val="80000"/>
                </a:lnSpc>
              </a:pPr>
              <a:t>10</a:t>
            </a:fld>
            <a:endParaRPr lang="en-US" altLang="en-US" sz="1200">
              <a:solidFill>
                <a:srgbClr val="FFFFFF"/>
              </a:solidFill>
            </a:endParaRPr>
          </a:p>
        </p:txBody>
      </p:sp>
      <p:sp>
        <p:nvSpPr>
          <p:cNvPr id="17412" name="Rectangle 3"/>
          <p:cNvSpPr>
            <a:spLocks noGrp="1" noChangeArrowheads="1"/>
          </p:cNvSpPr>
          <p:nvPr>
            <p:ph sz="quarter" idx="1"/>
          </p:nvPr>
        </p:nvSpPr>
        <p:spPr>
          <a:xfrm>
            <a:off x="1828801" y="4749800"/>
            <a:ext cx="8410575" cy="1498600"/>
          </a:xfrm>
        </p:spPr>
        <p:txBody>
          <a:bodyPr>
            <a:normAutofit/>
          </a:bodyPr>
          <a:lstStyle/>
          <a:p>
            <a:pPr eaLnBrk="1" hangingPunct="1"/>
            <a:r>
              <a:rPr lang="en-US" altLang="en-US" sz="2400" dirty="0" err="1"/>
              <a:t>Nếu</a:t>
            </a:r>
            <a:r>
              <a:rPr lang="en-US" altLang="en-US" sz="2400" dirty="0"/>
              <a:t> ko </a:t>
            </a:r>
            <a:r>
              <a:rPr lang="en-US" altLang="en-US" sz="2400" dirty="0" err="1"/>
              <a:t>có</a:t>
            </a:r>
            <a:r>
              <a:rPr lang="en-US" altLang="en-US" sz="2400" dirty="0"/>
              <a:t> namespace </a:t>
            </a:r>
            <a:r>
              <a:rPr lang="en-US" altLang="en-US" sz="2400" dirty="0">
                <a:sym typeface="Symbol" panose="05050102010706020507" pitchFamily="18" charset="2"/>
              </a:rPr>
              <a:t></a:t>
            </a:r>
            <a:r>
              <a:rPr lang="en-US" altLang="en-US" sz="2400" dirty="0"/>
              <a:t> namespace </a:t>
            </a:r>
            <a:r>
              <a:rPr lang="en-US" altLang="en-US" sz="2400" dirty="0" err="1"/>
              <a:t>mặc</a:t>
            </a:r>
            <a:r>
              <a:rPr lang="en-US" altLang="en-US" sz="2400" dirty="0"/>
              <a:t> </a:t>
            </a:r>
            <a:r>
              <a:rPr lang="en-US" altLang="en-US" sz="2400" dirty="0" err="1"/>
              <a:t>định</a:t>
            </a:r>
            <a:r>
              <a:rPr lang="en-US" altLang="en-US" sz="2400" dirty="0"/>
              <a:t> ko </a:t>
            </a:r>
            <a:r>
              <a:rPr lang="en-US" altLang="en-US" sz="2400" dirty="0" err="1"/>
              <a:t>tên</a:t>
            </a:r>
            <a:endParaRPr lang="en-US" altLang="en-US" sz="2400" dirty="0"/>
          </a:p>
          <a:p>
            <a:pPr eaLnBrk="1" hangingPunct="1"/>
            <a:r>
              <a:rPr lang="en-US" altLang="en-US" sz="2400" dirty="0"/>
              <a:t>Namespace </a:t>
            </a:r>
            <a:r>
              <a:rPr lang="en-US" altLang="en-US" sz="2400" dirty="0" err="1"/>
              <a:t>có</a:t>
            </a:r>
            <a:r>
              <a:rPr lang="en-US" altLang="en-US" sz="2400" dirty="0"/>
              <a:t> </a:t>
            </a:r>
            <a:r>
              <a:rPr lang="en-US" altLang="en-US" sz="2400" dirty="0" err="1"/>
              <a:t>thể</a:t>
            </a:r>
            <a:r>
              <a:rPr lang="en-US" altLang="en-US" sz="2400" dirty="0"/>
              <a:t> </a:t>
            </a:r>
            <a:r>
              <a:rPr lang="en-US" altLang="en-US" sz="2400" dirty="0" err="1"/>
              <a:t>chứa</a:t>
            </a:r>
            <a:r>
              <a:rPr lang="en-US" altLang="en-US" sz="2400" dirty="0"/>
              <a:t>: struct, interface, delegate, </a:t>
            </a:r>
            <a:r>
              <a:rPr lang="en-US" altLang="en-US" sz="2400" dirty="0" err="1"/>
              <a:t>enum</a:t>
            </a:r>
            <a:endParaRPr lang="en-US" altLang="en-US" sz="2400" dirty="0"/>
          </a:p>
          <a:p>
            <a:pPr eaLnBrk="1" hangingPunct="1"/>
            <a:r>
              <a:rPr lang="en-US" altLang="en-US" sz="2400" dirty="0" err="1"/>
              <a:t>Trường</a:t>
            </a:r>
            <a:r>
              <a:rPr lang="en-US" altLang="en-US" sz="2400" dirty="0"/>
              <a:t> </a:t>
            </a:r>
            <a:r>
              <a:rPr lang="en-US" altLang="en-US" sz="2400" dirty="0" err="1"/>
              <a:t>hợp</a:t>
            </a:r>
            <a:r>
              <a:rPr lang="en-US" altLang="en-US" sz="2400" dirty="0"/>
              <a:t> </a:t>
            </a:r>
            <a:r>
              <a:rPr lang="en-US" altLang="en-US" sz="2400" dirty="0" err="1"/>
              <a:t>đơn</a:t>
            </a:r>
            <a:r>
              <a:rPr lang="en-US" altLang="en-US" sz="2400" dirty="0"/>
              <a:t> </a:t>
            </a:r>
            <a:r>
              <a:rPr lang="en-US" altLang="en-US" sz="2400" dirty="0" err="1"/>
              <a:t>giản</a:t>
            </a:r>
            <a:r>
              <a:rPr lang="en-US" altLang="en-US" sz="2400" dirty="0"/>
              <a:t> </a:t>
            </a:r>
            <a:r>
              <a:rPr lang="en-US" altLang="en-US" sz="2400" dirty="0" err="1"/>
              <a:t>nhất</a:t>
            </a:r>
            <a:r>
              <a:rPr lang="en-US" altLang="en-US" sz="2400" dirty="0"/>
              <a:t>: 1 </a:t>
            </a:r>
            <a:r>
              <a:rPr lang="en-US" altLang="en-US" sz="2400" dirty="0" err="1"/>
              <a:t>lớp</a:t>
            </a:r>
            <a:r>
              <a:rPr lang="en-US" altLang="en-US" sz="2400" dirty="0"/>
              <a:t>, 1 file cs </a:t>
            </a:r>
            <a:r>
              <a:rPr lang="en-US" altLang="en-US" sz="2400" dirty="0" err="1"/>
              <a:t>và</a:t>
            </a:r>
            <a:r>
              <a:rPr lang="en-US" altLang="en-US" sz="2400" dirty="0"/>
              <a:t> namespace </a:t>
            </a:r>
            <a:r>
              <a:rPr lang="en-US" altLang="en-US" sz="2400" dirty="0" err="1"/>
              <a:t>mặc</a:t>
            </a:r>
            <a:r>
              <a:rPr lang="en-US" altLang="en-US" sz="2400" dirty="0"/>
              <a:t> </a:t>
            </a:r>
            <a:r>
              <a:rPr lang="en-US" altLang="en-US" sz="2400" dirty="0" err="1"/>
              <a:t>định</a:t>
            </a:r>
            <a:endParaRPr lang="en-US" altLang="en-US" sz="2400" dirty="0"/>
          </a:p>
        </p:txBody>
      </p:sp>
      <p:pic>
        <p:nvPicPr>
          <p:cNvPr id="16389" name="Picture 4"/>
          <p:cNvPicPr>
            <a:picLocks noChangeAspect="1" noChangeArrowheads="1"/>
          </p:cNvPicPr>
          <p:nvPr/>
        </p:nvPicPr>
        <p:blipFill>
          <a:blip r:embed="rId2"/>
          <a:srcRect/>
          <a:stretch>
            <a:fillRect/>
          </a:stretch>
        </p:blipFill>
        <p:spPr bwMode="auto">
          <a:xfrm>
            <a:off x="3276600" y="1676400"/>
            <a:ext cx="5791200" cy="2973388"/>
          </a:xfrm>
          <a:prstGeom prst="rect">
            <a:avLst/>
          </a:prstGeom>
          <a:ln>
            <a:headEnd/>
            <a:tailEnd/>
          </a:ln>
        </p:spPr>
        <p:style>
          <a:lnRef idx="3">
            <a:schemeClr val="lt1"/>
          </a:lnRef>
          <a:fillRef idx="1">
            <a:schemeClr val="accent1"/>
          </a:fillRef>
          <a:effectRef idx="1">
            <a:schemeClr val="accent1"/>
          </a:effectRef>
          <a:fontRef idx="minor">
            <a:schemeClr val="lt1"/>
          </a:fontRef>
        </p:style>
      </p:pic>
    </p:spTree>
    <p:extLst>
      <p:ext uri="{BB962C8B-B14F-4D97-AF65-F5344CB8AC3E}">
        <p14:creationId xmlns:p14="http://schemas.microsoft.com/office/powerpoint/2010/main" val="247580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81200" y="31751"/>
            <a:ext cx="8229600" cy="792163"/>
          </a:xfrm>
        </p:spPr>
        <p:txBody>
          <a:bodyPr/>
          <a:lstStyle/>
          <a:p>
            <a:pPr eaLnBrk="1" hangingPunct="1"/>
            <a:r>
              <a:rPr lang="en-US" altLang="en-US" b="1">
                <a:solidFill>
                  <a:srgbClr val="0070C0"/>
                </a:solidFill>
              </a:rPr>
              <a:t>Cấu trúc chương trình C#</a:t>
            </a:r>
          </a:p>
        </p:txBody>
      </p:sp>
      <p:sp>
        <p:nvSpPr>
          <p:cNvPr id="5" name="Slide Number Placeholder 3"/>
          <p:cNvSpPr>
            <a:spLocks noGrp="1"/>
          </p:cNvSpPr>
          <p:nvPr>
            <p:ph type="sldNum" sz="quarter" idx="4294967295"/>
          </p:nvPr>
        </p:nvSpPr>
        <p:spPr/>
        <p:txBody>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eaLnBrk="1" hangingPunct="1">
              <a:lnSpc>
                <a:spcPct val="80000"/>
              </a:lnSpc>
            </a:pPr>
            <a:fld id="{E249554A-7541-420E-9204-820146964BB8}" type="slidenum">
              <a:rPr lang="en-US" altLang="en-US" sz="1200">
                <a:solidFill>
                  <a:srgbClr val="FFFFFF"/>
                </a:solidFill>
              </a:rPr>
              <a:pPr eaLnBrk="1" hangingPunct="1">
                <a:lnSpc>
                  <a:spcPct val="80000"/>
                </a:lnSpc>
              </a:pPr>
              <a:t>11</a:t>
            </a:fld>
            <a:endParaRPr lang="en-US" altLang="en-US" sz="1200">
              <a:solidFill>
                <a:srgbClr val="FFFFFF"/>
              </a:solidFill>
            </a:endParaRPr>
          </a:p>
        </p:txBody>
      </p:sp>
      <p:sp>
        <p:nvSpPr>
          <p:cNvPr id="78851" name="Text Box 3"/>
          <p:cNvSpPr txBox="1">
            <a:spLocks noChangeArrowheads="1"/>
          </p:cNvSpPr>
          <p:nvPr/>
        </p:nvSpPr>
        <p:spPr bwMode="auto">
          <a:xfrm>
            <a:off x="2404533" y="1278467"/>
            <a:ext cx="6553200" cy="4939814"/>
          </a:xfrm>
          <a:prstGeom prst="rect">
            <a:avLst/>
          </a:prstGeom>
          <a:solidFill>
            <a:schemeClr val="accent4">
              <a:lumMod val="60000"/>
              <a:lumOff val="40000"/>
            </a:schemeClr>
          </a:solidFill>
          <a:ln>
            <a:solidFill>
              <a:schemeClr val="tx1"/>
            </a:solidFill>
            <a:headEnd/>
            <a:tailEnd/>
          </a:ln>
        </p:spPr>
        <p:style>
          <a:lnRef idx="3">
            <a:schemeClr val="lt1"/>
          </a:lnRef>
          <a:fillRef idx="1">
            <a:schemeClr val="accent1"/>
          </a:fillRef>
          <a:effectRef idx="1">
            <a:schemeClr val="accent1"/>
          </a:effectRef>
          <a:fontRef idx="minor">
            <a:schemeClr val="lt1"/>
          </a:fontRef>
        </p:style>
        <p:txBody>
          <a:bodyPr>
            <a:spAutoFit/>
          </a:bodyPr>
          <a:lstStyle/>
          <a:p>
            <a:pPr algn="l">
              <a:spcBef>
                <a:spcPct val="50000"/>
              </a:spcBef>
              <a:defRPr/>
            </a:pPr>
            <a:r>
              <a:rPr lang="en-US" dirty="0">
                <a:solidFill>
                  <a:srgbClr val="FF3300"/>
                </a:solidFill>
                <a:latin typeface="Arial Black" pitchFamily="34" charset="0"/>
                <a:cs typeface="Arial" charset="0"/>
              </a:rPr>
              <a:t>using</a:t>
            </a:r>
            <a:r>
              <a:rPr lang="en-US" dirty="0">
                <a:solidFill>
                  <a:schemeClr val="tx1"/>
                </a:solidFill>
                <a:latin typeface="Arial Black" pitchFamily="34" charset="0"/>
                <a:cs typeface="Arial" charset="0"/>
              </a:rPr>
              <a:t> &lt;namespace </a:t>
            </a:r>
            <a:r>
              <a:rPr lang="en-US" dirty="0" err="1">
                <a:solidFill>
                  <a:schemeClr val="tx1"/>
                </a:solidFill>
                <a:latin typeface="Arial Black" pitchFamily="34" charset="0"/>
                <a:cs typeface="Arial" charset="0"/>
              </a:rPr>
              <a:t>sử</a:t>
            </a:r>
            <a:r>
              <a:rPr lang="en-US" dirty="0">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dụng</a:t>
            </a:r>
            <a:r>
              <a:rPr lang="en-US" dirty="0">
                <a:solidFill>
                  <a:schemeClr val="tx1"/>
                </a:solidFill>
                <a:latin typeface="Arial Black" pitchFamily="34" charset="0"/>
                <a:cs typeface="Arial" charset="0"/>
              </a:rPr>
              <a:t>&gt;</a:t>
            </a:r>
          </a:p>
          <a:p>
            <a:pPr algn="l">
              <a:spcBef>
                <a:spcPct val="50000"/>
              </a:spcBef>
              <a:defRPr/>
            </a:pPr>
            <a:r>
              <a:rPr lang="en-US" dirty="0">
                <a:solidFill>
                  <a:schemeClr val="tx1"/>
                </a:solidFill>
                <a:latin typeface="Arial Black" pitchFamily="34" charset="0"/>
                <a:cs typeface="Arial" charset="0"/>
              </a:rPr>
              <a:t>…</a:t>
            </a:r>
            <a:br>
              <a:rPr lang="en-US" dirty="0">
                <a:solidFill>
                  <a:schemeClr val="tx1"/>
                </a:solidFill>
                <a:latin typeface="Arial Black" pitchFamily="34" charset="0"/>
                <a:cs typeface="Arial" charset="0"/>
              </a:rPr>
            </a:br>
            <a:r>
              <a:rPr lang="en-US" dirty="0">
                <a:solidFill>
                  <a:srgbClr val="FF3300"/>
                </a:solidFill>
                <a:latin typeface="Arial Black" pitchFamily="34" charset="0"/>
                <a:cs typeface="Arial" charset="0"/>
              </a:rPr>
              <a:t>namespace</a:t>
            </a:r>
            <a:r>
              <a:rPr lang="en-US" dirty="0">
                <a:solidFill>
                  <a:schemeClr val="tx1"/>
                </a:solidFill>
                <a:latin typeface="Arial Black" pitchFamily="34" charset="0"/>
                <a:cs typeface="Arial" charset="0"/>
              </a:rPr>
              <a:t> &lt;</a:t>
            </a:r>
            <a:r>
              <a:rPr lang="en-US" dirty="0" err="1">
                <a:solidFill>
                  <a:schemeClr val="tx1"/>
                </a:solidFill>
                <a:latin typeface="Arial Black" pitchFamily="34" charset="0"/>
                <a:cs typeface="Arial" charset="0"/>
              </a:rPr>
              <a:t>Tên</a:t>
            </a:r>
            <a:r>
              <a:rPr lang="en-US" dirty="0">
                <a:solidFill>
                  <a:schemeClr val="tx1"/>
                </a:solidFill>
                <a:latin typeface="Arial Black" pitchFamily="34" charset="0"/>
                <a:cs typeface="Arial" charset="0"/>
              </a:rPr>
              <a:t> Namespace&gt;</a:t>
            </a:r>
            <a:br>
              <a:rPr lang="en-US" dirty="0">
                <a:solidFill>
                  <a:schemeClr val="tx1"/>
                </a:solidFill>
                <a:latin typeface="Arial Black" pitchFamily="34" charset="0"/>
                <a:cs typeface="Arial" charset="0"/>
              </a:rPr>
            </a:br>
            <a:r>
              <a:rPr lang="en-US" dirty="0">
                <a:solidFill>
                  <a:schemeClr val="tx1"/>
                </a:solidFill>
                <a:latin typeface="Arial Black" pitchFamily="34" charset="0"/>
                <a:cs typeface="Arial" charset="0"/>
              </a:rPr>
              <a:t>{</a:t>
            </a:r>
            <a:br>
              <a:rPr lang="en-US" dirty="0">
                <a:solidFill>
                  <a:schemeClr val="tx1"/>
                </a:solidFill>
                <a:latin typeface="Arial Black" pitchFamily="34" charset="0"/>
                <a:cs typeface="Arial" charset="0"/>
              </a:rPr>
            </a:br>
            <a:r>
              <a:rPr lang="en-US" dirty="0">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Khóa</a:t>
            </a:r>
            <a:r>
              <a:rPr lang="en-US" dirty="0">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truy</a:t>
            </a:r>
            <a:r>
              <a:rPr lang="en-US" dirty="0">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xuất</a:t>
            </a:r>
            <a:r>
              <a:rPr lang="en-US" dirty="0">
                <a:solidFill>
                  <a:schemeClr val="tx1"/>
                </a:solidFill>
                <a:latin typeface="Arial Black" pitchFamily="34" charset="0"/>
                <a:cs typeface="Arial" charset="0"/>
              </a:rPr>
              <a:t>] </a:t>
            </a:r>
            <a:r>
              <a:rPr lang="en-US" dirty="0">
                <a:solidFill>
                  <a:srgbClr val="FF3300"/>
                </a:solidFill>
                <a:latin typeface="Arial Black" pitchFamily="34" charset="0"/>
                <a:cs typeface="Arial" charset="0"/>
              </a:rPr>
              <a:t>class</a:t>
            </a:r>
            <a:r>
              <a:rPr lang="en-US" dirty="0">
                <a:solidFill>
                  <a:schemeClr val="tx1"/>
                </a:solidFill>
                <a:latin typeface="Arial Black" pitchFamily="34" charset="0"/>
                <a:cs typeface="Arial" charset="0"/>
              </a:rPr>
              <a:t> &lt;</a:t>
            </a:r>
            <a:r>
              <a:rPr lang="en-US" dirty="0" err="1">
                <a:solidFill>
                  <a:schemeClr val="tx1"/>
                </a:solidFill>
                <a:latin typeface="Arial Black" pitchFamily="34" charset="0"/>
                <a:cs typeface="Arial" charset="0"/>
              </a:rPr>
              <a:t>Tên</a:t>
            </a:r>
            <a:r>
              <a:rPr lang="en-US" dirty="0">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lớp</a:t>
            </a:r>
            <a:r>
              <a:rPr lang="en-US" dirty="0">
                <a:solidFill>
                  <a:schemeClr val="tx1"/>
                </a:solidFill>
                <a:latin typeface="Arial Black" pitchFamily="34" charset="0"/>
                <a:cs typeface="Arial" charset="0"/>
              </a:rPr>
              <a:t>&gt; </a:t>
            </a:r>
            <a:br>
              <a:rPr lang="en-US" dirty="0">
                <a:solidFill>
                  <a:schemeClr val="tx1"/>
                </a:solidFill>
                <a:latin typeface="Arial Black" pitchFamily="34" charset="0"/>
                <a:cs typeface="Arial" charset="0"/>
              </a:rPr>
            </a:br>
            <a:r>
              <a:rPr lang="en-US" dirty="0">
                <a:solidFill>
                  <a:schemeClr val="tx1"/>
                </a:solidFill>
                <a:latin typeface="Arial Black" pitchFamily="34" charset="0"/>
                <a:cs typeface="Arial" charset="0"/>
              </a:rPr>
              <a:t>	{ </a:t>
            </a:r>
          </a:p>
          <a:p>
            <a:pPr lvl="4" algn="l">
              <a:spcBef>
                <a:spcPct val="50000"/>
              </a:spcBef>
              <a:defRPr/>
            </a:pPr>
            <a:r>
              <a:rPr lang="en-US" dirty="0">
                <a:solidFill>
                  <a:srgbClr val="FF3300"/>
                </a:solidFill>
                <a:latin typeface="Arial Black" pitchFamily="34" charset="0"/>
                <a:cs typeface="Arial" charset="0"/>
              </a:rPr>
              <a:t>public</a:t>
            </a:r>
            <a:r>
              <a:rPr lang="en-US" dirty="0">
                <a:solidFill>
                  <a:schemeClr val="tx1"/>
                </a:solidFill>
                <a:latin typeface="Arial Black" pitchFamily="34" charset="0"/>
                <a:cs typeface="Arial" charset="0"/>
              </a:rPr>
              <a:t> </a:t>
            </a:r>
            <a:r>
              <a:rPr lang="en-US" dirty="0">
                <a:solidFill>
                  <a:srgbClr val="FF3300"/>
                </a:solidFill>
                <a:latin typeface="Arial Black" pitchFamily="34" charset="0"/>
                <a:cs typeface="Arial" charset="0"/>
              </a:rPr>
              <a:t>static</a:t>
            </a:r>
            <a:r>
              <a:rPr lang="en-US" dirty="0">
                <a:solidFill>
                  <a:schemeClr val="tx1"/>
                </a:solidFill>
                <a:latin typeface="Arial Black" pitchFamily="34" charset="0"/>
                <a:cs typeface="Arial" charset="0"/>
              </a:rPr>
              <a:t> </a:t>
            </a:r>
            <a:r>
              <a:rPr lang="en-US" dirty="0">
                <a:solidFill>
                  <a:srgbClr val="FF3300"/>
                </a:solidFill>
                <a:latin typeface="Arial Black" pitchFamily="34" charset="0"/>
                <a:cs typeface="Arial" charset="0"/>
              </a:rPr>
              <a:t>void</a:t>
            </a:r>
            <a:r>
              <a:rPr lang="en-US" dirty="0">
                <a:solidFill>
                  <a:schemeClr val="tx1"/>
                </a:solidFill>
                <a:latin typeface="Arial Black" pitchFamily="34" charset="0"/>
                <a:cs typeface="Arial" charset="0"/>
              </a:rPr>
              <a:t> Main()</a:t>
            </a:r>
            <a:br>
              <a:rPr lang="en-US" dirty="0">
                <a:solidFill>
                  <a:schemeClr val="tx1"/>
                </a:solidFill>
                <a:latin typeface="Arial Black" pitchFamily="34" charset="0"/>
                <a:cs typeface="Arial" charset="0"/>
              </a:rPr>
            </a:br>
            <a:r>
              <a:rPr lang="en-US" dirty="0">
                <a:solidFill>
                  <a:schemeClr val="tx1"/>
                </a:solidFill>
                <a:latin typeface="Arial Black" pitchFamily="34" charset="0"/>
                <a:cs typeface="Arial" charset="0"/>
              </a:rPr>
              <a:t>{ </a:t>
            </a:r>
            <a:br>
              <a:rPr lang="en-US" dirty="0">
                <a:solidFill>
                  <a:schemeClr val="tx1"/>
                </a:solidFill>
                <a:latin typeface="Arial Black" pitchFamily="34" charset="0"/>
                <a:cs typeface="Arial" charset="0"/>
              </a:rPr>
            </a:br>
            <a:r>
              <a:rPr lang="en-US" dirty="0">
                <a:solidFill>
                  <a:schemeClr val="tx1"/>
                </a:solidFill>
                <a:latin typeface="Arial Black" pitchFamily="34" charset="0"/>
                <a:cs typeface="Arial" charset="0"/>
              </a:rPr>
              <a:t>	…</a:t>
            </a:r>
          </a:p>
          <a:p>
            <a:pPr lvl="4" algn="l">
              <a:spcBef>
                <a:spcPct val="50000"/>
              </a:spcBef>
              <a:defRPr/>
            </a:pPr>
            <a:r>
              <a:rPr lang="en-US" dirty="0">
                <a:solidFill>
                  <a:schemeClr val="tx1"/>
                </a:solidFill>
                <a:latin typeface="Arial Black" pitchFamily="34" charset="0"/>
                <a:cs typeface="Arial" charset="0"/>
              </a:rPr>
              <a:t>}</a:t>
            </a:r>
          </a:p>
          <a:p>
            <a:pPr lvl="4" algn="l">
              <a:spcBef>
                <a:spcPct val="50000"/>
              </a:spcBef>
              <a:defRPr/>
            </a:pPr>
            <a:r>
              <a:rPr lang="en-US" dirty="0">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thành</a:t>
            </a:r>
            <a:r>
              <a:rPr lang="en-US" dirty="0">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viên</a:t>
            </a:r>
            <a:r>
              <a:rPr lang="en-US" dirty="0">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khác</a:t>
            </a:r>
            <a:r>
              <a:rPr lang="en-US" dirty="0">
                <a:solidFill>
                  <a:schemeClr val="tx1"/>
                </a:solidFill>
                <a:latin typeface="Arial Black" pitchFamily="34" charset="0"/>
                <a:cs typeface="Arial" charset="0"/>
              </a:rPr>
              <a:t> …</a:t>
            </a:r>
          </a:p>
          <a:p>
            <a:pPr lvl="2" algn="l">
              <a:spcBef>
                <a:spcPct val="50000"/>
              </a:spcBef>
              <a:defRPr/>
            </a:pPr>
            <a:r>
              <a:rPr lang="en-US">
                <a:solidFill>
                  <a:schemeClr val="tx1"/>
                </a:solidFill>
                <a:latin typeface="Arial Black" pitchFamily="34" charset="0"/>
                <a:cs typeface="Arial" charset="0"/>
              </a:rPr>
              <a:t>}</a:t>
            </a:r>
          </a:p>
          <a:p>
            <a:pPr marL="514350" lvl="2" algn="l">
              <a:spcBef>
                <a:spcPct val="50000"/>
              </a:spcBef>
              <a:defRPr/>
            </a:pPr>
            <a:r>
              <a:rPr lang="en-US">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lớp</a:t>
            </a:r>
            <a:r>
              <a:rPr lang="en-US" dirty="0">
                <a:solidFill>
                  <a:schemeClr val="tx1"/>
                </a:solidFill>
                <a:latin typeface="Arial Black" pitchFamily="34" charset="0"/>
                <a:cs typeface="Arial" charset="0"/>
              </a:rPr>
              <a:t> </a:t>
            </a:r>
            <a:r>
              <a:rPr lang="en-US" dirty="0" err="1">
                <a:solidFill>
                  <a:schemeClr val="tx1"/>
                </a:solidFill>
                <a:latin typeface="Arial Black" pitchFamily="34" charset="0"/>
                <a:cs typeface="Arial" charset="0"/>
              </a:rPr>
              <a:t>khác</a:t>
            </a:r>
            <a:r>
              <a:rPr lang="en-US" dirty="0">
                <a:solidFill>
                  <a:schemeClr val="tx1"/>
                </a:solidFill>
                <a:latin typeface="Arial Black" pitchFamily="34" charset="0"/>
                <a:cs typeface="Arial" charset="0"/>
              </a:rPr>
              <a:t> …</a:t>
            </a:r>
          </a:p>
          <a:p>
            <a:pPr algn="l">
              <a:spcBef>
                <a:spcPct val="50000"/>
              </a:spcBef>
              <a:defRPr/>
            </a:pPr>
            <a:r>
              <a:rPr lang="en-US" dirty="0">
                <a:solidFill>
                  <a:schemeClr val="tx1"/>
                </a:solidFill>
                <a:latin typeface="Arial Black" pitchFamily="34" charset="0"/>
                <a:cs typeface="Arial" charset="0"/>
              </a:rPr>
              <a:t>}</a:t>
            </a:r>
          </a:p>
        </p:txBody>
      </p:sp>
      <p:sp>
        <p:nvSpPr>
          <p:cNvPr id="6" name="Rectangle 5"/>
          <p:cNvSpPr/>
          <p:nvPr/>
        </p:nvSpPr>
        <p:spPr>
          <a:xfrm rot="21072422">
            <a:off x="8496672" y="1600200"/>
            <a:ext cx="1338828" cy="923330"/>
          </a:xfrm>
          <a:prstGeom prst="rect">
            <a:avLst/>
          </a:prstGeom>
          <a:noFill/>
        </p:spPr>
        <p:txBody>
          <a:bodyPr wrap="none">
            <a:spAutoFit/>
            <a:scene3d>
              <a:camera prst="isometricRightUp"/>
              <a:lightRig rig="glow" dir="t">
                <a:rot lat="0" lon="0" rev="3600000"/>
              </a:lightRig>
            </a:scene3d>
            <a:sp3d prstMaterial="softEdge">
              <a:bevelT w="29210" h="16510"/>
              <a:contourClr>
                <a:schemeClr val="accent4">
                  <a:alpha val="95000"/>
                </a:schemeClr>
              </a:contourClr>
            </a:sp3d>
          </a:bodyPr>
          <a:lstStyle/>
          <a:p>
            <a:pPr>
              <a:defRPr/>
            </a:pPr>
            <a:r>
              <a:rPr lang="en-US" sz="5400" dirty="0">
                <a:ln>
                  <a:prstDash val="solid"/>
                </a:ln>
                <a:solidFill>
                  <a:srgbClr val="FF0000"/>
                </a:solidFill>
                <a:effectLst>
                  <a:outerShdw blurRad="88000" dist="50800" dir="5040000" algn="tl">
                    <a:schemeClr val="accent4">
                      <a:tint val="80000"/>
                      <a:satMod val="250000"/>
                      <a:alpha val="45000"/>
                    </a:schemeClr>
                  </a:outerShdw>
                </a:effectLst>
                <a:latin typeface="Arial" charset="0"/>
              </a:rPr>
              <a:t>*.</a:t>
            </a:r>
            <a:r>
              <a:rPr lang="en-US" sz="5400" dirty="0" err="1">
                <a:ln>
                  <a:prstDash val="solid"/>
                </a:ln>
                <a:solidFill>
                  <a:srgbClr val="FF0000"/>
                </a:solidFill>
                <a:effectLst>
                  <a:outerShdw blurRad="88000" dist="50800" dir="5040000" algn="tl">
                    <a:schemeClr val="accent4">
                      <a:tint val="80000"/>
                      <a:satMod val="250000"/>
                      <a:alpha val="45000"/>
                    </a:schemeClr>
                  </a:outerShdw>
                </a:effectLst>
                <a:latin typeface="Arial" charset="0"/>
              </a:rPr>
              <a:t>cs</a:t>
            </a:r>
            <a:endParaRPr lang="en-US" sz="5400" dirty="0">
              <a:ln>
                <a:prstDash val="solid"/>
              </a:ln>
              <a:solidFill>
                <a:srgbClr val="FF0000"/>
              </a:solidFill>
              <a:effectLst>
                <a:outerShdw blurRad="88000" dist="50800" dir="5040000" algn="tl">
                  <a:schemeClr val="accent4">
                    <a:tint val="80000"/>
                    <a:satMod val="250000"/>
                    <a:alpha val="45000"/>
                  </a:schemeClr>
                </a:outerShdw>
              </a:effectLst>
              <a:latin typeface="Arial" charset="0"/>
            </a:endParaRPr>
          </a:p>
        </p:txBody>
      </p:sp>
    </p:spTree>
    <p:extLst>
      <p:ext uri="{BB962C8B-B14F-4D97-AF65-F5344CB8AC3E}">
        <p14:creationId xmlns:p14="http://schemas.microsoft.com/office/powerpoint/2010/main" val="968406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865BF-DF02-375B-7591-2BA679309FE5}"/>
              </a:ext>
            </a:extLst>
          </p:cNvPr>
          <p:cNvSpPr>
            <a:spLocks noGrp="1"/>
          </p:cNvSpPr>
          <p:nvPr>
            <p:ph type="title"/>
          </p:nvPr>
        </p:nvSpPr>
        <p:spPr/>
        <p:txBody>
          <a:bodyPr>
            <a:normAutofit/>
          </a:bodyPr>
          <a:lstStyle/>
          <a:p>
            <a:r>
              <a:rPr lang="vi-VN" b="0" i="0" dirty="0" err="1">
                <a:solidFill>
                  <a:srgbClr val="009688"/>
                </a:solidFill>
                <a:effectLst/>
                <a:latin typeface="-apple-system"/>
              </a:rPr>
              <a:t>Một</a:t>
            </a:r>
            <a:r>
              <a:rPr lang="vi-VN" b="0" i="0" dirty="0">
                <a:solidFill>
                  <a:srgbClr val="009688"/>
                </a:solidFill>
                <a:effectLst/>
                <a:latin typeface="-apple-system"/>
              </a:rPr>
              <a:t> </a:t>
            </a:r>
            <a:r>
              <a:rPr lang="vi-VN" b="0" i="0" dirty="0" err="1">
                <a:solidFill>
                  <a:srgbClr val="009688"/>
                </a:solidFill>
                <a:effectLst/>
                <a:latin typeface="-apple-system"/>
              </a:rPr>
              <a:t>số</a:t>
            </a:r>
            <a:r>
              <a:rPr lang="vi-VN" b="0" i="0" dirty="0">
                <a:solidFill>
                  <a:srgbClr val="009688"/>
                </a:solidFill>
                <a:effectLst/>
                <a:latin typeface="-apple-system"/>
              </a:rPr>
              <a:t> </a:t>
            </a:r>
            <a:r>
              <a:rPr lang="vi-VN" b="0" i="0" dirty="0" err="1">
                <a:solidFill>
                  <a:srgbClr val="009688"/>
                </a:solidFill>
                <a:effectLst/>
                <a:latin typeface="-apple-system"/>
              </a:rPr>
              <a:t>thành</a:t>
            </a:r>
            <a:r>
              <a:rPr lang="vi-VN" b="0" i="0" dirty="0">
                <a:solidFill>
                  <a:srgbClr val="009688"/>
                </a:solidFill>
                <a:effectLst/>
                <a:latin typeface="-apple-system"/>
              </a:rPr>
              <a:t> </a:t>
            </a:r>
            <a:r>
              <a:rPr lang="vi-VN" b="0" i="0" dirty="0" err="1">
                <a:solidFill>
                  <a:srgbClr val="009688"/>
                </a:solidFill>
                <a:effectLst/>
                <a:latin typeface="-apple-system"/>
              </a:rPr>
              <a:t>phần</a:t>
            </a:r>
            <a:r>
              <a:rPr lang="vi-VN" b="0" i="0" dirty="0">
                <a:solidFill>
                  <a:srgbClr val="009688"/>
                </a:solidFill>
                <a:effectLst/>
                <a:latin typeface="-apple-system"/>
              </a:rPr>
              <a:t> cơ </a:t>
            </a:r>
            <a:r>
              <a:rPr lang="vi-VN" b="0" i="0" dirty="0" err="1">
                <a:solidFill>
                  <a:srgbClr val="009688"/>
                </a:solidFill>
                <a:effectLst/>
                <a:latin typeface="-apple-system"/>
              </a:rPr>
              <a:t>bản</a:t>
            </a:r>
            <a:r>
              <a:rPr lang="vi-VN" b="0" i="0" dirty="0">
                <a:solidFill>
                  <a:srgbClr val="009688"/>
                </a:solidFill>
                <a:effectLst/>
                <a:latin typeface="-apple-system"/>
              </a:rPr>
              <a:t> </a:t>
            </a:r>
            <a:r>
              <a:rPr lang="vi-VN" b="0" i="0" dirty="0" err="1">
                <a:solidFill>
                  <a:srgbClr val="009688"/>
                </a:solidFill>
                <a:effectLst/>
                <a:latin typeface="-apple-system"/>
              </a:rPr>
              <a:t>của</a:t>
            </a:r>
            <a:r>
              <a:rPr lang="vi-VN" b="0" i="0" dirty="0">
                <a:solidFill>
                  <a:srgbClr val="009688"/>
                </a:solidFill>
                <a:effectLst/>
                <a:latin typeface="-apple-system"/>
              </a:rPr>
              <a:t> </a:t>
            </a:r>
            <a:r>
              <a:rPr lang="vi-VN" b="0" i="0" dirty="0" err="1">
                <a:solidFill>
                  <a:srgbClr val="009688"/>
                </a:solidFill>
                <a:effectLst/>
                <a:latin typeface="-apple-system"/>
              </a:rPr>
              <a:t>ứng</a:t>
            </a:r>
            <a:r>
              <a:rPr lang="vi-VN" b="0" i="0" dirty="0">
                <a:solidFill>
                  <a:srgbClr val="009688"/>
                </a:solidFill>
                <a:effectLst/>
                <a:latin typeface="-apple-system"/>
              </a:rPr>
              <a:t> </a:t>
            </a:r>
            <a:r>
              <a:rPr lang="vi-VN" b="0" i="0" dirty="0" err="1">
                <a:solidFill>
                  <a:srgbClr val="009688"/>
                </a:solidFill>
                <a:effectLst/>
                <a:latin typeface="-apple-system"/>
              </a:rPr>
              <a:t>dụng</a:t>
            </a:r>
            <a:r>
              <a:rPr lang="vi-VN" b="0" i="0" dirty="0">
                <a:solidFill>
                  <a:srgbClr val="009688"/>
                </a:solidFill>
                <a:effectLst/>
                <a:latin typeface="-apple-system"/>
              </a:rPr>
              <a:t> </a:t>
            </a:r>
            <a:r>
              <a:rPr lang="vi-VN" b="0" i="0" dirty="0" err="1">
                <a:solidFill>
                  <a:srgbClr val="009688"/>
                </a:solidFill>
                <a:effectLst/>
                <a:latin typeface="-apple-system"/>
              </a:rPr>
              <a:t>code</a:t>
            </a:r>
            <a:r>
              <a:rPr lang="vi-VN" b="0" i="0" dirty="0">
                <a:solidFill>
                  <a:srgbClr val="009688"/>
                </a:solidFill>
                <a:effectLst/>
                <a:latin typeface="-apple-system"/>
              </a:rPr>
              <a:t> C#</a:t>
            </a:r>
            <a:endParaRPr lang="en-US" dirty="0"/>
          </a:p>
        </p:txBody>
      </p:sp>
      <p:sp>
        <p:nvSpPr>
          <p:cNvPr id="3" name="Content Placeholder 2">
            <a:extLst>
              <a:ext uri="{FF2B5EF4-FFF2-40B4-BE49-F238E27FC236}">
                <a16:creationId xmlns:a16="http://schemas.microsoft.com/office/drawing/2014/main" id="{BFDCAEAD-A8D6-57FE-13B1-9C834DBF48F3}"/>
              </a:ext>
            </a:extLst>
          </p:cNvPr>
          <p:cNvSpPr>
            <a:spLocks noGrp="1"/>
          </p:cNvSpPr>
          <p:nvPr>
            <p:ph idx="1"/>
          </p:nvPr>
        </p:nvSpPr>
        <p:spPr/>
        <p:txBody>
          <a:bodyPr/>
          <a:lstStyle/>
          <a:p>
            <a:r>
              <a:rPr lang="en-US" sz="2800" b="1" i="0" dirty="0" err="1">
                <a:solidFill>
                  <a:srgbClr val="212529"/>
                </a:solidFill>
                <a:effectLst/>
                <a:latin typeface="-apple-system"/>
              </a:rPr>
              <a:t>Lệnh</a:t>
            </a:r>
            <a:r>
              <a:rPr lang="en-US" sz="2800" b="1" i="0" dirty="0">
                <a:solidFill>
                  <a:srgbClr val="212529"/>
                </a:solidFill>
                <a:effectLst/>
                <a:latin typeface="-apple-system"/>
              </a:rPr>
              <a:t>, </a:t>
            </a:r>
            <a:r>
              <a:rPr lang="en-US" sz="2800" b="1" i="0" dirty="0" err="1">
                <a:solidFill>
                  <a:srgbClr val="212529"/>
                </a:solidFill>
                <a:effectLst/>
                <a:latin typeface="-apple-system"/>
              </a:rPr>
              <a:t>khối</a:t>
            </a:r>
            <a:r>
              <a:rPr lang="en-US" sz="2800" b="1" i="0" dirty="0">
                <a:solidFill>
                  <a:srgbClr val="212529"/>
                </a:solidFill>
                <a:effectLst/>
                <a:latin typeface="-apple-system"/>
              </a:rPr>
              <a:t> </a:t>
            </a:r>
            <a:r>
              <a:rPr lang="en-US" sz="2800" b="1" i="0" dirty="0" err="1">
                <a:solidFill>
                  <a:srgbClr val="212529"/>
                </a:solidFill>
                <a:effectLst/>
                <a:latin typeface="-apple-system"/>
              </a:rPr>
              <a:t>lệnh</a:t>
            </a:r>
            <a:r>
              <a:rPr lang="en-US" sz="2800" b="1" i="0" dirty="0">
                <a:solidFill>
                  <a:srgbClr val="212529"/>
                </a:solidFill>
                <a:effectLst/>
                <a:latin typeface="-apple-system"/>
              </a:rPr>
              <a:t> (statement) C#</a:t>
            </a:r>
          </a:p>
          <a:p>
            <a:r>
              <a:rPr lang="en-US" dirty="0" err="1"/>
              <a:t>Các</a:t>
            </a:r>
            <a:r>
              <a:rPr lang="en-US" dirty="0"/>
              <a:t> </a:t>
            </a:r>
            <a:r>
              <a:rPr lang="en-US" dirty="0" err="1"/>
              <a:t>khối</a:t>
            </a:r>
            <a:r>
              <a:rPr lang="en-US" dirty="0"/>
              <a:t> </a:t>
            </a:r>
            <a:r>
              <a:rPr lang="en-US" dirty="0" err="1"/>
              <a:t>lệnh</a:t>
            </a:r>
            <a:r>
              <a:rPr lang="en-US" dirty="0"/>
              <a:t> C# </a:t>
            </a:r>
            <a:r>
              <a:rPr lang="en-US" dirty="0" err="1"/>
              <a:t>cho</a:t>
            </a:r>
            <a:r>
              <a:rPr lang="en-US" dirty="0"/>
              <a:t> </a:t>
            </a:r>
            <a:r>
              <a:rPr lang="en-US" dirty="0" err="1"/>
              <a:t>biết</a:t>
            </a:r>
            <a:r>
              <a:rPr lang="en-US" dirty="0"/>
              <a:t> </a:t>
            </a:r>
            <a:r>
              <a:rPr lang="en-US" dirty="0" err="1"/>
              <a:t>nó</a:t>
            </a:r>
            <a:r>
              <a:rPr lang="en-US" dirty="0"/>
              <a:t> </a:t>
            </a:r>
            <a:r>
              <a:rPr lang="en-US" dirty="0" err="1"/>
              <a:t>cần</a:t>
            </a:r>
            <a:r>
              <a:rPr lang="en-US" dirty="0"/>
              <a:t> </a:t>
            </a:r>
            <a:r>
              <a:rPr lang="en-US" dirty="0" err="1"/>
              <a:t>thực</a:t>
            </a:r>
            <a:r>
              <a:rPr lang="en-US" dirty="0"/>
              <a:t> </a:t>
            </a:r>
            <a:r>
              <a:rPr lang="en-US" dirty="0" err="1"/>
              <a:t>hiện</a:t>
            </a:r>
            <a:r>
              <a:rPr lang="en-US" dirty="0"/>
              <a:t> </a:t>
            </a:r>
            <a:r>
              <a:rPr lang="en-US" dirty="0" err="1"/>
              <a:t>một</a:t>
            </a:r>
            <a:r>
              <a:rPr lang="en-US" dirty="0"/>
              <a:t> </a:t>
            </a:r>
            <a:r>
              <a:rPr lang="en-US" dirty="0" err="1"/>
              <a:t>tác</a:t>
            </a:r>
            <a:r>
              <a:rPr lang="en-US" dirty="0"/>
              <a:t> </a:t>
            </a:r>
            <a:r>
              <a:rPr lang="en-US" dirty="0" err="1"/>
              <a:t>vụ</a:t>
            </a:r>
            <a:r>
              <a:rPr lang="en-US" dirty="0"/>
              <a:t> </a:t>
            </a:r>
            <a:r>
              <a:rPr lang="en-US" dirty="0" err="1"/>
              <a:t>nào</a:t>
            </a:r>
            <a:r>
              <a:rPr lang="en-US" dirty="0"/>
              <a:t> </a:t>
            </a:r>
            <a:r>
              <a:rPr lang="en-US" dirty="0" err="1"/>
              <a:t>đó</a:t>
            </a:r>
            <a:r>
              <a:rPr lang="en-US" dirty="0"/>
              <a:t>. </a:t>
            </a:r>
            <a:r>
              <a:rPr lang="en-US" dirty="0" err="1"/>
              <a:t>Nó</a:t>
            </a:r>
            <a:r>
              <a:rPr lang="en-US" dirty="0"/>
              <a:t> </a:t>
            </a:r>
            <a:r>
              <a:rPr lang="en-US" dirty="0" err="1"/>
              <a:t>có</a:t>
            </a:r>
            <a:r>
              <a:rPr lang="en-US" dirty="0"/>
              <a:t> </a:t>
            </a:r>
            <a:r>
              <a:rPr lang="en-US" dirty="0" err="1"/>
              <a:t>thể</a:t>
            </a:r>
            <a:r>
              <a:rPr lang="en-US" dirty="0"/>
              <a:t> </a:t>
            </a:r>
            <a:r>
              <a:rPr lang="en-US" dirty="0" err="1"/>
              <a:t>là</a:t>
            </a:r>
            <a:r>
              <a:rPr lang="en-US" dirty="0"/>
              <a:t> </a:t>
            </a:r>
            <a:r>
              <a:rPr lang="en-US" dirty="0" err="1"/>
              <a:t>một</a:t>
            </a:r>
            <a:r>
              <a:rPr lang="en-US" dirty="0"/>
              <a:t> </a:t>
            </a:r>
            <a:r>
              <a:rPr lang="en-US" dirty="0" err="1"/>
              <a:t>dòng</a:t>
            </a:r>
            <a:r>
              <a:rPr lang="en-US" dirty="0"/>
              <a:t> code </a:t>
            </a:r>
            <a:r>
              <a:rPr lang="en-US" dirty="0" err="1"/>
              <a:t>kết</a:t>
            </a:r>
            <a:r>
              <a:rPr lang="en-US" dirty="0"/>
              <a:t> </a:t>
            </a:r>
            <a:r>
              <a:rPr lang="en-US" dirty="0" err="1"/>
              <a:t>thúc</a:t>
            </a:r>
            <a:r>
              <a:rPr lang="en-US" dirty="0"/>
              <a:t> </a:t>
            </a:r>
            <a:r>
              <a:rPr lang="en-US" dirty="0" err="1"/>
              <a:t>với</a:t>
            </a:r>
            <a:r>
              <a:rPr lang="en-US" dirty="0"/>
              <a:t> </a:t>
            </a:r>
            <a:r>
              <a:rPr lang="en-US" dirty="0" err="1"/>
              <a:t>dấu</a:t>
            </a:r>
            <a:r>
              <a:rPr lang="en-US" dirty="0"/>
              <a:t> ; </a:t>
            </a:r>
            <a:r>
              <a:rPr lang="en-US" dirty="0" err="1"/>
              <a:t>hoặc</a:t>
            </a:r>
            <a:r>
              <a:rPr lang="en-US" dirty="0"/>
              <a:t> </a:t>
            </a:r>
            <a:r>
              <a:rPr lang="en-US" dirty="0" err="1"/>
              <a:t>nhiều</a:t>
            </a:r>
            <a:r>
              <a:rPr lang="en-US" dirty="0"/>
              <a:t> </a:t>
            </a:r>
            <a:r>
              <a:rPr lang="en-US" dirty="0" err="1"/>
              <a:t>dòng</a:t>
            </a:r>
            <a:r>
              <a:rPr lang="en-US" dirty="0"/>
              <a:t> code </a:t>
            </a:r>
            <a:r>
              <a:rPr lang="en-US" dirty="0" err="1"/>
              <a:t>gộp</a:t>
            </a:r>
            <a:r>
              <a:rPr lang="en-US" dirty="0"/>
              <a:t> </a:t>
            </a:r>
            <a:r>
              <a:rPr lang="en-US" dirty="0" err="1"/>
              <a:t>thành</a:t>
            </a:r>
            <a:r>
              <a:rPr lang="en-US" dirty="0"/>
              <a:t> </a:t>
            </a:r>
            <a:r>
              <a:rPr lang="en-US" dirty="0" err="1"/>
              <a:t>khối</a:t>
            </a:r>
            <a:r>
              <a:rPr lang="en-US" dirty="0"/>
              <a:t> </a:t>
            </a:r>
            <a:r>
              <a:rPr lang="en-US" dirty="0" err="1"/>
              <a:t>nằm</a:t>
            </a:r>
            <a:r>
              <a:rPr lang="en-US" dirty="0"/>
              <a:t> </a:t>
            </a:r>
            <a:r>
              <a:rPr lang="en-US" dirty="0" err="1"/>
              <a:t>trong</a:t>
            </a:r>
            <a:r>
              <a:rPr lang="en-US" dirty="0"/>
              <a:t> </a:t>
            </a:r>
            <a:r>
              <a:rPr lang="en-US" dirty="0" err="1"/>
              <a:t>dấu</a:t>
            </a:r>
            <a:r>
              <a:rPr lang="en-US" dirty="0"/>
              <a:t> {}</a:t>
            </a:r>
          </a:p>
          <a:p>
            <a:pPr>
              <a:lnSpc>
                <a:spcPct val="100000"/>
              </a:lnSpc>
            </a:pPr>
            <a:r>
              <a:rPr lang="en-US" dirty="0"/>
              <a:t>int a;  // </a:t>
            </a:r>
            <a:r>
              <a:rPr lang="en-US" dirty="0" err="1"/>
              <a:t>câu</a:t>
            </a:r>
            <a:r>
              <a:rPr lang="en-US" dirty="0"/>
              <a:t> </a:t>
            </a:r>
            <a:r>
              <a:rPr lang="en-US" dirty="0" err="1"/>
              <a:t>lệnh</a:t>
            </a:r>
            <a:endParaRPr lang="en-US" dirty="0"/>
          </a:p>
          <a:p>
            <a:pPr>
              <a:lnSpc>
                <a:spcPct val="100000"/>
              </a:lnSpc>
            </a:pPr>
            <a:r>
              <a:rPr lang="en-US" dirty="0"/>
              <a:t>{</a:t>
            </a:r>
          </a:p>
          <a:p>
            <a:pPr>
              <a:lnSpc>
                <a:spcPct val="100000"/>
              </a:lnSpc>
            </a:pPr>
            <a:r>
              <a:rPr lang="en-US" dirty="0"/>
              <a:t>    // </a:t>
            </a:r>
            <a:r>
              <a:rPr lang="en-US" dirty="0" err="1"/>
              <a:t>bên</a:t>
            </a:r>
            <a:r>
              <a:rPr lang="en-US" dirty="0"/>
              <a:t> </a:t>
            </a:r>
            <a:r>
              <a:rPr lang="en-US" dirty="0" err="1"/>
              <a:t>trong</a:t>
            </a:r>
            <a:r>
              <a:rPr lang="en-US" dirty="0"/>
              <a:t> </a:t>
            </a:r>
            <a:r>
              <a:rPr lang="en-US" dirty="0" err="1"/>
              <a:t>khối</a:t>
            </a:r>
            <a:r>
              <a:rPr lang="en-US" dirty="0"/>
              <a:t> </a:t>
            </a:r>
            <a:r>
              <a:rPr lang="en-US" dirty="0" err="1"/>
              <a:t>lệnh</a:t>
            </a:r>
            <a:endParaRPr lang="en-US" dirty="0"/>
          </a:p>
          <a:p>
            <a:pPr>
              <a:lnSpc>
                <a:spcPct val="100000"/>
              </a:lnSpc>
            </a:pPr>
            <a:r>
              <a:rPr lang="en-US" dirty="0"/>
              <a:t>}</a:t>
            </a:r>
          </a:p>
        </p:txBody>
      </p:sp>
      <p:sp>
        <p:nvSpPr>
          <p:cNvPr id="5" name="Rectangle 4">
            <a:extLst>
              <a:ext uri="{FF2B5EF4-FFF2-40B4-BE49-F238E27FC236}">
                <a16:creationId xmlns:a16="http://schemas.microsoft.com/office/drawing/2014/main" id="{672A4E8E-7BE7-09A7-5654-A8524760C3C3}"/>
              </a:ext>
            </a:extLst>
          </p:cNvPr>
          <p:cNvSpPr/>
          <p:nvPr/>
        </p:nvSpPr>
        <p:spPr>
          <a:xfrm>
            <a:off x="1097280" y="3053918"/>
            <a:ext cx="3604334" cy="19086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8265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B9C27-C4A1-8C72-178F-BC53DB2671DF}"/>
              </a:ext>
            </a:extLst>
          </p:cNvPr>
          <p:cNvSpPr>
            <a:spLocks noGrp="1"/>
          </p:cNvSpPr>
          <p:nvPr>
            <p:ph type="title"/>
          </p:nvPr>
        </p:nvSpPr>
        <p:spPr/>
        <p:txBody>
          <a:bodyPr/>
          <a:lstStyle/>
          <a:p>
            <a:r>
              <a:rPr lang="vi-VN" b="0" i="0" dirty="0" err="1">
                <a:solidFill>
                  <a:srgbClr val="009688"/>
                </a:solidFill>
                <a:effectLst/>
                <a:latin typeface="-apple-system"/>
              </a:rPr>
              <a:t>Một</a:t>
            </a:r>
            <a:r>
              <a:rPr lang="vi-VN" b="0" i="0" dirty="0">
                <a:solidFill>
                  <a:srgbClr val="009688"/>
                </a:solidFill>
                <a:effectLst/>
                <a:latin typeface="-apple-system"/>
              </a:rPr>
              <a:t> </a:t>
            </a:r>
            <a:r>
              <a:rPr lang="vi-VN" b="0" i="0" dirty="0" err="1">
                <a:solidFill>
                  <a:srgbClr val="009688"/>
                </a:solidFill>
                <a:effectLst/>
                <a:latin typeface="-apple-system"/>
              </a:rPr>
              <a:t>số</a:t>
            </a:r>
            <a:r>
              <a:rPr lang="vi-VN" b="0" i="0" dirty="0">
                <a:solidFill>
                  <a:srgbClr val="009688"/>
                </a:solidFill>
                <a:effectLst/>
                <a:latin typeface="-apple-system"/>
              </a:rPr>
              <a:t> </a:t>
            </a:r>
            <a:r>
              <a:rPr lang="vi-VN" b="0" i="0" dirty="0" err="1">
                <a:solidFill>
                  <a:srgbClr val="009688"/>
                </a:solidFill>
                <a:effectLst/>
                <a:latin typeface="-apple-system"/>
              </a:rPr>
              <a:t>thành</a:t>
            </a:r>
            <a:r>
              <a:rPr lang="vi-VN" b="0" i="0" dirty="0">
                <a:solidFill>
                  <a:srgbClr val="009688"/>
                </a:solidFill>
                <a:effectLst/>
                <a:latin typeface="-apple-system"/>
              </a:rPr>
              <a:t> </a:t>
            </a:r>
            <a:r>
              <a:rPr lang="vi-VN" b="0" i="0" dirty="0" err="1">
                <a:solidFill>
                  <a:srgbClr val="009688"/>
                </a:solidFill>
                <a:effectLst/>
                <a:latin typeface="-apple-system"/>
              </a:rPr>
              <a:t>phần</a:t>
            </a:r>
            <a:r>
              <a:rPr lang="vi-VN" b="0" i="0" dirty="0">
                <a:solidFill>
                  <a:srgbClr val="009688"/>
                </a:solidFill>
                <a:effectLst/>
                <a:latin typeface="-apple-system"/>
              </a:rPr>
              <a:t> cơ </a:t>
            </a:r>
            <a:r>
              <a:rPr lang="vi-VN" b="0" i="0" dirty="0" err="1">
                <a:solidFill>
                  <a:srgbClr val="009688"/>
                </a:solidFill>
                <a:effectLst/>
                <a:latin typeface="-apple-system"/>
              </a:rPr>
              <a:t>bản</a:t>
            </a:r>
            <a:r>
              <a:rPr lang="vi-VN" b="0" i="0" dirty="0">
                <a:solidFill>
                  <a:srgbClr val="009688"/>
                </a:solidFill>
                <a:effectLst/>
                <a:latin typeface="-apple-system"/>
              </a:rPr>
              <a:t> </a:t>
            </a:r>
            <a:r>
              <a:rPr lang="vi-VN" b="0" i="0" dirty="0" err="1">
                <a:solidFill>
                  <a:srgbClr val="009688"/>
                </a:solidFill>
                <a:effectLst/>
                <a:latin typeface="-apple-system"/>
              </a:rPr>
              <a:t>của</a:t>
            </a:r>
            <a:r>
              <a:rPr lang="vi-VN" b="0" i="0" dirty="0">
                <a:solidFill>
                  <a:srgbClr val="009688"/>
                </a:solidFill>
                <a:effectLst/>
                <a:latin typeface="-apple-system"/>
              </a:rPr>
              <a:t> </a:t>
            </a:r>
            <a:r>
              <a:rPr lang="vi-VN" b="0" i="0" dirty="0" err="1">
                <a:solidFill>
                  <a:srgbClr val="009688"/>
                </a:solidFill>
                <a:effectLst/>
                <a:latin typeface="-apple-system"/>
              </a:rPr>
              <a:t>ứng</a:t>
            </a:r>
            <a:r>
              <a:rPr lang="vi-VN" b="0" i="0" dirty="0">
                <a:solidFill>
                  <a:srgbClr val="009688"/>
                </a:solidFill>
                <a:effectLst/>
                <a:latin typeface="-apple-system"/>
              </a:rPr>
              <a:t> </a:t>
            </a:r>
            <a:r>
              <a:rPr lang="vi-VN" b="0" i="0" dirty="0" err="1">
                <a:solidFill>
                  <a:srgbClr val="009688"/>
                </a:solidFill>
                <a:effectLst/>
                <a:latin typeface="-apple-system"/>
              </a:rPr>
              <a:t>dụng</a:t>
            </a:r>
            <a:r>
              <a:rPr lang="vi-VN" b="0" i="0" dirty="0">
                <a:solidFill>
                  <a:srgbClr val="009688"/>
                </a:solidFill>
                <a:effectLst/>
                <a:latin typeface="-apple-system"/>
              </a:rPr>
              <a:t> </a:t>
            </a:r>
            <a:r>
              <a:rPr lang="vi-VN" b="0" i="0" dirty="0" err="1">
                <a:solidFill>
                  <a:srgbClr val="009688"/>
                </a:solidFill>
                <a:effectLst/>
                <a:latin typeface="-apple-system"/>
              </a:rPr>
              <a:t>code</a:t>
            </a:r>
            <a:r>
              <a:rPr lang="vi-VN" b="0" i="0" dirty="0">
                <a:solidFill>
                  <a:srgbClr val="009688"/>
                </a:solidFill>
                <a:effectLst/>
                <a:latin typeface="-apple-system"/>
              </a:rPr>
              <a:t> C#</a:t>
            </a:r>
            <a:endParaRPr lang="en-US" dirty="0"/>
          </a:p>
        </p:txBody>
      </p:sp>
      <p:sp>
        <p:nvSpPr>
          <p:cNvPr id="3" name="Content Placeholder 2">
            <a:extLst>
              <a:ext uri="{FF2B5EF4-FFF2-40B4-BE49-F238E27FC236}">
                <a16:creationId xmlns:a16="http://schemas.microsoft.com/office/drawing/2014/main" id="{3AE6AB5C-C6D3-1C3C-4758-97A70F878E15}"/>
              </a:ext>
            </a:extLst>
          </p:cNvPr>
          <p:cNvSpPr>
            <a:spLocks noGrp="1"/>
          </p:cNvSpPr>
          <p:nvPr>
            <p:ph idx="1"/>
          </p:nvPr>
        </p:nvSpPr>
        <p:spPr/>
        <p:txBody>
          <a:bodyPr>
            <a:normAutofit fontScale="92500" lnSpcReduction="10000"/>
          </a:bodyPr>
          <a:lstStyle/>
          <a:p>
            <a:r>
              <a:rPr lang="vi-VN" sz="3000" b="1" i="0" dirty="0">
                <a:solidFill>
                  <a:srgbClr val="212529"/>
                </a:solidFill>
                <a:effectLst/>
                <a:latin typeface="-apple-system"/>
              </a:rPr>
              <a:t>Phương </a:t>
            </a:r>
            <a:r>
              <a:rPr lang="vi-VN" sz="3000" b="1" i="0" dirty="0" err="1">
                <a:solidFill>
                  <a:srgbClr val="212529"/>
                </a:solidFill>
                <a:effectLst/>
                <a:latin typeface="-apple-system"/>
              </a:rPr>
              <a:t>thức</a:t>
            </a:r>
            <a:r>
              <a:rPr lang="vi-VN" sz="3000" b="1" i="0" dirty="0">
                <a:solidFill>
                  <a:srgbClr val="212529"/>
                </a:solidFill>
                <a:effectLst/>
                <a:latin typeface="-apple-system"/>
              </a:rPr>
              <a:t> </a:t>
            </a:r>
            <a:r>
              <a:rPr lang="vi-VN" sz="3000" b="1" i="0" dirty="0" err="1">
                <a:solidFill>
                  <a:srgbClr val="212529"/>
                </a:solidFill>
                <a:effectLst/>
                <a:latin typeface="-apple-system"/>
              </a:rPr>
              <a:t>Main</a:t>
            </a:r>
            <a:endParaRPr lang="vi-VN" sz="3000" b="1" i="0" dirty="0">
              <a:solidFill>
                <a:srgbClr val="212529"/>
              </a:solidFill>
              <a:effectLst/>
              <a:latin typeface="-apple-system"/>
            </a:endParaRPr>
          </a:p>
          <a:p>
            <a:pPr>
              <a:buFont typeface="Arial" panose="020B0604020202020204" pitchFamily="34" charset="0"/>
              <a:buChar char="•"/>
            </a:pPr>
            <a:r>
              <a:rPr lang="vi-VN" dirty="0" err="1"/>
              <a:t>Một</a:t>
            </a:r>
            <a:r>
              <a:rPr lang="vi-VN" dirty="0"/>
              <a:t> </a:t>
            </a:r>
            <a:r>
              <a:rPr lang="vi-VN" dirty="0" err="1"/>
              <a:t>ứng</a:t>
            </a:r>
            <a:r>
              <a:rPr lang="vi-VN" dirty="0"/>
              <a:t> </a:t>
            </a:r>
            <a:r>
              <a:rPr lang="vi-VN" dirty="0" err="1"/>
              <a:t>dụng</a:t>
            </a:r>
            <a:r>
              <a:rPr lang="vi-VN" dirty="0"/>
              <a:t> C# </a:t>
            </a:r>
            <a:r>
              <a:rPr lang="vi-VN" dirty="0" err="1"/>
              <a:t>Console</a:t>
            </a:r>
            <a:r>
              <a:rPr lang="vi-VN" dirty="0"/>
              <a:t> </a:t>
            </a:r>
            <a:r>
              <a:rPr lang="vi-VN" dirty="0" err="1"/>
              <a:t>phải</a:t>
            </a:r>
            <a:r>
              <a:rPr lang="vi-VN" dirty="0"/>
              <a:t> </a:t>
            </a:r>
            <a:r>
              <a:rPr lang="vi-VN" dirty="0" err="1"/>
              <a:t>có</a:t>
            </a:r>
            <a:r>
              <a:rPr lang="vi-VN" dirty="0"/>
              <a:t> </a:t>
            </a:r>
            <a:r>
              <a:rPr lang="vi-VN" dirty="0" err="1"/>
              <a:t>một</a:t>
            </a:r>
            <a:r>
              <a:rPr lang="vi-VN" dirty="0"/>
              <a:t> phương </a:t>
            </a:r>
            <a:r>
              <a:rPr lang="vi-VN" dirty="0" err="1"/>
              <a:t>thức</a:t>
            </a:r>
            <a:r>
              <a:rPr lang="vi-VN" dirty="0"/>
              <a:t> </a:t>
            </a:r>
            <a:r>
              <a:rPr lang="vi-VN" dirty="0" err="1"/>
              <a:t>Main</a:t>
            </a:r>
            <a:r>
              <a:rPr lang="vi-VN" dirty="0"/>
              <a:t>, phương </a:t>
            </a:r>
            <a:r>
              <a:rPr lang="vi-VN" dirty="0" err="1"/>
              <a:t>thức</a:t>
            </a:r>
            <a:r>
              <a:rPr lang="vi-VN" dirty="0"/>
              <a:t> </a:t>
            </a:r>
            <a:r>
              <a:rPr lang="vi-VN" dirty="0" err="1"/>
              <a:t>này</a:t>
            </a:r>
            <a:r>
              <a:rPr lang="vi-VN" dirty="0"/>
              <a:t> </a:t>
            </a:r>
            <a:r>
              <a:rPr lang="vi-VN" dirty="0" err="1"/>
              <a:t>là</a:t>
            </a:r>
            <a:r>
              <a:rPr lang="vi-VN" dirty="0"/>
              <a:t> </a:t>
            </a:r>
            <a:r>
              <a:rPr lang="vi-VN" dirty="0" err="1"/>
              <a:t>điểm</a:t>
            </a:r>
            <a:r>
              <a:rPr lang="vi-VN" dirty="0"/>
              <a:t> </a:t>
            </a:r>
            <a:r>
              <a:rPr lang="vi-VN" dirty="0" err="1"/>
              <a:t>mồi</a:t>
            </a:r>
            <a:r>
              <a:rPr lang="vi-VN" dirty="0"/>
              <a:t> </a:t>
            </a:r>
            <a:r>
              <a:rPr lang="vi-VN" dirty="0" err="1"/>
              <a:t>bắt</a:t>
            </a:r>
            <a:r>
              <a:rPr lang="vi-VN" dirty="0"/>
              <a:t> </a:t>
            </a:r>
            <a:r>
              <a:rPr lang="vi-VN" dirty="0" err="1"/>
              <a:t>đầu</a:t>
            </a:r>
            <a:r>
              <a:rPr lang="vi-VN" dirty="0"/>
              <a:t> </a:t>
            </a:r>
            <a:r>
              <a:rPr lang="vi-VN" dirty="0" err="1"/>
              <a:t>và</a:t>
            </a:r>
            <a:r>
              <a:rPr lang="vi-VN" dirty="0"/>
              <a:t> </a:t>
            </a:r>
            <a:r>
              <a:rPr lang="vi-VN" dirty="0" err="1"/>
              <a:t>kết</a:t>
            </a:r>
            <a:r>
              <a:rPr lang="vi-VN" dirty="0"/>
              <a:t> </a:t>
            </a:r>
            <a:r>
              <a:rPr lang="vi-VN" dirty="0" err="1"/>
              <a:t>thúc</a:t>
            </a:r>
            <a:r>
              <a:rPr lang="vi-VN" dirty="0"/>
              <a:t> </a:t>
            </a:r>
            <a:r>
              <a:rPr lang="vi-VN" dirty="0" err="1"/>
              <a:t>ứng</a:t>
            </a:r>
            <a:r>
              <a:rPr lang="vi-VN" dirty="0"/>
              <a:t> </a:t>
            </a:r>
            <a:r>
              <a:rPr lang="vi-VN" dirty="0" err="1"/>
              <a:t>dụng</a:t>
            </a:r>
            <a:r>
              <a:rPr lang="vi-VN" dirty="0"/>
              <a:t>. Đây </a:t>
            </a:r>
            <a:r>
              <a:rPr lang="vi-VN" dirty="0" err="1"/>
              <a:t>là</a:t>
            </a:r>
            <a:r>
              <a:rPr lang="vi-VN" dirty="0"/>
              <a:t> phương </a:t>
            </a:r>
            <a:r>
              <a:rPr lang="vi-VN" dirty="0" err="1"/>
              <a:t>thức</a:t>
            </a:r>
            <a:r>
              <a:rPr lang="vi-VN" dirty="0"/>
              <a:t> </a:t>
            </a:r>
            <a:r>
              <a:rPr lang="vi-VN" dirty="0" err="1"/>
              <a:t>tính</a:t>
            </a:r>
            <a:r>
              <a:rPr lang="vi-VN" dirty="0"/>
              <a:t> </a:t>
            </a:r>
            <a:r>
              <a:rPr lang="vi-VN" dirty="0" err="1"/>
              <a:t>static</a:t>
            </a:r>
            <a:r>
              <a:rPr lang="vi-VN" dirty="0"/>
              <a:t> </a:t>
            </a:r>
            <a:r>
              <a:rPr lang="vi-VN" dirty="0" err="1"/>
              <a:t>nằm</a:t>
            </a:r>
            <a:r>
              <a:rPr lang="vi-VN" dirty="0"/>
              <a:t> trong </a:t>
            </a:r>
            <a:r>
              <a:rPr lang="vi-VN" dirty="0" err="1"/>
              <a:t>một</a:t>
            </a:r>
            <a:r>
              <a:rPr lang="vi-VN" dirty="0"/>
              <a:t> </a:t>
            </a:r>
            <a:r>
              <a:rPr lang="vi-VN" dirty="0" err="1"/>
              <a:t>lớp</a:t>
            </a:r>
            <a:r>
              <a:rPr lang="vi-VN" dirty="0"/>
              <a:t> (</a:t>
            </a:r>
            <a:r>
              <a:rPr lang="vi-VN" dirty="0" err="1"/>
              <a:t>class</a:t>
            </a:r>
            <a:r>
              <a:rPr lang="vi-VN" dirty="0"/>
              <a:t> </a:t>
            </a:r>
            <a:r>
              <a:rPr lang="vi-VN" dirty="0" err="1"/>
              <a:t>ví</a:t>
            </a:r>
            <a:r>
              <a:rPr lang="vi-VN" dirty="0"/>
              <a:t> </a:t>
            </a:r>
            <a:r>
              <a:rPr lang="vi-VN" dirty="0" err="1"/>
              <a:t>dụ</a:t>
            </a:r>
            <a:r>
              <a:rPr lang="vi-VN" dirty="0"/>
              <a:t> trên </a:t>
            </a:r>
            <a:r>
              <a:rPr lang="vi-VN" dirty="0" err="1"/>
              <a:t>là</a:t>
            </a:r>
            <a:r>
              <a:rPr lang="vi-VN" dirty="0"/>
              <a:t> </a:t>
            </a:r>
            <a:r>
              <a:rPr lang="vi-VN" dirty="0" err="1"/>
              <a:t>lớp</a:t>
            </a:r>
            <a:r>
              <a:rPr lang="vi-VN" dirty="0"/>
              <a:t> </a:t>
            </a:r>
            <a:r>
              <a:rPr lang="vi-VN" dirty="0" err="1"/>
              <a:t>có</a:t>
            </a:r>
            <a:r>
              <a:rPr lang="vi-VN" dirty="0"/>
              <a:t> tên </a:t>
            </a:r>
            <a:r>
              <a:rPr lang="vi-VN" dirty="0" err="1"/>
              <a:t>Program</a:t>
            </a:r>
            <a:r>
              <a:rPr lang="vi-VN" dirty="0"/>
              <a:t>).</a:t>
            </a:r>
          </a:p>
          <a:p>
            <a:pPr>
              <a:buFont typeface="Arial" panose="020B0604020202020204" pitchFamily="34" charset="0"/>
              <a:buChar char="•"/>
            </a:pPr>
            <a:r>
              <a:rPr lang="vi-VN" dirty="0" err="1"/>
              <a:t>Giải</a:t>
            </a:r>
            <a:r>
              <a:rPr lang="vi-VN" dirty="0"/>
              <a:t> </a:t>
            </a:r>
            <a:r>
              <a:rPr lang="vi-VN" dirty="0" err="1"/>
              <a:t>thích</a:t>
            </a:r>
            <a:r>
              <a:rPr lang="vi-VN" dirty="0"/>
              <a:t> nhanh </a:t>
            </a:r>
            <a:r>
              <a:rPr lang="vi-VN" dirty="0" err="1"/>
              <a:t>các</a:t>
            </a:r>
            <a:r>
              <a:rPr lang="vi-VN" dirty="0"/>
              <a:t> </a:t>
            </a:r>
            <a:r>
              <a:rPr lang="vi-VN" dirty="0" err="1"/>
              <a:t>thành</a:t>
            </a:r>
            <a:r>
              <a:rPr lang="vi-VN" dirty="0"/>
              <a:t> </a:t>
            </a:r>
            <a:r>
              <a:rPr lang="vi-VN" dirty="0" err="1"/>
              <a:t>phần</a:t>
            </a:r>
            <a:r>
              <a:rPr lang="vi-VN" dirty="0"/>
              <a:t> cho </a:t>
            </a:r>
            <a:r>
              <a:rPr lang="vi-VN" dirty="0" err="1"/>
              <a:t>hàm</a:t>
            </a:r>
            <a:r>
              <a:rPr lang="vi-VN" dirty="0"/>
              <a:t> </a:t>
            </a:r>
            <a:r>
              <a:rPr lang="vi-VN" dirty="0" err="1"/>
              <a:t>Main</a:t>
            </a:r>
            <a:r>
              <a:rPr lang="vi-VN" dirty="0"/>
              <a:t> ở trên (chi </a:t>
            </a:r>
            <a:r>
              <a:rPr lang="vi-VN" dirty="0" err="1"/>
              <a:t>tiết</a:t>
            </a:r>
            <a:r>
              <a:rPr lang="vi-VN" dirty="0"/>
              <a:t> ở </a:t>
            </a:r>
            <a:r>
              <a:rPr lang="vi-VN" dirty="0" err="1"/>
              <a:t>các</a:t>
            </a:r>
            <a:r>
              <a:rPr lang="vi-VN" dirty="0"/>
              <a:t> </a:t>
            </a:r>
            <a:r>
              <a:rPr lang="vi-VN" dirty="0" err="1"/>
              <a:t>phần</a:t>
            </a:r>
            <a:r>
              <a:rPr lang="vi-VN" dirty="0"/>
              <a:t> sau)</a:t>
            </a:r>
          </a:p>
          <a:p>
            <a:pPr>
              <a:buFont typeface="Arial" panose="020B0604020202020204" pitchFamily="34" charset="0"/>
              <a:buChar char="•"/>
            </a:pPr>
            <a:r>
              <a:rPr lang="vi-VN" dirty="0" err="1"/>
              <a:t>static</a:t>
            </a:r>
            <a:r>
              <a:rPr lang="vi-VN" dirty="0"/>
              <a:t> cho </a:t>
            </a:r>
            <a:r>
              <a:rPr lang="vi-VN" dirty="0" err="1"/>
              <a:t>biết</a:t>
            </a:r>
            <a:r>
              <a:rPr lang="vi-VN" dirty="0"/>
              <a:t> </a:t>
            </a:r>
            <a:r>
              <a:rPr lang="vi-VN" dirty="0" err="1"/>
              <a:t>hàm</a:t>
            </a:r>
            <a:r>
              <a:rPr lang="vi-VN" dirty="0"/>
              <a:t> tên </a:t>
            </a:r>
            <a:r>
              <a:rPr lang="vi-VN" dirty="0" err="1"/>
              <a:t>Main</a:t>
            </a:r>
            <a:r>
              <a:rPr lang="vi-VN" dirty="0"/>
              <a:t> không </a:t>
            </a:r>
            <a:r>
              <a:rPr lang="vi-VN" dirty="0" err="1"/>
              <a:t>thuộc</a:t>
            </a:r>
            <a:r>
              <a:rPr lang="vi-VN" dirty="0"/>
              <a:t> </a:t>
            </a:r>
            <a:r>
              <a:rPr lang="vi-VN" dirty="0" err="1"/>
              <a:t>về</a:t>
            </a:r>
            <a:r>
              <a:rPr lang="vi-VN" dirty="0"/>
              <a:t> </a:t>
            </a:r>
            <a:r>
              <a:rPr lang="vi-VN" dirty="0" err="1"/>
              <a:t>đối</a:t>
            </a:r>
            <a:r>
              <a:rPr lang="vi-VN" dirty="0"/>
              <a:t> </a:t>
            </a:r>
            <a:r>
              <a:rPr lang="vi-VN" dirty="0" err="1"/>
              <a:t>tượng</a:t>
            </a:r>
            <a:r>
              <a:rPr lang="vi-VN" dirty="0"/>
              <a:t> </a:t>
            </a:r>
            <a:r>
              <a:rPr lang="vi-VN" dirty="0" err="1"/>
              <a:t>nào</a:t>
            </a:r>
            <a:r>
              <a:rPr lang="vi-VN" dirty="0"/>
              <a:t> </a:t>
            </a:r>
            <a:r>
              <a:rPr lang="vi-VN" dirty="0" err="1"/>
              <a:t>cả</a:t>
            </a:r>
            <a:r>
              <a:rPr lang="vi-VN" dirty="0"/>
              <a:t> (</a:t>
            </a:r>
            <a:r>
              <a:rPr lang="vi-VN" dirty="0" err="1"/>
              <a:t>nó</a:t>
            </a:r>
            <a:r>
              <a:rPr lang="vi-VN" dirty="0"/>
              <a:t> </a:t>
            </a:r>
            <a:r>
              <a:rPr lang="vi-VN" dirty="0" err="1"/>
              <a:t>thuộc</a:t>
            </a:r>
            <a:r>
              <a:rPr lang="vi-VN" dirty="0"/>
              <a:t> </a:t>
            </a:r>
            <a:r>
              <a:rPr lang="vi-VN" dirty="0" err="1"/>
              <a:t>về</a:t>
            </a:r>
            <a:r>
              <a:rPr lang="vi-VN" dirty="0"/>
              <a:t> </a:t>
            </a:r>
            <a:r>
              <a:rPr lang="vi-VN" dirty="0" err="1"/>
              <a:t>lớp</a:t>
            </a:r>
            <a:r>
              <a:rPr lang="vi-VN" dirty="0"/>
              <a:t>)</a:t>
            </a:r>
          </a:p>
          <a:p>
            <a:pPr>
              <a:buFont typeface="Arial" panose="020B0604020202020204" pitchFamily="34" charset="0"/>
              <a:buChar char="•"/>
            </a:pPr>
            <a:r>
              <a:rPr lang="vi-VN" dirty="0" err="1"/>
              <a:t>void</a:t>
            </a:r>
            <a:r>
              <a:rPr lang="vi-VN" dirty="0"/>
              <a:t> cho </a:t>
            </a:r>
            <a:r>
              <a:rPr lang="vi-VN" dirty="0" err="1"/>
              <a:t>biết</a:t>
            </a:r>
            <a:r>
              <a:rPr lang="vi-VN" dirty="0"/>
              <a:t> </a:t>
            </a:r>
            <a:r>
              <a:rPr lang="vi-VN" dirty="0" err="1"/>
              <a:t>hàm</a:t>
            </a:r>
            <a:r>
              <a:rPr lang="vi-VN" dirty="0"/>
              <a:t> </a:t>
            </a:r>
            <a:r>
              <a:rPr lang="vi-VN" dirty="0" err="1"/>
              <a:t>Main</a:t>
            </a:r>
            <a:r>
              <a:rPr lang="vi-VN" dirty="0"/>
              <a:t> không </a:t>
            </a:r>
            <a:r>
              <a:rPr lang="vi-VN" dirty="0" err="1"/>
              <a:t>trả</a:t>
            </a:r>
            <a:r>
              <a:rPr lang="vi-VN" dirty="0"/>
              <a:t> </a:t>
            </a:r>
            <a:r>
              <a:rPr lang="vi-VN" dirty="0" err="1"/>
              <a:t>về</a:t>
            </a:r>
            <a:r>
              <a:rPr lang="vi-VN" dirty="0"/>
              <a:t> </a:t>
            </a:r>
            <a:r>
              <a:rPr lang="vi-VN" dirty="0" err="1"/>
              <a:t>giá</a:t>
            </a:r>
            <a:r>
              <a:rPr lang="vi-VN" dirty="0"/>
              <a:t> </a:t>
            </a:r>
            <a:r>
              <a:rPr lang="vi-VN" dirty="0" err="1"/>
              <a:t>trị</a:t>
            </a:r>
            <a:r>
              <a:rPr lang="vi-VN" dirty="0"/>
              <a:t> (</a:t>
            </a:r>
            <a:r>
              <a:rPr lang="vi-VN" dirty="0" err="1"/>
              <a:t>ngoài</a:t>
            </a:r>
            <a:r>
              <a:rPr lang="vi-VN" dirty="0"/>
              <a:t> ra </a:t>
            </a:r>
            <a:r>
              <a:rPr lang="vi-VN" dirty="0" err="1"/>
              <a:t>bạn</a:t>
            </a:r>
            <a:r>
              <a:rPr lang="vi-VN" dirty="0"/>
              <a:t> </a:t>
            </a:r>
            <a:r>
              <a:rPr lang="vi-VN" dirty="0" err="1"/>
              <a:t>có</a:t>
            </a:r>
            <a:r>
              <a:rPr lang="vi-VN" dirty="0"/>
              <a:t> </a:t>
            </a:r>
            <a:r>
              <a:rPr lang="vi-VN" dirty="0" err="1"/>
              <a:t>thể</a:t>
            </a:r>
            <a:r>
              <a:rPr lang="vi-VN" dirty="0"/>
              <a:t> khai bao </a:t>
            </a:r>
            <a:r>
              <a:rPr lang="vi-VN" dirty="0" err="1"/>
              <a:t>nếu</a:t>
            </a:r>
            <a:r>
              <a:rPr lang="vi-VN" dirty="0"/>
              <a:t> </a:t>
            </a:r>
            <a:r>
              <a:rPr lang="vi-VN" dirty="0" err="1"/>
              <a:t>cần</a:t>
            </a:r>
            <a:r>
              <a:rPr lang="vi-VN" dirty="0"/>
              <a:t> </a:t>
            </a:r>
            <a:r>
              <a:rPr lang="vi-VN" dirty="0" err="1"/>
              <a:t>hàm</a:t>
            </a:r>
            <a:r>
              <a:rPr lang="vi-VN" dirty="0"/>
              <a:t> </a:t>
            </a:r>
            <a:r>
              <a:rPr lang="vi-VN" dirty="0" err="1"/>
              <a:t>trả</a:t>
            </a:r>
            <a:r>
              <a:rPr lang="vi-VN" dirty="0"/>
              <a:t> </a:t>
            </a:r>
            <a:r>
              <a:rPr lang="vi-VN" dirty="0" err="1"/>
              <a:t>về</a:t>
            </a:r>
            <a:r>
              <a:rPr lang="vi-VN" dirty="0"/>
              <a:t> </a:t>
            </a:r>
            <a:r>
              <a:rPr lang="vi-VN" dirty="0" err="1"/>
              <a:t>giá</a:t>
            </a:r>
            <a:r>
              <a:rPr lang="vi-VN" dirty="0"/>
              <a:t> </a:t>
            </a:r>
            <a:r>
              <a:rPr lang="vi-VN" dirty="0" err="1"/>
              <a:t>trị</a:t>
            </a:r>
            <a:r>
              <a:rPr lang="vi-VN" dirty="0"/>
              <a:t> như </a:t>
            </a:r>
            <a:r>
              <a:rPr lang="vi-VN" dirty="0" err="1"/>
              <a:t>int</a:t>
            </a:r>
            <a:r>
              <a:rPr lang="vi-VN" dirty="0"/>
              <a:t> </a:t>
            </a:r>
            <a:r>
              <a:rPr lang="vi-VN" dirty="0" err="1"/>
              <a:t>là</a:t>
            </a:r>
            <a:r>
              <a:rPr lang="vi-VN" dirty="0"/>
              <a:t> </a:t>
            </a:r>
            <a:r>
              <a:rPr lang="vi-VN" dirty="0" err="1"/>
              <a:t>số</a:t>
            </a:r>
            <a:r>
              <a:rPr lang="vi-VN" dirty="0"/>
              <a:t> nguyên)</a:t>
            </a:r>
          </a:p>
          <a:p>
            <a:pPr>
              <a:buFont typeface="Arial" panose="020B0604020202020204" pitchFamily="34" charset="0"/>
              <a:buChar char="•"/>
            </a:pPr>
            <a:r>
              <a:rPr lang="vi-VN" dirty="0" err="1"/>
              <a:t>Main</a:t>
            </a:r>
            <a:r>
              <a:rPr lang="vi-VN" dirty="0"/>
              <a:t> tên </a:t>
            </a:r>
            <a:r>
              <a:rPr lang="vi-VN" dirty="0" err="1"/>
              <a:t>hàm</a:t>
            </a:r>
            <a:r>
              <a:rPr lang="vi-VN" dirty="0"/>
              <a:t>, </a:t>
            </a:r>
            <a:r>
              <a:rPr lang="vi-VN" dirty="0" err="1"/>
              <a:t>đặt</a:t>
            </a:r>
            <a:r>
              <a:rPr lang="vi-VN" dirty="0"/>
              <a:t> tên </a:t>
            </a:r>
            <a:r>
              <a:rPr lang="vi-VN" dirty="0" err="1"/>
              <a:t>là</a:t>
            </a:r>
            <a:r>
              <a:rPr lang="vi-VN" dirty="0"/>
              <a:t> </a:t>
            </a:r>
            <a:r>
              <a:rPr lang="vi-VN" dirty="0" err="1"/>
              <a:t>Main</a:t>
            </a:r>
            <a:r>
              <a:rPr lang="vi-VN" dirty="0"/>
              <a:t> </a:t>
            </a:r>
            <a:r>
              <a:rPr lang="vi-VN" dirty="0" err="1"/>
              <a:t>vì</a:t>
            </a:r>
            <a:r>
              <a:rPr lang="vi-VN" dirty="0"/>
              <a:t> </a:t>
            </a:r>
            <a:r>
              <a:rPr lang="vi-VN" dirty="0" err="1"/>
              <a:t>nó</a:t>
            </a:r>
            <a:r>
              <a:rPr lang="vi-VN" dirty="0"/>
              <a:t> </a:t>
            </a:r>
            <a:r>
              <a:rPr lang="vi-VN" dirty="0" err="1"/>
              <a:t>là</a:t>
            </a:r>
            <a:r>
              <a:rPr lang="vi-VN" dirty="0"/>
              <a:t> </a:t>
            </a:r>
            <a:r>
              <a:rPr lang="vi-VN" dirty="0" err="1"/>
              <a:t>điểm</a:t>
            </a:r>
            <a:r>
              <a:rPr lang="vi-VN" dirty="0"/>
              <a:t> </a:t>
            </a:r>
            <a:r>
              <a:rPr lang="vi-VN" dirty="0" err="1"/>
              <a:t>khởi</a:t>
            </a:r>
            <a:r>
              <a:rPr lang="vi-VN" dirty="0"/>
              <a:t> </a:t>
            </a:r>
            <a:r>
              <a:rPr lang="vi-VN" dirty="0" err="1"/>
              <a:t>đầu</a:t>
            </a:r>
            <a:r>
              <a:rPr lang="vi-VN" dirty="0"/>
              <a:t> </a:t>
            </a:r>
            <a:r>
              <a:rPr lang="vi-VN" dirty="0" err="1"/>
              <a:t>của</a:t>
            </a:r>
            <a:r>
              <a:rPr lang="vi-VN" dirty="0"/>
              <a:t> chương </a:t>
            </a:r>
            <a:r>
              <a:rPr lang="vi-VN" dirty="0" err="1"/>
              <a:t>trình</a:t>
            </a:r>
            <a:endParaRPr lang="vi-VN" dirty="0"/>
          </a:p>
          <a:p>
            <a:pPr>
              <a:buFont typeface="Arial" panose="020B0604020202020204" pitchFamily="34" charset="0"/>
              <a:buChar char="•"/>
            </a:pPr>
            <a:r>
              <a:rPr lang="vi-VN" dirty="0" err="1"/>
              <a:t>args</a:t>
            </a:r>
            <a:r>
              <a:rPr lang="vi-VN" dirty="0"/>
              <a:t> </a:t>
            </a:r>
            <a:r>
              <a:rPr lang="vi-VN" dirty="0" err="1"/>
              <a:t>là</a:t>
            </a:r>
            <a:r>
              <a:rPr lang="vi-VN" dirty="0"/>
              <a:t> tham </a:t>
            </a:r>
            <a:r>
              <a:rPr lang="vi-VN" dirty="0" err="1"/>
              <a:t>số</a:t>
            </a:r>
            <a:r>
              <a:rPr lang="vi-VN" dirty="0"/>
              <a:t> </a:t>
            </a:r>
            <a:r>
              <a:rPr lang="vi-VN" dirty="0" err="1"/>
              <a:t>truyền</a:t>
            </a:r>
            <a:r>
              <a:rPr lang="vi-VN" dirty="0"/>
              <a:t> </a:t>
            </a:r>
            <a:r>
              <a:rPr lang="vi-VN" dirty="0" err="1"/>
              <a:t>vào</a:t>
            </a:r>
            <a:r>
              <a:rPr lang="vi-VN" dirty="0"/>
              <a:t> </a:t>
            </a:r>
            <a:r>
              <a:rPr lang="vi-VN" dirty="0" err="1"/>
              <a:t>hàm</a:t>
            </a:r>
            <a:r>
              <a:rPr lang="vi-VN" dirty="0"/>
              <a:t> </a:t>
            </a:r>
            <a:r>
              <a:rPr lang="vi-VN" dirty="0" err="1"/>
              <a:t>Main</a:t>
            </a:r>
            <a:r>
              <a:rPr lang="vi-VN" dirty="0"/>
              <a:t>, </a:t>
            </a:r>
            <a:r>
              <a:rPr lang="vi-VN" dirty="0" err="1"/>
              <a:t>nó</a:t>
            </a:r>
            <a:r>
              <a:rPr lang="vi-VN" dirty="0"/>
              <a:t> </a:t>
            </a:r>
            <a:r>
              <a:rPr lang="vi-VN" dirty="0" err="1"/>
              <a:t>là</a:t>
            </a:r>
            <a:r>
              <a:rPr lang="vi-VN" dirty="0"/>
              <a:t> </a:t>
            </a:r>
            <a:r>
              <a:rPr lang="vi-VN" dirty="0" err="1"/>
              <a:t>một</a:t>
            </a:r>
            <a:r>
              <a:rPr lang="vi-VN" dirty="0"/>
              <a:t> </a:t>
            </a:r>
            <a:r>
              <a:rPr lang="vi-VN" dirty="0" err="1"/>
              <a:t>mảng</a:t>
            </a:r>
            <a:r>
              <a:rPr lang="vi-VN" dirty="0"/>
              <a:t> </a:t>
            </a:r>
            <a:r>
              <a:rPr lang="vi-VN" dirty="0" err="1"/>
              <a:t>các</a:t>
            </a:r>
            <a:r>
              <a:rPr lang="vi-VN" dirty="0"/>
              <a:t> </a:t>
            </a:r>
            <a:r>
              <a:rPr lang="vi-VN" dirty="0" err="1"/>
              <a:t>chuỗi</a:t>
            </a:r>
            <a:r>
              <a:rPr lang="vi-VN" dirty="0"/>
              <a:t> (</a:t>
            </a:r>
            <a:r>
              <a:rPr lang="vi-VN" dirty="0" err="1"/>
              <a:t>string</a:t>
            </a:r>
            <a:r>
              <a:rPr lang="vi-VN" dirty="0"/>
              <a:t>[]), tham </a:t>
            </a:r>
            <a:r>
              <a:rPr lang="vi-VN" dirty="0" err="1"/>
              <a:t>số</a:t>
            </a:r>
            <a:r>
              <a:rPr lang="vi-VN" dirty="0"/>
              <a:t> </a:t>
            </a:r>
            <a:r>
              <a:rPr lang="vi-VN" dirty="0" err="1"/>
              <a:t>này</a:t>
            </a:r>
            <a:r>
              <a:rPr lang="vi-VN" dirty="0"/>
              <a:t> </a:t>
            </a:r>
            <a:r>
              <a:rPr lang="vi-VN" dirty="0" err="1"/>
              <a:t>truyền</a:t>
            </a:r>
            <a:r>
              <a:rPr lang="vi-VN" dirty="0"/>
              <a:t> </a:t>
            </a:r>
            <a:r>
              <a:rPr lang="vi-VN" dirty="0" err="1"/>
              <a:t>vào</a:t>
            </a:r>
            <a:r>
              <a:rPr lang="vi-VN" dirty="0"/>
              <a:t> khi ở </a:t>
            </a:r>
            <a:r>
              <a:rPr lang="vi-VN" dirty="0" err="1"/>
              <a:t>dòng</a:t>
            </a:r>
            <a:r>
              <a:rPr lang="vi-VN" dirty="0"/>
              <a:t> </a:t>
            </a:r>
            <a:r>
              <a:rPr lang="vi-VN" dirty="0" err="1"/>
              <a:t>lệnh</a:t>
            </a:r>
            <a:endParaRPr lang="en-US" dirty="0"/>
          </a:p>
        </p:txBody>
      </p:sp>
    </p:spTree>
    <p:extLst>
      <p:ext uri="{BB962C8B-B14F-4D97-AF65-F5344CB8AC3E}">
        <p14:creationId xmlns:p14="http://schemas.microsoft.com/office/powerpoint/2010/main" val="296509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BB5A0-DB30-FFD9-9078-8C3FCFC79490}"/>
              </a:ext>
            </a:extLst>
          </p:cNvPr>
          <p:cNvSpPr>
            <a:spLocks noGrp="1"/>
          </p:cNvSpPr>
          <p:nvPr>
            <p:ph type="title"/>
          </p:nvPr>
        </p:nvSpPr>
        <p:spPr/>
        <p:txBody>
          <a:bodyPr/>
          <a:lstStyle/>
          <a:p>
            <a:r>
              <a:rPr lang="vi-VN" b="0" i="0" dirty="0" err="1">
                <a:solidFill>
                  <a:srgbClr val="009688"/>
                </a:solidFill>
                <a:effectLst/>
                <a:latin typeface="-apple-system"/>
              </a:rPr>
              <a:t>Một</a:t>
            </a:r>
            <a:r>
              <a:rPr lang="vi-VN" b="0" i="0" dirty="0">
                <a:solidFill>
                  <a:srgbClr val="009688"/>
                </a:solidFill>
                <a:effectLst/>
                <a:latin typeface="-apple-system"/>
              </a:rPr>
              <a:t> </a:t>
            </a:r>
            <a:r>
              <a:rPr lang="vi-VN" b="0" i="0" dirty="0" err="1">
                <a:solidFill>
                  <a:srgbClr val="009688"/>
                </a:solidFill>
                <a:effectLst/>
                <a:latin typeface="-apple-system"/>
              </a:rPr>
              <a:t>số</a:t>
            </a:r>
            <a:r>
              <a:rPr lang="vi-VN" b="0" i="0" dirty="0">
                <a:solidFill>
                  <a:srgbClr val="009688"/>
                </a:solidFill>
                <a:effectLst/>
                <a:latin typeface="-apple-system"/>
              </a:rPr>
              <a:t> </a:t>
            </a:r>
            <a:r>
              <a:rPr lang="vi-VN" b="0" i="0" dirty="0" err="1">
                <a:solidFill>
                  <a:srgbClr val="009688"/>
                </a:solidFill>
                <a:effectLst/>
                <a:latin typeface="-apple-system"/>
              </a:rPr>
              <a:t>thành</a:t>
            </a:r>
            <a:r>
              <a:rPr lang="vi-VN" b="0" i="0" dirty="0">
                <a:solidFill>
                  <a:srgbClr val="009688"/>
                </a:solidFill>
                <a:effectLst/>
                <a:latin typeface="-apple-system"/>
              </a:rPr>
              <a:t> </a:t>
            </a:r>
            <a:r>
              <a:rPr lang="vi-VN" b="0" i="0" dirty="0" err="1">
                <a:solidFill>
                  <a:srgbClr val="009688"/>
                </a:solidFill>
                <a:effectLst/>
                <a:latin typeface="-apple-system"/>
              </a:rPr>
              <a:t>phần</a:t>
            </a:r>
            <a:r>
              <a:rPr lang="vi-VN" b="0" i="0" dirty="0">
                <a:solidFill>
                  <a:srgbClr val="009688"/>
                </a:solidFill>
                <a:effectLst/>
                <a:latin typeface="-apple-system"/>
              </a:rPr>
              <a:t> cơ </a:t>
            </a:r>
            <a:r>
              <a:rPr lang="vi-VN" b="0" i="0" dirty="0" err="1">
                <a:solidFill>
                  <a:srgbClr val="009688"/>
                </a:solidFill>
                <a:effectLst/>
                <a:latin typeface="-apple-system"/>
              </a:rPr>
              <a:t>bản</a:t>
            </a:r>
            <a:r>
              <a:rPr lang="vi-VN" b="0" i="0" dirty="0">
                <a:solidFill>
                  <a:srgbClr val="009688"/>
                </a:solidFill>
                <a:effectLst/>
                <a:latin typeface="-apple-system"/>
              </a:rPr>
              <a:t> </a:t>
            </a:r>
            <a:r>
              <a:rPr lang="vi-VN" b="0" i="0" dirty="0" err="1">
                <a:solidFill>
                  <a:srgbClr val="009688"/>
                </a:solidFill>
                <a:effectLst/>
                <a:latin typeface="-apple-system"/>
              </a:rPr>
              <a:t>của</a:t>
            </a:r>
            <a:r>
              <a:rPr lang="vi-VN" b="0" i="0" dirty="0">
                <a:solidFill>
                  <a:srgbClr val="009688"/>
                </a:solidFill>
                <a:effectLst/>
                <a:latin typeface="-apple-system"/>
              </a:rPr>
              <a:t> </a:t>
            </a:r>
            <a:r>
              <a:rPr lang="vi-VN" b="0" i="0" dirty="0" err="1">
                <a:solidFill>
                  <a:srgbClr val="009688"/>
                </a:solidFill>
                <a:effectLst/>
                <a:latin typeface="-apple-system"/>
              </a:rPr>
              <a:t>ứng</a:t>
            </a:r>
            <a:r>
              <a:rPr lang="vi-VN" b="0" i="0" dirty="0">
                <a:solidFill>
                  <a:srgbClr val="009688"/>
                </a:solidFill>
                <a:effectLst/>
                <a:latin typeface="-apple-system"/>
              </a:rPr>
              <a:t> </a:t>
            </a:r>
            <a:r>
              <a:rPr lang="vi-VN" b="0" i="0" dirty="0" err="1">
                <a:solidFill>
                  <a:srgbClr val="009688"/>
                </a:solidFill>
                <a:effectLst/>
                <a:latin typeface="-apple-system"/>
              </a:rPr>
              <a:t>dụng</a:t>
            </a:r>
            <a:r>
              <a:rPr lang="vi-VN" b="0" i="0" dirty="0">
                <a:solidFill>
                  <a:srgbClr val="009688"/>
                </a:solidFill>
                <a:effectLst/>
                <a:latin typeface="-apple-system"/>
              </a:rPr>
              <a:t> </a:t>
            </a:r>
            <a:r>
              <a:rPr lang="vi-VN" b="0" i="0" dirty="0" err="1">
                <a:solidFill>
                  <a:srgbClr val="009688"/>
                </a:solidFill>
                <a:effectLst/>
                <a:latin typeface="-apple-system"/>
              </a:rPr>
              <a:t>code</a:t>
            </a:r>
            <a:r>
              <a:rPr lang="vi-VN" b="0" i="0" dirty="0">
                <a:solidFill>
                  <a:srgbClr val="009688"/>
                </a:solidFill>
                <a:effectLst/>
                <a:latin typeface="-apple-system"/>
              </a:rPr>
              <a:t> C#</a:t>
            </a:r>
            <a:endParaRPr lang="en-US" dirty="0"/>
          </a:p>
        </p:txBody>
      </p:sp>
      <p:sp>
        <p:nvSpPr>
          <p:cNvPr id="3" name="Content Placeholder 2">
            <a:extLst>
              <a:ext uri="{FF2B5EF4-FFF2-40B4-BE49-F238E27FC236}">
                <a16:creationId xmlns:a16="http://schemas.microsoft.com/office/drawing/2014/main" id="{8739227E-E9F6-ED24-0DD4-A15075495869}"/>
              </a:ext>
            </a:extLst>
          </p:cNvPr>
          <p:cNvSpPr>
            <a:spLocks noGrp="1"/>
          </p:cNvSpPr>
          <p:nvPr>
            <p:ph idx="1"/>
          </p:nvPr>
        </p:nvSpPr>
        <p:spPr/>
        <p:txBody>
          <a:bodyPr/>
          <a:lstStyle/>
          <a:p>
            <a:r>
              <a:rPr lang="en-US" sz="3200" b="1" i="0" dirty="0" err="1">
                <a:solidFill>
                  <a:srgbClr val="212529"/>
                </a:solidFill>
                <a:effectLst/>
                <a:latin typeface="-apple-system"/>
              </a:rPr>
              <a:t>Lớp</a:t>
            </a:r>
            <a:r>
              <a:rPr lang="en-US" sz="3200" b="1" i="0" dirty="0">
                <a:solidFill>
                  <a:srgbClr val="212529"/>
                </a:solidFill>
                <a:effectLst/>
                <a:latin typeface="-apple-system"/>
              </a:rPr>
              <a:t> - Class</a:t>
            </a:r>
          </a:p>
          <a:p>
            <a:r>
              <a:rPr lang="vi-VN" dirty="0"/>
              <a:t>Chi </a:t>
            </a:r>
            <a:r>
              <a:rPr lang="vi-VN" dirty="0" err="1"/>
              <a:t>tiết</a:t>
            </a:r>
            <a:r>
              <a:rPr lang="vi-VN" dirty="0"/>
              <a:t> </a:t>
            </a:r>
            <a:r>
              <a:rPr lang="vi-VN" dirty="0" err="1"/>
              <a:t>về</a:t>
            </a:r>
            <a:r>
              <a:rPr lang="vi-VN" dirty="0"/>
              <a:t> </a:t>
            </a:r>
            <a:r>
              <a:rPr lang="vi-VN" dirty="0" err="1"/>
              <a:t>lớp</a:t>
            </a:r>
            <a:r>
              <a:rPr lang="vi-VN" dirty="0"/>
              <a:t> </a:t>
            </a:r>
            <a:r>
              <a:rPr lang="vi-VN" dirty="0" err="1"/>
              <a:t>nói</a:t>
            </a:r>
            <a:r>
              <a:rPr lang="vi-VN" dirty="0"/>
              <a:t> ở </a:t>
            </a:r>
            <a:r>
              <a:rPr lang="vi-VN" dirty="0" err="1"/>
              <a:t>các</a:t>
            </a:r>
            <a:r>
              <a:rPr lang="vi-VN" dirty="0"/>
              <a:t> </a:t>
            </a:r>
            <a:r>
              <a:rPr lang="vi-VN" dirty="0" err="1"/>
              <a:t>phần</a:t>
            </a:r>
            <a:r>
              <a:rPr lang="vi-VN" dirty="0"/>
              <a:t> </a:t>
            </a:r>
            <a:r>
              <a:rPr lang="vi-VN" dirty="0" err="1"/>
              <a:t>về</a:t>
            </a:r>
            <a:r>
              <a:rPr lang="vi-VN" dirty="0"/>
              <a:t> </a:t>
            </a:r>
            <a:r>
              <a:rPr lang="vi-VN" dirty="0" err="1"/>
              <a:t>hướng</a:t>
            </a:r>
            <a:r>
              <a:rPr lang="vi-VN" dirty="0"/>
              <a:t> </a:t>
            </a:r>
            <a:r>
              <a:rPr lang="vi-VN" dirty="0" err="1"/>
              <a:t>đối</a:t>
            </a:r>
            <a:r>
              <a:rPr lang="vi-VN" dirty="0"/>
              <a:t> </a:t>
            </a:r>
            <a:r>
              <a:rPr lang="vi-VN" dirty="0" err="1"/>
              <a:t>tượng</a:t>
            </a:r>
            <a:r>
              <a:rPr lang="vi-VN" dirty="0"/>
              <a:t>, C# </a:t>
            </a:r>
            <a:r>
              <a:rPr lang="vi-VN" dirty="0" err="1"/>
              <a:t>là</a:t>
            </a:r>
            <a:r>
              <a:rPr lang="vi-VN" dirty="0"/>
              <a:t> ngôn </a:t>
            </a:r>
            <a:r>
              <a:rPr lang="vi-VN" dirty="0" err="1"/>
              <a:t>ngữ</a:t>
            </a:r>
            <a:r>
              <a:rPr lang="vi-VN" dirty="0"/>
              <a:t> </a:t>
            </a:r>
            <a:r>
              <a:rPr lang="vi-VN" dirty="0" err="1"/>
              <a:t>thuần</a:t>
            </a:r>
            <a:r>
              <a:rPr lang="vi-VN" dirty="0"/>
              <a:t> </a:t>
            </a:r>
            <a:r>
              <a:rPr lang="vi-VN" dirty="0" err="1"/>
              <a:t>hướng</a:t>
            </a:r>
            <a:r>
              <a:rPr lang="vi-VN" dirty="0"/>
              <a:t> </a:t>
            </a:r>
            <a:r>
              <a:rPr lang="vi-VN" dirty="0" err="1"/>
              <a:t>đối</a:t>
            </a:r>
            <a:r>
              <a:rPr lang="vi-VN" dirty="0"/>
              <a:t> </a:t>
            </a:r>
            <a:r>
              <a:rPr lang="vi-VN" dirty="0" err="1"/>
              <a:t>tượng</a:t>
            </a:r>
            <a:r>
              <a:rPr lang="en-US" dirty="0"/>
              <a:t>, ta </a:t>
            </a:r>
            <a:r>
              <a:rPr lang="vi-VN" dirty="0" err="1"/>
              <a:t>cần</a:t>
            </a:r>
            <a:r>
              <a:rPr lang="vi-VN" dirty="0"/>
              <a:t> xây </a:t>
            </a:r>
            <a:r>
              <a:rPr lang="vi-VN" dirty="0" err="1"/>
              <a:t>dựng</a:t>
            </a:r>
            <a:r>
              <a:rPr lang="vi-VN" dirty="0"/>
              <a:t> ra </a:t>
            </a:r>
            <a:r>
              <a:rPr lang="vi-VN" dirty="0" err="1"/>
              <a:t>các</a:t>
            </a:r>
            <a:r>
              <a:rPr lang="vi-VN" dirty="0"/>
              <a:t> </a:t>
            </a:r>
            <a:r>
              <a:rPr lang="vi-VN" dirty="0" err="1"/>
              <a:t>lớp</a:t>
            </a:r>
            <a:r>
              <a:rPr lang="vi-VN" dirty="0"/>
              <a:t> </a:t>
            </a:r>
            <a:r>
              <a:rPr lang="vi-VN" dirty="0" err="1"/>
              <a:t>đề</a:t>
            </a:r>
            <a:r>
              <a:rPr lang="vi-VN" dirty="0"/>
              <a:t> </a:t>
            </a:r>
            <a:r>
              <a:rPr lang="vi-VN" dirty="0" err="1"/>
              <a:t>từ</a:t>
            </a:r>
            <a:r>
              <a:rPr lang="vi-VN" dirty="0"/>
              <a:t> </a:t>
            </a:r>
            <a:r>
              <a:rPr lang="vi-VN" dirty="0" err="1"/>
              <a:t>đó</a:t>
            </a:r>
            <a:r>
              <a:rPr lang="vi-VN" dirty="0"/>
              <a:t> </a:t>
            </a:r>
            <a:r>
              <a:rPr lang="vi-VN" dirty="0" err="1"/>
              <a:t>tạo</a:t>
            </a:r>
            <a:r>
              <a:rPr lang="vi-VN" dirty="0"/>
              <a:t> ra </a:t>
            </a:r>
            <a:r>
              <a:rPr lang="vi-VN" dirty="0" err="1"/>
              <a:t>các</a:t>
            </a:r>
            <a:r>
              <a:rPr lang="vi-VN" dirty="0"/>
              <a:t> </a:t>
            </a:r>
            <a:r>
              <a:rPr lang="vi-VN" dirty="0" err="1"/>
              <a:t>đối</a:t>
            </a:r>
            <a:r>
              <a:rPr lang="vi-VN" dirty="0"/>
              <a:t> </a:t>
            </a:r>
            <a:r>
              <a:rPr lang="vi-VN" dirty="0" err="1"/>
              <a:t>tượng</a:t>
            </a:r>
            <a:r>
              <a:rPr lang="vi-VN" dirty="0"/>
              <a:t> </a:t>
            </a:r>
            <a:r>
              <a:rPr lang="vi-VN" dirty="0" err="1"/>
              <a:t>của</a:t>
            </a:r>
            <a:r>
              <a:rPr lang="vi-VN" dirty="0"/>
              <a:t> chương </a:t>
            </a:r>
            <a:r>
              <a:rPr lang="vi-VN" dirty="0" err="1"/>
              <a:t>trình</a:t>
            </a:r>
            <a:r>
              <a:rPr lang="vi-VN" dirty="0"/>
              <a:t>, </a:t>
            </a:r>
            <a:r>
              <a:rPr lang="vi-VN" dirty="0" err="1"/>
              <a:t>để</a:t>
            </a:r>
            <a:r>
              <a:rPr lang="vi-VN" dirty="0"/>
              <a:t> khai </a:t>
            </a:r>
            <a:r>
              <a:rPr lang="vi-VN" dirty="0" err="1"/>
              <a:t>báo</a:t>
            </a:r>
            <a:r>
              <a:rPr lang="vi-VN" dirty="0"/>
              <a:t> </a:t>
            </a:r>
            <a:r>
              <a:rPr lang="vi-VN" dirty="0" err="1"/>
              <a:t>một</a:t>
            </a:r>
            <a:r>
              <a:rPr lang="vi-VN" dirty="0"/>
              <a:t> </a:t>
            </a:r>
            <a:r>
              <a:rPr lang="vi-VN" dirty="0" err="1"/>
              <a:t>một</a:t>
            </a:r>
            <a:r>
              <a:rPr lang="vi-VN" dirty="0"/>
              <a:t> </a:t>
            </a:r>
            <a:r>
              <a:rPr lang="vi-VN" dirty="0" err="1"/>
              <a:t>lớp</a:t>
            </a:r>
            <a:r>
              <a:rPr lang="vi-VN" dirty="0"/>
              <a:t> </a:t>
            </a:r>
            <a:r>
              <a:rPr lang="en-US" dirty="0"/>
              <a:t>ta</a:t>
            </a:r>
            <a:r>
              <a:rPr lang="vi-VN" dirty="0"/>
              <a:t> d</a:t>
            </a:r>
            <a:r>
              <a:rPr lang="en-US" dirty="0"/>
              <a:t>ù</a:t>
            </a:r>
            <a:r>
              <a:rPr lang="vi-VN" dirty="0" err="1"/>
              <a:t>ng</a:t>
            </a:r>
            <a:r>
              <a:rPr lang="vi-VN" dirty="0"/>
              <a:t> </a:t>
            </a:r>
            <a:r>
              <a:rPr lang="vi-VN" dirty="0" err="1"/>
              <a:t>từ</a:t>
            </a:r>
            <a:r>
              <a:rPr lang="vi-VN" dirty="0"/>
              <a:t> </a:t>
            </a:r>
            <a:r>
              <a:rPr lang="vi-VN" dirty="0" err="1"/>
              <a:t>khóa</a:t>
            </a:r>
            <a:r>
              <a:rPr lang="vi-VN" dirty="0"/>
              <a:t> </a:t>
            </a:r>
            <a:r>
              <a:rPr lang="vi-VN" dirty="0" err="1"/>
              <a:t>class</a:t>
            </a:r>
            <a:r>
              <a:rPr lang="vi-VN" dirty="0"/>
              <a:t>, như trên </a:t>
            </a:r>
            <a:r>
              <a:rPr lang="vi-VN" dirty="0" err="1"/>
              <a:t>tạo</a:t>
            </a:r>
            <a:r>
              <a:rPr lang="vi-VN" dirty="0"/>
              <a:t> ra </a:t>
            </a:r>
            <a:r>
              <a:rPr lang="vi-VN" dirty="0" err="1"/>
              <a:t>một</a:t>
            </a:r>
            <a:r>
              <a:rPr lang="vi-VN" dirty="0"/>
              <a:t> </a:t>
            </a:r>
            <a:r>
              <a:rPr lang="vi-VN" dirty="0" err="1"/>
              <a:t>lớp</a:t>
            </a:r>
            <a:r>
              <a:rPr lang="vi-VN" dirty="0"/>
              <a:t> </a:t>
            </a:r>
            <a:r>
              <a:rPr lang="vi-VN" dirty="0" err="1"/>
              <a:t>là</a:t>
            </a:r>
            <a:r>
              <a:rPr lang="vi-VN" dirty="0"/>
              <a:t> </a:t>
            </a:r>
            <a:r>
              <a:rPr lang="vi-VN" dirty="0" err="1"/>
              <a:t>Program</a:t>
            </a:r>
            <a:r>
              <a:rPr lang="vi-VN" dirty="0"/>
              <a:t>, trong </a:t>
            </a:r>
            <a:r>
              <a:rPr lang="vi-VN" dirty="0" err="1"/>
              <a:t>lớp</a:t>
            </a:r>
            <a:r>
              <a:rPr lang="vi-VN" dirty="0"/>
              <a:t> </a:t>
            </a:r>
            <a:r>
              <a:rPr lang="vi-VN" dirty="0" err="1"/>
              <a:t>này</a:t>
            </a:r>
            <a:r>
              <a:rPr lang="vi-VN" dirty="0"/>
              <a:t> </a:t>
            </a:r>
            <a:r>
              <a:rPr lang="vi-VN" dirty="0" err="1"/>
              <a:t>có</a:t>
            </a:r>
            <a:r>
              <a:rPr lang="vi-VN" dirty="0"/>
              <a:t> </a:t>
            </a:r>
            <a:r>
              <a:rPr lang="vi-VN" dirty="0" err="1"/>
              <a:t>hàm</a:t>
            </a:r>
            <a:r>
              <a:rPr lang="vi-VN" dirty="0"/>
              <a:t> </a:t>
            </a:r>
            <a:r>
              <a:rPr lang="vi-VN" dirty="0" err="1"/>
              <a:t>Main</a:t>
            </a:r>
            <a:r>
              <a:rPr lang="vi-VN" dirty="0"/>
              <a:t> (</a:t>
            </a:r>
            <a:r>
              <a:rPr lang="vi-VN" dirty="0" err="1"/>
              <a:t>chú</a:t>
            </a:r>
            <a:r>
              <a:rPr lang="vi-VN" dirty="0"/>
              <a:t> ý </a:t>
            </a:r>
            <a:r>
              <a:rPr lang="vi-VN" dirty="0" err="1"/>
              <a:t>chỉ</a:t>
            </a:r>
            <a:r>
              <a:rPr lang="vi-VN" dirty="0"/>
              <a:t> </a:t>
            </a:r>
            <a:r>
              <a:rPr lang="vi-VN" dirty="0" err="1"/>
              <a:t>được</a:t>
            </a:r>
            <a:r>
              <a:rPr lang="vi-VN" dirty="0"/>
              <a:t> </a:t>
            </a:r>
            <a:r>
              <a:rPr lang="vi-VN" dirty="0" err="1"/>
              <a:t>phép</a:t>
            </a:r>
            <a:r>
              <a:rPr lang="vi-VN" dirty="0"/>
              <a:t> </a:t>
            </a:r>
            <a:r>
              <a:rPr lang="vi-VN" dirty="0" err="1"/>
              <a:t>có</a:t>
            </a:r>
            <a:r>
              <a:rPr lang="vi-VN" dirty="0"/>
              <a:t> </a:t>
            </a:r>
            <a:r>
              <a:rPr lang="vi-VN" dirty="0" err="1"/>
              <a:t>một</a:t>
            </a:r>
            <a:r>
              <a:rPr lang="vi-VN" dirty="0"/>
              <a:t> </a:t>
            </a:r>
            <a:r>
              <a:rPr lang="vi-VN" dirty="0" err="1"/>
              <a:t>hàm</a:t>
            </a:r>
            <a:r>
              <a:rPr lang="vi-VN" dirty="0"/>
              <a:t> </a:t>
            </a:r>
            <a:r>
              <a:rPr lang="vi-VN" dirty="0" err="1"/>
              <a:t>Main</a:t>
            </a:r>
            <a:r>
              <a:rPr lang="vi-VN" dirty="0"/>
              <a:t> </a:t>
            </a:r>
            <a:r>
              <a:rPr lang="vi-VN" dirty="0" err="1"/>
              <a:t>từ</a:t>
            </a:r>
            <a:r>
              <a:rPr lang="vi-VN" dirty="0"/>
              <a:t> </a:t>
            </a:r>
            <a:r>
              <a:rPr lang="vi-VN" dirty="0" err="1"/>
              <a:t>tất</a:t>
            </a:r>
            <a:r>
              <a:rPr lang="vi-VN" dirty="0"/>
              <a:t> </a:t>
            </a:r>
            <a:r>
              <a:rPr lang="vi-VN" dirty="0" err="1"/>
              <a:t>cả</a:t>
            </a:r>
            <a:r>
              <a:rPr lang="vi-VN" dirty="0"/>
              <a:t> </a:t>
            </a:r>
            <a:r>
              <a:rPr lang="vi-VN" dirty="0" err="1"/>
              <a:t>các</a:t>
            </a:r>
            <a:r>
              <a:rPr lang="vi-VN" dirty="0"/>
              <a:t> </a:t>
            </a:r>
            <a:r>
              <a:rPr lang="vi-VN" dirty="0" err="1"/>
              <a:t>lớp</a:t>
            </a:r>
            <a:r>
              <a:rPr lang="vi-VN" dirty="0"/>
              <a:t>)</a:t>
            </a:r>
            <a:endParaRPr lang="en-US" dirty="0"/>
          </a:p>
        </p:txBody>
      </p:sp>
    </p:spTree>
    <p:extLst>
      <p:ext uri="{BB962C8B-B14F-4D97-AF65-F5344CB8AC3E}">
        <p14:creationId xmlns:p14="http://schemas.microsoft.com/office/powerpoint/2010/main" val="3735776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B3059-DBB4-F006-78D8-F3FD0BDC7DF2}"/>
              </a:ext>
            </a:extLst>
          </p:cNvPr>
          <p:cNvSpPr>
            <a:spLocks noGrp="1"/>
          </p:cNvSpPr>
          <p:nvPr>
            <p:ph type="title"/>
          </p:nvPr>
        </p:nvSpPr>
        <p:spPr/>
        <p:txBody>
          <a:bodyPr/>
          <a:lstStyle/>
          <a:p>
            <a:r>
              <a:rPr lang="vi-VN" b="0" i="0" dirty="0" err="1">
                <a:solidFill>
                  <a:srgbClr val="009688"/>
                </a:solidFill>
                <a:effectLst/>
                <a:latin typeface="-apple-system"/>
              </a:rPr>
              <a:t>Một</a:t>
            </a:r>
            <a:r>
              <a:rPr lang="vi-VN" b="0" i="0" dirty="0">
                <a:solidFill>
                  <a:srgbClr val="009688"/>
                </a:solidFill>
                <a:effectLst/>
                <a:latin typeface="-apple-system"/>
              </a:rPr>
              <a:t> </a:t>
            </a:r>
            <a:r>
              <a:rPr lang="vi-VN" b="0" i="0" dirty="0" err="1">
                <a:solidFill>
                  <a:srgbClr val="009688"/>
                </a:solidFill>
                <a:effectLst/>
                <a:latin typeface="-apple-system"/>
              </a:rPr>
              <a:t>số</a:t>
            </a:r>
            <a:r>
              <a:rPr lang="vi-VN" b="0" i="0" dirty="0">
                <a:solidFill>
                  <a:srgbClr val="009688"/>
                </a:solidFill>
                <a:effectLst/>
                <a:latin typeface="-apple-system"/>
              </a:rPr>
              <a:t> </a:t>
            </a:r>
            <a:r>
              <a:rPr lang="vi-VN" b="0" i="0" dirty="0" err="1">
                <a:solidFill>
                  <a:srgbClr val="009688"/>
                </a:solidFill>
                <a:effectLst/>
                <a:latin typeface="-apple-system"/>
              </a:rPr>
              <a:t>thành</a:t>
            </a:r>
            <a:r>
              <a:rPr lang="vi-VN" b="0" i="0" dirty="0">
                <a:solidFill>
                  <a:srgbClr val="009688"/>
                </a:solidFill>
                <a:effectLst/>
                <a:latin typeface="-apple-system"/>
              </a:rPr>
              <a:t> </a:t>
            </a:r>
            <a:r>
              <a:rPr lang="vi-VN" b="0" i="0" dirty="0" err="1">
                <a:solidFill>
                  <a:srgbClr val="009688"/>
                </a:solidFill>
                <a:effectLst/>
                <a:latin typeface="-apple-system"/>
              </a:rPr>
              <a:t>phần</a:t>
            </a:r>
            <a:r>
              <a:rPr lang="vi-VN" b="0" i="0" dirty="0">
                <a:solidFill>
                  <a:srgbClr val="009688"/>
                </a:solidFill>
                <a:effectLst/>
                <a:latin typeface="-apple-system"/>
              </a:rPr>
              <a:t> cơ </a:t>
            </a:r>
            <a:r>
              <a:rPr lang="vi-VN" b="0" i="0" dirty="0" err="1">
                <a:solidFill>
                  <a:srgbClr val="009688"/>
                </a:solidFill>
                <a:effectLst/>
                <a:latin typeface="-apple-system"/>
              </a:rPr>
              <a:t>bản</a:t>
            </a:r>
            <a:r>
              <a:rPr lang="vi-VN" b="0" i="0" dirty="0">
                <a:solidFill>
                  <a:srgbClr val="009688"/>
                </a:solidFill>
                <a:effectLst/>
                <a:latin typeface="-apple-system"/>
              </a:rPr>
              <a:t> </a:t>
            </a:r>
            <a:r>
              <a:rPr lang="vi-VN" b="0" i="0" dirty="0" err="1">
                <a:solidFill>
                  <a:srgbClr val="009688"/>
                </a:solidFill>
                <a:effectLst/>
                <a:latin typeface="-apple-system"/>
              </a:rPr>
              <a:t>của</a:t>
            </a:r>
            <a:r>
              <a:rPr lang="vi-VN" b="0" i="0" dirty="0">
                <a:solidFill>
                  <a:srgbClr val="009688"/>
                </a:solidFill>
                <a:effectLst/>
                <a:latin typeface="-apple-system"/>
              </a:rPr>
              <a:t> </a:t>
            </a:r>
            <a:r>
              <a:rPr lang="vi-VN" b="0" i="0" dirty="0" err="1">
                <a:solidFill>
                  <a:srgbClr val="009688"/>
                </a:solidFill>
                <a:effectLst/>
                <a:latin typeface="-apple-system"/>
              </a:rPr>
              <a:t>ứng</a:t>
            </a:r>
            <a:r>
              <a:rPr lang="vi-VN" b="0" i="0" dirty="0">
                <a:solidFill>
                  <a:srgbClr val="009688"/>
                </a:solidFill>
                <a:effectLst/>
                <a:latin typeface="-apple-system"/>
              </a:rPr>
              <a:t> </a:t>
            </a:r>
            <a:r>
              <a:rPr lang="vi-VN" b="0" i="0" dirty="0" err="1">
                <a:solidFill>
                  <a:srgbClr val="009688"/>
                </a:solidFill>
                <a:effectLst/>
                <a:latin typeface="-apple-system"/>
              </a:rPr>
              <a:t>dụng</a:t>
            </a:r>
            <a:r>
              <a:rPr lang="vi-VN" b="0" i="0" dirty="0">
                <a:solidFill>
                  <a:srgbClr val="009688"/>
                </a:solidFill>
                <a:effectLst/>
                <a:latin typeface="-apple-system"/>
              </a:rPr>
              <a:t> </a:t>
            </a:r>
            <a:r>
              <a:rPr lang="vi-VN" b="0" i="0" dirty="0" err="1">
                <a:solidFill>
                  <a:srgbClr val="009688"/>
                </a:solidFill>
                <a:effectLst/>
                <a:latin typeface="-apple-system"/>
              </a:rPr>
              <a:t>code</a:t>
            </a:r>
            <a:r>
              <a:rPr lang="vi-VN" b="0" i="0" dirty="0">
                <a:solidFill>
                  <a:srgbClr val="009688"/>
                </a:solidFill>
                <a:effectLst/>
                <a:latin typeface="-apple-system"/>
              </a:rPr>
              <a:t> C#</a:t>
            </a:r>
            <a:endParaRPr lang="en-US" dirty="0"/>
          </a:p>
        </p:txBody>
      </p:sp>
      <p:sp>
        <p:nvSpPr>
          <p:cNvPr id="3" name="Content Placeholder 2">
            <a:extLst>
              <a:ext uri="{FF2B5EF4-FFF2-40B4-BE49-F238E27FC236}">
                <a16:creationId xmlns:a16="http://schemas.microsoft.com/office/drawing/2014/main" id="{4BC59D65-DAE7-3E86-F973-BE4D415595B4}"/>
              </a:ext>
            </a:extLst>
          </p:cNvPr>
          <p:cNvSpPr>
            <a:spLocks noGrp="1"/>
          </p:cNvSpPr>
          <p:nvPr>
            <p:ph idx="1"/>
          </p:nvPr>
        </p:nvSpPr>
        <p:spPr/>
        <p:txBody>
          <a:bodyPr>
            <a:normAutofit/>
          </a:bodyPr>
          <a:lstStyle/>
          <a:p>
            <a:r>
              <a:rPr lang="vi-VN" b="1" dirty="0" err="1"/>
              <a:t>Namespace</a:t>
            </a:r>
            <a:endParaRPr lang="vi-VN" b="1" dirty="0"/>
          </a:p>
          <a:p>
            <a:pPr>
              <a:buFont typeface="Wingdings" panose="05000000000000000000" pitchFamily="2" charset="2"/>
              <a:buChar char="v"/>
            </a:pPr>
            <a:r>
              <a:rPr lang="vi-VN" dirty="0" err="1"/>
              <a:t>Namespace</a:t>
            </a:r>
            <a:r>
              <a:rPr lang="vi-VN" dirty="0"/>
              <a:t> </a:t>
            </a:r>
            <a:r>
              <a:rPr lang="vi-VN" dirty="0" err="1"/>
              <a:t>là</a:t>
            </a:r>
            <a:r>
              <a:rPr lang="vi-VN" dirty="0"/>
              <a:t> </a:t>
            </a:r>
            <a:r>
              <a:rPr lang="vi-VN" dirty="0" err="1"/>
              <a:t>cách</a:t>
            </a:r>
            <a:r>
              <a:rPr lang="vi-VN" dirty="0"/>
              <a:t> </a:t>
            </a:r>
            <a:r>
              <a:rPr lang="vi-VN" dirty="0" err="1"/>
              <a:t>tổ</a:t>
            </a:r>
            <a:r>
              <a:rPr lang="vi-VN" dirty="0"/>
              <a:t> </a:t>
            </a:r>
            <a:r>
              <a:rPr lang="vi-VN" dirty="0" err="1"/>
              <a:t>chức</a:t>
            </a:r>
            <a:r>
              <a:rPr lang="vi-VN" dirty="0"/>
              <a:t> </a:t>
            </a:r>
            <a:r>
              <a:rPr lang="vi-VN" dirty="0" err="1"/>
              <a:t>code</a:t>
            </a:r>
            <a:r>
              <a:rPr lang="vi-VN" dirty="0"/>
              <a:t>, </a:t>
            </a:r>
            <a:r>
              <a:rPr lang="vi-VN" dirty="0" err="1"/>
              <a:t>tránh</a:t>
            </a:r>
            <a:r>
              <a:rPr lang="vi-VN" dirty="0"/>
              <a:t> sung </a:t>
            </a:r>
            <a:r>
              <a:rPr lang="vi-VN" dirty="0" err="1"/>
              <a:t>đột</a:t>
            </a:r>
            <a:r>
              <a:rPr lang="vi-VN" dirty="0"/>
              <a:t> </a:t>
            </a:r>
            <a:r>
              <a:rPr lang="vi-VN" dirty="0" err="1"/>
              <a:t>về</a:t>
            </a:r>
            <a:r>
              <a:rPr lang="vi-VN" dirty="0"/>
              <a:t> tên </a:t>
            </a:r>
            <a:r>
              <a:rPr lang="vi-VN" dirty="0" err="1"/>
              <a:t>lớp</a:t>
            </a:r>
            <a:r>
              <a:rPr lang="vi-VN" dirty="0"/>
              <a:t>, </a:t>
            </a:r>
            <a:r>
              <a:rPr lang="vi-VN" dirty="0" err="1"/>
              <a:t>dễ</a:t>
            </a:r>
            <a:r>
              <a:rPr lang="vi-VN" dirty="0"/>
              <a:t> </a:t>
            </a:r>
            <a:r>
              <a:rPr lang="vi-VN" dirty="0" err="1"/>
              <a:t>quản</a:t>
            </a:r>
            <a:r>
              <a:rPr lang="vi-VN" dirty="0"/>
              <a:t> </a:t>
            </a:r>
            <a:r>
              <a:rPr lang="vi-VN" dirty="0" err="1"/>
              <a:t>lý</a:t>
            </a:r>
            <a:r>
              <a:rPr lang="vi-VN" dirty="0"/>
              <a:t>. </a:t>
            </a:r>
            <a:r>
              <a:rPr lang="en-US" dirty="0"/>
              <a:t>Ta</a:t>
            </a:r>
            <a:r>
              <a:rPr lang="vi-VN" dirty="0"/>
              <a:t> </a:t>
            </a:r>
            <a:r>
              <a:rPr lang="vi-VN" dirty="0" err="1"/>
              <a:t>có</a:t>
            </a:r>
            <a:r>
              <a:rPr lang="vi-VN" dirty="0"/>
              <a:t> </a:t>
            </a:r>
            <a:r>
              <a:rPr lang="vi-VN" dirty="0" err="1"/>
              <a:t>thể</a:t>
            </a:r>
            <a:r>
              <a:rPr lang="vi-VN" dirty="0"/>
              <a:t> </a:t>
            </a:r>
            <a:r>
              <a:rPr lang="vi-VN" dirty="0" err="1"/>
              <a:t>tạo</a:t>
            </a:r>
            <a:r>
              <a:rPr lang="vi-VN" dirty="0"/>
              <a:t> ra </a:t>
            </a:r>
            <a:r>
              <a:rPr lang="vi-VN" dirty="0" err="1"/>
              <a:t>một</a:t>
            </a:r>
            <a:r>
              <a:rPr lang="vi-VN" dirty="0"/>
              <a:t> </a:t>
            </a:r>
            <a:r>
              <a:rPr lang="vi-VN" dirty="0" err="1"/>
              <a:t>namespace</a:t>
            </a:r>
            <a:r>
              <a:rPr lang="vi-VN" dirty="0"/>
              <a:t> </a:t>
            </a:r>
            <a:r>
              <a:rPr lang="vi-VN" dirty="0" err="1"/>
              <a:t>bằng</a:t>
            </a:r>
            <a:r>
              <a:rPr lang="vi-VN" dirty="0"/>
              <a:t> </a:t>
            </a:r>
            <a:r>
              <a:rPr lang="vi-VN" dirty="0" err="1"/>
              <a:t>từ</a:t>
            </a:r>
            <a:r>
              <a:rPr lang="vi-VN" dirty="0"/>
              <a:t> </a:t>
            </a:r>
            <a:r>
              <a:rPr lang="vi-VN" dirty="0" err="1"/>
              <a:t>khóa</a:t>
            </a:r>
            <a:r>
              <a:rPr lang="vi-VN" dirty="0"/>
              <a:t> </a:t>
            </a:r>
            <a:r>
              <a:rPr lang="vi-VN" dirty="0" err="1"/>
              <a:t>namespace</a:t>
            </a:r>
            <a:r>
              <a:rPr lang="vi-VN" dirty="0"/>
              <a:t>, trong </a:t>
            </a:r>
            <a:r>
              <a:rPr lang="vi-VN" dirty="0" err="1"/>
              <a:t>namespace</a:t>
            </a:r>
            <a:r>
              <a:rPr lang="vi-VN" dirty="0"/>
              <a:t> </a:t>
            </a:r>
            <a:r>
              <a:rPr lang="vi-VN" dirty="0" err="1"/>
              <a:t>có</a:t>
            </a:r>
            <a:r>
              <a:rPr lang="vi-VN" dirty="0"/>
              <a:t> </a:t>
            </a:r>
            <a:r>
              <a:rPr lang="vi-VN" dirty="0" err="1"/>
              <a:t>thể</a:t>
            </a:r>
            <a:r>
              <a:rPr lang="vi-VN" dirty="0"/>
              <a:t> khai </a:t>
            </a:r>
            <a:r>
              <a:rPr lang="vi-VN" dirty="0" err="1"/>
              <a:t>báo</a:t>
            </a:r>
            <a:r>
              <a:rPr lang="vi-VN" dirty="0"/>
              <a:t> </a:t>
            </a:r>
            <a:r>
              <a:rPr lang="vi-VN" dirty="0" err="1"/>
              <a:t>các</a:t>
            </a:r>
            <a:r>
              <a:rPr lang="vi-VN" dirty="0"/>
              <a:t> </a:t>
            </a:r>
            <a:r>
              <a:rPr lang="vi-VN" dirty="0" err="1"/>
              <a:t>lớp</a:t>
            </a:r>
            <a:r>
              <a:rPr lang="vi-VN" dirty="0"/>
              <a:t> </a:t>
            </a:r>
            <a:r>
              <a:rPr lang="vi-VN" dirty="0" err="1"/>
              <a:t>thuộc</a:t>
            </a:r>
            <a:r>
              <a:rPr lang="vi-VN" dirty="0"/>
              <a:t> </a:t>
            </a:r>
            <a:r>
              <a:rPr lang="vi-VN" dirty="0" err="1"/>
              <a:t>namespace</a:t>
            </a:r>
            <a:r>
              <a:rPr lang="vi-VN" dirty="0"/>
              <a:t> </a:t>
            </a:r>
            <a:r>
              <a:rPr lang="vi-VN" dirty="0" err="1"/>
              <a:t>đó</a:t>
            </a:r>
            <a:r>
              <a:rPr lang="vi-VN" dirty="0"/>
              <a:t>. </a:t>
            </a:r>
            <a:r>
              <a:rPr lang="vi-VN" dirty="0" err="1"/>
              <a:t>Ví</a:t>
            </a:r>
            <a:r>
              <a:rPr lang="vi-VN" dirty="0"/>
              <a:t> </a:t>
            </a:r>
            <a:r>
              <a:rPr lang="vi-VN" dirty="0" err="1"/>
              <a:t>dụ</a:t>
            </a:r>
            <a:r>
              <a:rPr lang="vi-VN" dirty="0"/>
              <a:t> trên, </a:t>
            </a:r>
            <a:r>
              <a:rPr lang="vi-VN" dirty="0" err="1"/>
              <a:t>namespace</a:t>
            </a:r>
            <a:r>
              <a:rPr lang="vi-VN" dirty="0"/>
              <a:t> </a:t>
            </a:r>
            <a:r>
              <a:rPr lang="vi-VN" dirty="0" err="1"/>
              <a:t>tạo</a:t>
            </a:r>
            <a:r>
              <a:rPr lang="vi-VN" dirty="0"/>
              <a:t> ra </a:t>
            </a:r>
            <a:r>
              <a:rPr lang="vi-VN" dirty="0" err="1"/>
              <a:t>là</a:t>
            </a:r>
            <a:r>
              <a:rPr lang="vi-VN" dirty="0"/>
              <a:t> </a:t>
            </a:r>
            <a:r>
              <a:rPr lang="vi-VN" dirty="0" err="1"/>
              <a:t>có</a:t>
            </a:r>
            <a:r>
              <a:rPr lang="vi-VN" dirty="0"/>
              <a:t> tên CS001_HelloWorld, trong </a:t>
            </a:r>
            <a:r>
              <a:rPr lang="vi-VN" dirty="0" err="1"/>
              <a:t>nó</a:t>
            </a:r>
            <a:r>
              <a:rPr lang="vi-VN" dirty="0"/>
              <a:t> </a:t>
            </a:r>
            <a:r>
              <a:rPr lang="vi-VN" dirty="0" err="1"/>
              <a:t>có</a:t>
            </a:r>
            <a:r>
              <a:rPr lang="vi-VN" dirty="0"/>
              <a:t> </a:t>
            </a:r>
            <a:r>
              <a:rPr lang="vi-VN" dirty="0" err="1"/>
              <a:t>lớp</a:t>
            </a:r>
            <a:r>
              <a:rPr lang="vi-VN" dirty="0"/>
              <a:t> </a:t>
            </a:r>
            <a:r>
              <a:rPr lang="vi-VN" dirty="0" err="1"/>
              <a:t>Program</a:t>
            </a:r>
            <a:endParaRPr lang="vi-VN" dirty="0"/>
          </a:p>
          <a:p>
            <a:pPr>
              <a:buFont typeface="Wingdings" panose="05000000000000000000" pitchFamily="2" charset="2"/>
              <a:buChar char="v"/>
            </a:pPr>
            <a:r>
              <a:rPr lang="en-US" dirty="0"/>
              <a:t>S</a:t>
            </a:r>
            <a:r>
              <a:rPr lang="vi-VN" dirty="0"/>
              <a:t>ử </a:t>
            </a:r>
            <a:r>
              <a:rPr lang="vi-VN" dirty="0" err="1"/>
              <a:t>dụng</a:t>
            </a:r>
            <a:r>
              <a:rPr lang="vi-VN" dirty="0"/>
              <a:t> </a:t>
            </a:r>
            <a:r>
              <a:rPr lang="vi-VN" dirty="0" err="1"/>
              <a:t>từ</a:t>
            </a:r>
            <a:r>
              <a:rPr lang="vi-VN" dirty="0"/>
              <a:t> </a:t>
            </a:r>
            <a:r>
              <a:rPr lang="vi-VN" dirty="0" err="1"/>
              <a:t>khóa</a:t>
            </a:r>
            <a:r>
              <a:rPr lang="vi-VN" dirty="0"/>
              <a:t> </a:t>
            </a:r>
            <a:r>
              <a:rPr lang="vi-VN" dirty="0" err="1"/>
              <a:t>using</a:t>
            </a:r>
            <a:r>
              <a:rPr lang="vi-VN" dirty="0"/>
              <a:t> ở </a:t>
            </a:r>
            <a:r>
              <a:rPr lang="vi-VN" dirty="0" err="1"/>
              <a:t>đầu</a:t>
            </a:r>
            <a:r>
              <a:rPr lang="vi-VN" dirty="0"/>
              <a:t> </a:t>
            </a:r>
            <a:r>
              <a:rPr lang="vi-VN" dirty="0" err="1"/>
              <a:t>file</a:t>
            </a:r>
            <a:r>
              <a:rPr lang="vi-VN" dirty="0"/>
              <a:t> </a:t>
            </a:r>
            <a:r>
              <a:rPr lang="vi-VN" dirty="0" err="1"/>
              <a:t>code</a:t>
            </a:r>
            <a:r>
              <a:rPr lang="vi-VN" dirty="0"/>
              <a:t>, </a:t>
            </a:r>
            <a:r>
              <a:rPr lang="vi-VN" dirty="0" err="1"/>
              <a:t>để</a:t>
            </a:r>
            <a:r>
              <a:rPr lang="vi-VN" dirty="0"/>
              <a:t> cho </a:t>
            </a:r>
            <a:r>
              <a:rPr lang="vi-VN" dirty="0" err="1"/>
              <a:t>biết</a:t>
            </a:r>
            <a:r>
              <a:rPr lang="vi-VN" dirty="0"/>
              <a:t> </a:t>
            </a:r>
            <a:r>
              <a:rPr lang="vi-VN" dirty="0" err="1"/>
              <a:t>sẽ</a:t>
            </a:r>
            <a:r>
              <a:rPr lang="vi-VN" dirty="0"/>
              <a:t> </a:t>
            </a:r>
            <a:r>
              <a:rPr lang="vi-VN" dirty="0" err="1"/>
              <a:t>sử</a:t>
            </a:r>
            <a:r>
              <a:rPr lang="vi-VN" dirty="0"/>
              <a:t> </a:t>
            </a:r>
            <a:r>
              <a:rPr lang="vi-VN" dirty="0" err="1"/>
              <a:t>dụng</a:t>
            </a:r>
            <a:r>
              <a:rPr lang="vi-VN" dirty="0"/>
              <a:t> </a:t>
            </a:r>
            <a:r>
              <a:rPr lang="vi-VN" dirty="0" err="1"/>
              <a:t>các</a:t>
            </a:r>
            <a:r>
              <a:rPr lang="vi-VN" dirty="0"/>
              <a:t> </a:t>
            </a:r>
            <a:r>
              <a:rPr lang="vi-VN" dirty="0" err="1"/>
              <a:t>lớp</a:t>
            </a:r>
            <a:r>
              <a:rPr lang="vi-VN" dirty="0"/>
              <a:t> </a:t>
            </a:r>
            <a:r>
              <a:rPr lang="vi-VN" dirty="0" err="1"/>
              <a:t>thuộc</a:t>
            </a:r>
            <a:r>
              <a:rPr lang="vi-VN" dirty="0"/>
              <a:t> </a:t>
            </a:r>
            <a:r>
              <a:rPr lang="vi-VN" dirty="0" err="1"/>
              <a:t>một</a:t>
            </a:r>
            <a:r>
              <a:rPr lang="vi-VN" dirty="0"/>
              <a:t> </a:t>
            </a:r>
            <a:r>
              <a:rPr lang="vi-VN" dirty="0" err="1"/>
              <a:t>namespace</a:t>
            </a:r>
            <a:r>
              <a:rPr lang="vi-VN" dirty="0"/>
              <a:t> </a:t>
            </a:r>
            <a:r>
              <a:rPr lang="vi-VN" dirty="0" err="1"/>
              <a:t>nào</a:t>
            </a:r>
            <a:r>
              <a:rPr lang="vi-VN" dirty="0"/>
              <a:t> </a:t>
            </a:r>
            <a:r>
              <a:rPr lang="vi-VN" dirty="0" err="1"/>
              <a:t>đó</a:t>
            </a:r>
            <a:r>
              <a:rPr lang="vi-VN" dirty="0"/>
              <a:t>. Ở </a:t>
            </a:r>
            <a:r>
              <a:rPr lang="vi-VN" dirty="0" err="1"/>
              <a:t>ví</a:t>
            </a:r>
            <a:r>
              <a:rPr lang="vi-VN" dirty="0"/>
              <a:t> </a:t>
            </a:r>
            <a:r>
              <a:rPr lang="vi-VN" dirty="0" err="1"/>
              <a:t>dụ</a:t>
            </a:r>
            <a:r>
              <a:rPr lang="vi-VN" dirty="0"/>
              <a:t> trên </a:t>
            </a:r>
            <a:r>
              <a:rPr lang="vi-VN" dirty="0" err="1">
                <a:solidFill>
                  <a:srgbClr val="0070C0"/>
                </a:solidFill>
              </a:rPr>
              <a:t>using</a:t>
            </a:r>
            <a:r>
              <a:rPr lang="vi-VN" dirty="0">
                <a:solidFill>
                  <a:srgbClr val="0070C0"/>
                </a:solidFill>
              </a:rPr>
              <a:t> </a:t>
            </a:r>
            <a:r>
              <a:rPr lang="vi-VN" dirty="0" err="1">
                <a:solidFill>
                  <a:srgbClr val="0070C0"/>
                </a:solidFill>
              </a:rPr>
              <a:t>System</a:t>
            </a:r>
            <a:r>
              <a:rPr lang="vi-VN" dirty="0"/>
              <a:t>; cho </a:t>
            </a:r>
            <a:r>
              <a:rPr lang="vi-VN" dirty="0" err="1"/>
              <a:t>biết</a:t>
            </a:r>
            <a:r>
              <a:rPr lang="vi-VN" dirty="0"/>
              <a:t> </a:t>
            </a:r>
            <a:r>
              <a:rPr lang="vi-VN" dirty="0" err="1"/>
              <a:t>sẽ</a:t>
            </a:r>
            <a:r>
              <a:rPr lang="vi-VN" dirty="0"/>
              <a:t> </a:t>
            </a:r>
            <a:r>
              <a:rPr lang="vi-VN" dirty="0" err="1"/>
              <a:t>sử</a:t>
            </a:r>
            <a:r>
              <a:rPr lang="vi-VN" dirty="0"/>
              <a:t> </a:t>
            </a:r>
            <a:r>
              <a:rPr lang="vi-VN" dirty="0" err="1"/>
              <a:t>dụng</a:t>
            </a:r>
            <a:r>
              <a:rPr lang="vi-VN" dirty="0"/>
              <a:t> </a:t>
            </a:r>
            <a:r>
              <a:rPr lang="vi-VN" dirty="0" err="1"/>
              <a:t>các</a:t>
            </a:r>
            <a:r>
              <a:rPr lang="vi-VN" dirty="0"/>
              <a:t> </a:t>
            </a:r>
            <a:r>
              <a:rPr lang="vi-VN" dirty="0" err="1"/>
              <a:t>lớp</a:t>
            </a:r>
            <a:r>
              <a:rPr lang="vi-VN" dirty="0"/>
              <a:t> </a:t>
            </a:r>
            <a:r>
              <a:rPr lang="vi-VN" dirty="0" err="1"/>
              <a:t>thuộc</a:t>
            </a:r>
            <a:r>
              <a:rPr lang="vi-VN" dirty="0"/>
              <a:t> </a:t>
            </a:r>
            <a:r>
              <a:rPr lang="vi-VN" dirty="0" err="1"/>
              <a:t>System</a:t>
            </a:r>
            <a:r>
              <a:rPr lang="vi-VN" dirty="0"/>
              <a:t> (</a:t>
            </a:r>
            <a:r>
              <a:rPr lang="vi-VN" dirty="0" err="1"/>
              <a:t>ví</a:t>
            </a:r>
            <a:r>
              <a:rPr lang="vi-VN" dirty="0"/>
              <a:t> </a:t>
            </a:r>
            <a:r>
              <a:rPr lang="vi-VN" dirty="0" err="1"/>
              <a:t>dụ</a:t>
            </a:r>
            <a:r>
              <a:rPr lang="vi-VN" dirty="0"/>
              <a:t> </a:t>
            </a:r>
            <a:r>
              <a:rPr lang="vi-VN" dirty="0" err="1"/>
              <a:t>lớp</a:t>
            </a:r>
            <a:r>
              <a:rPr lang="vi-VN" dirty="0"/>
              <a:t> </a:t>
            </a:r>
            <a:r>
              <a:rPr lang="vi-VN" dirty="0" err="1"/>
              <a:t>Console</a:t>
            </a:r>
            <a:r>
              <a:rPr lang="vi-VN" dirty="0"/>
              <a:t>)</a:t>
            </a:r>
          </a:p>
          <a:p>
            <a:pPr lvl="1">
              <a:buFont typeface="Arial" panose="020B0604020202020204" pitchFamily="34" charset="0"/>
              <a:buChar char="•"/>
            </a:pPr>
            <a:r>
              <a:rPr lang="vi-VN" dirty="0" err="1">
                <a:solidFill>
                  <a:srgbClr val="0070C0"/>
                </a:solidFill>
              </a:rPr>
              <a:t>Console.WriteLine</a:t>
            </a:r>
            <a:r>
              <a:rPr lang="vi-VN" dirty="0">
                <a:solidFill>
                  <a:srgbClr val="0070C0"/>
                </a:solidFill>
              </a:rPr>
              <a:t>("Xin </a:t>
            </a:r>
            <a:r>
              <a:rPr lang="vi-VN" dirty="0" err="1">
                <a:solidFill>
                  <a:srgbClr val="0070C0"/>
                </a:solidFill>
              </a:rPr>
              <a:t>chào</a:t>
            </a:r>
            <a:r>
              <a:rPr lang="vi-VN" dirty="0">
                <a:solidFill>
                  <a:srgbClr val="0070C0"/>
                </a:solidFill>
              </a:rPr>
              <a:t> C# NET CORE!");</a:t>
            </a:r>
          </a:p>
          <a:p>
            <a:pPr lvl="1">
              <a:buFont typeface="Arial" panose="020B0604020202020204" pitchFamily="34" charset="0"/>
              <a:buChar char="•"/>
            </a:pPr>
            <a:r>
              <a:rPr lang="vi-VN" dirty="0" err="1"/>
              <a:t>Gọi</a:t>
            </a:r>
            <a:r>
              <a:rPr lang="vi-VN" dirty="0"/>
              <a:t> phương </a:t>
            </a:r>
            <a:r>
              <a:rPr lang="vi-VN" dirty="0" err="1"/>
              <a:t>thức</a:t>
            </a:r>
            <a:r>
              <a:rPr lang="vi-VN" dirty="0"/>
              <a:t> </a:t>
            </a:r>
            <a:r>
              <a:rPr lang="vi-VN" dirty="0" err="1"/>
              <a:t>WriteLine</a:t>
            </a:r>
            <a:r>
              <a:rPr lang="vi-VN" dirty="0"/>
              <a:t> </a:t>
            </a:r>
            <a:r>
              <a:rPr lang="vi-VN" dirty="0" err="1"/>
              <a:t>của</a:t>
            </a:r>
            <a:r>
              <a:rPr lang="vi-VN" dirty="0"/>
              <a:t> </a:t>
            </a:r>
            <a:r>
              <a:rPr lang="vi-VN" dirty="0" err="1"/>
              <a:t>lớp</a:t>
            </a:r>
            <a:r>
              <a:rPr lang="vi-VN" dirty="0"/>
              <a:t> </a:t>
            </a:r>
            <a:r>
              <a:rPr lang="vi-VN" dirty="0" err="1"/>
              <a:t>Console</a:t>
            </a:r>
            <a:r>
              <a:rPr lang="vi-VN" dirty="0"/>
              <a:t>, </a:t>
            </a:r>
            <a:r>
              <a:rPr lang="vi-VN" dirty="0" err="1"/>
              <a:t>lớp</a:t>
            </a:r>
            <a:r>
              <a:rPr lang="vi-VN" dirty="0"/>
              <a:t> </a:t>
            </a:r>
            <a:r>
              <a:rPr lang="vi-VN" dirty="0" err="1"/>
              <a:t>này</a:t>
            </a:r>
            <a:r>
              <a:rPr lang="vi-VN" dirty="0"/>
              <a:t> </a:t>
            </a:r>
            <a:r>
              <a:rPr lang="vi-VN" dirty="0" err="1"/>
              <a:t>thuộc</a:t>
            </a:r>
            <a:r>
              <a:rPr lang="vi-VN" dirty="0"/>
              <a:t> </a:t>
            </a:r>
            <a:r>
              <a:rPr lang="vi-VN" dirty="0" err="1"/>
              <a:t>System</a:t>
            </a:r>
            <a:r>
              <a:rPr lang="vi-VN" dirty="0"/>
              <a:t>, </a:t>
            </a:r>
            <a:r>
              <a:rPr lang="vi-VN" dirty="0" err="1"/>
              <a:t>có</a:t>
            </a:r>
            <a:r>
              <a:rPr lang="vi-VN" dirty="0"/>
              <a:t> </a:t>
            </a:r>
            <a:r>
              <a:rPr lang="vi-VN" dirty="0" err="1"/>
              <a:t>chức</a:t>
            </a:r>
            <a:r>
              <a:rPr lang="vi-VN" dirty="0"/>
              <a:t> năng in </a:t>
            </a:r>
            <a:r>
              <a:rPr lang="vi-VN" dirty="0" err="1"/>
              <a:t>dữ</a:t>
            </a:r>
            <a:r>
              <a:rPr lang="vi-VN" dirty="0"/>
              <a:t> </a:t>
            </a:r>
            <a:r>
              <a:rPr lang="vi-VN" dirty="0" err="1"/>
              <a:t>liệu</a:t>
            </a:r>
            <a:r>
              <a:rPr lang="vi-VN" dirty="0"/>
              <a:t> ra </a:t>
            </a:r>
            <a:r>
              <a:rPr lang="vi-VN" dirty="0" err="1"/>
              <a:t>terminal</a:t>
            </a:r>
            <a:endParaRPr lang="en-US" dirty="0"/>
          </a:p>
        </p:txBody>
      </p:sp>
    </p:spTree>
    <p:extLst>
      <p:ext uri="{BB962C8B-B14F-4D97-AF65-F5344CB8AC3E}">
        <p14:creationId xmlns:p14="http://schemas.microsoft.com/office/powerpoint/2010/main" val="2295103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9C39F-21C9-4547-7465-D7F3CD413E69}"/>
              </a:ext>
            </a:extLst>
          </p:cNvPr>
          <p:cNvSpPr>
            <a:spLocks noGrp="1"/>
          </p:cNvSpPr>
          <p:nvPr>
            <p:ph type="title"/>
          </p:nvPr>
        </p:nvSpPr>
        <p:spPr/>
        <p:txBody>
          <a:bodyPr>
            <a:noAutofit/>
          </a:bodyPr>
          <a:lstStyle/>
          <a:p>
            <a:r>
              <a:rPr lang="vi-VN" sz="6000" b="1" dirty="0"/>
              <a:t>2.2	</a:t>
            </a:r>
            <a:r>
              <a:rPr lang="vi-VN" sz="6000" b="1" dirty="0" err="1"/>
              <a:t>Chú</a:t>
            </a:r>
            <a:r>
              <a:rPr lang="vi-VN" sz="6000" b="1" dirty="0"/>
              <a:t> </a:t>
            </a:r>
            <a:r>
              <a:rPr lang="vi-VN" sz="6000" b="1" dirty="0" err="1"/>
              <a:t>thích</a:t>
            </a:r>
            <a:r>
              <a:rPr lang="vi-VN" sz="6000" b="1" dirty="0"/>
              <a:t>, </a:t>
            </a:r>
            <a:r>
              <a:rPr lang="vi-VN" sz="6000" b="1" dirty="0" err="1"/>
              <a:t>Biến</a:t>
            </a:r>
            <a:r>
              <a:rPr lang="vi-VN" sz="6000" b="1" dirty="0"/>
              <a:t>, </a:t>
            </a:r>
            <a:r>
              <a:rPr lang="vi-VN" sz="6000" b="1" dirty="0" err="1"/>
              <a:t>hằng</a:t>
            </a:r>
            <a:r>
              <a:rPr lang="vi-VN" sz="6000" b="1" dirty="0"/>
              <a:t> </a:t>
            </a:r>
            <a:r>
              <a:rPr lang="vi-VN" sz="6000" b="1" dirty="0" err="1"/>
              <a:t>số</a:t>
            </a:r>
            <a:r>
              <a:rPr lang="vi-VN" sz="6000" b="1" dirty="0"/>
              <a:t>, </a:t>
            </a:r>
            <a:r>
              <a:rPr lang="vi-VN" sz="6000" b="1" dirty="0" err="1"/>
              <a:t>kiểu</a:t>
            </a:r>
            <a:r>
              <a:rPr lang="vi-VN" sz="6000" b="1" dirty="0"/>
              <a:t> </a:t>
            </a:r>
            <a:r>
              <a:rPr lang="vi-VN" sz="6000" b="1" dirty="0" err="1"/>
              <a:t>dữ</a:t>
            </a:r>
            <a:r>
              <a:rPr lang="vi-VN" sz="6000" b="1" dirty="0"/>
              <a:t> </a:t>
            </a:r>
            <a:r>
              <a:rPr lang="vi-VN" sz="6000" b="1" dirty="0" err="1"/>
              <a:t>liệu</a:t>
            </a:r>
            <a:r>
              <a:rPr lang="vi-VN" sz="6000" b="1" dirty="0"/>
              <a:t> </a:t>
            </a:r>
            <a:r>
              <a:rPr lang="vi-VN" sz="6000" b="1" dirty="0" err="1"/>
              <a:t>và</a:t>
            </a:r>
            <a:r>
              <a:rPr lang="vi-VN" sz="6000" b="1" dirty="0"/>
              <a:t> </a:t>
            </a:r>
            <a:r>
              <a:rPr lang="vi-VN" sz="6000" b="1" dirty="0" err="1"/>
              <a:t>nhập</a:t>
            </a:r>
            <a:r>
              <a:rPr lang="vi-VN" sz="6000" b="1" dirty="0"/>
              <a:t> </a:t>
            </a:r>
            <a:r>
              <a:rPr lang="vi-VN" sz="6000" b="1" dirty="0" err="1"/>
              <a:t>xuất</a:t>
            </a:r>
            <a:r>
              <a:rPr lang="vi-VN" sz="6000" b="1" dirty="0"/>
              <a:t> </a:t>
            </a:r>
            <a:r>
              <a:rPr lang="vi-VN" sz="6000" b="1" dirty="0" err="1"/>
              <a:t>dữ</a:t>
            </a:r>
            <a:r>
              <a:rPr lang="vi-VN" sz="6000" b="1" dirty="0"/>
              <a:t> </a:t>
            </a:r>
            <a:r>
              <a:rPr lang="vi-VN" sz="6000" b="1" dirty="0" err="1"/>
              <a:t>liệu</a:t>
            </a:r>
            <a:r>
              <a:rPr lang="vi-VN" sz="6000" b="1" dirty="0"/>
              <a:t> C# .NET </a:t>
            </a:r>
            <a:r>
              <a:rPr lang="vi-VN" sz="6000" b="1" dirty="0" err="1"/>
              <a:t>Core</a:t>
            </a:r>
            <a:endParaRPr lang="en-US" sz="6000" dirty="0"/>
          </a:p>
        </p:txBody>
      </p:sp>
      <p:sp>
        <p:nvSpPr>
          <p:cNvPr id="3" name="Text Placeholder 2">
            <a:extLst>
              <a:ext uri="{FF2B5EF4-FFF2-40B4-BE49-F238E27FC236}">
                <a16:creationId xmlns:a16="http://schemas.microsoft.com/office/drawing/2014/main" id="{28B15E07-8860-6FF4-DA8E-100229AB1F6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38046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A7085-4BA9-1806-FE13-4917441DB79F}"/>
              </a:ext>
            </a:extLst>
          </p:cNvPr>
          <p:cNvSpPr>
            <a:spLocks noGrp="1"/>
          </p:cNvSpPr>
          <p:nvPr>
            <p:ph type="title"/>
          </p:nvPr>
        </p:nvSpPr>
        <p:spPr/>
        <p:txBody>
          <a:bodyPr>
            <a:normAutofit/>
          </a:bodyPr>
          <a:lstStyle/>
          <a:p>
            <a:r>
              <a:rPr lang="en-US" sz="4800" b="1" i="0" dirty="0">
                <a:solidFill>
                  <a:srgbClr val="17A2B8"/>
                </a:solidFill>
                <a:effectLst/>
                <a:latin typeface="-apple-system"/>
              </a:rPr>
              <a:t>a. </a:t>
            </a:r>
            <a:r>
              <a:rPr lang="en-US" sz="4800" b="1" dirty="0" err="1">
                <a:solidFill>
                  <a:srgbClr val="17A2B8"/>
                </a:solidFill>
                <a:latin typeface="-apple-system"/>
              </a:rPr>
              <a:t>C</a:t>
            </a:r>
            <a:r>
              <a:rPr lang="en-US" sz="4800" b="1" i="0" dirty="0" err="1">
                <a:solidFill>
                  <a:srgbClr val="17A2B8"/>
                </a:solidFill>
                <a:effectLst/>
                <a:latin typeface="-apple-system"/>
              </a:rPr>
              <a:t>hú</a:t>
            </a:r>
            <a:r>
              <a:rPr lang="en-US" sz="4800" b="1" i="0" dirty="0">
                <a:solidFill>
                  <a:srgbClr val="17A2B8"/>
                </a:solidFill>
                <a:effectLst/>
                <a:latin typeface="-apple-system"/>
              </a:rPr>
              <a:t> </a:t>
            </a:r>
            <a:r>
              <a:rPr lang="en-US" sz="4800" b="1" i="0" dirty="0" err="1">
                <a:solidFill>
                  <a:srgbClr val="17A2B8"/>
                </a:solidFill>
                <a:effectLst/>
                <a:latin typeface="-apple-system"/>
              </a:rPr>
              <a:t>thích</a:t>
            </a:r>
            <a:endParaRPr lang="en-US" dirty="0"/>
          </a:p>
        </p:txBody>
      </p:sp>
      <p:sp>
        <p:nvSpPr>
          <p:cNvPr id="3" name="Content Placeholder 2">
            <a:extLst>
              <a:ext uri="{FF2B5EF4-FFF2-40B4-BE49-F238E27FC236}">
                <a16:creationId xmlns:a16="http://schemas.microsoft.com/office/drawing/2014/main" id="{64F52000-6710-9C7C-8F11-1B677B7A7641}"/>
              </a:ext>
            </a:extLst>
          </p:cNvPr>
          <p:cNvSpPr>
            <a:spLocks noGrp="1"/>
          </p:cNvSpPr>
          <p:nvPr>
            <p:ph idx="1"/>
          </p:nvPr>
        </p:nvSpPr>
        <p:spPr/>
        <p:txBody>
          <a:bodyPr>
            <a:normAutofit/>
          </a:bodyPr>
          <a:lstStyle/>
          <a:p>
            <a:pPr marL="0" indent="0">
              <a:buNone/>
            </a:pPr>
            <a:r>
              <a:rPr lang="en-US" sz="2400" b="1" dirty="0" err="1">
                <a:solidFill>
                  <a:srgbClr val="17A2B8"/>
                </a:solidFill>
                <a:latin typeface="-apple-system"/>
              </a:rPr>
              <a:t>C</a:t>
            </a:r>
            <a:r>
              <a:rPr lang="en-US" sz="2400" b="1" i="0" dirty="0" err="1">
                <a:solidFill>
                  <a:srgbClr val="17A2B8"/>
                </a:solidFill>
                <a:effectLst/>
                <a:latin typeface="-apple-system"/>
              </a:rPr>
              <a:t>hú</a:t>
            </a:r>
            <a:r>
              <a:rPr lang="en-US" sz="2400" b="1" i="0" dirty="0">
                <a:solidFill>
                  <a:srgbClr val="17A2B8"/>
                </a:solidFill>
                <a:effectLst/>
                <a:latin typeface="-apple-system"/>
              </a:rPr>
              <a:t> </a:t>
            </a:r>
            <a:r>
              <a:rPr lang="en-US" sz="2400" b="1" i="0" dirty="0" err="1">
                <a:solidFill>
                  <a:srgbClr val="17A2B8"/>
                </a:solidFill>
                <a:effectLst/>
                <a:latin typeface="-apple-system"/>
              </a:rPr>
              <a:t>thích</a:t>
            </a:r>
            <a:r>
              <a:rPr lang="en-US" sz="2400" b="1" i="0" dirty="0">
                <a:solidFill>
                  <a:srgbClr val="17A2B8"/>
                </a:solidFill>
                <a:effectLst/>
                <a:latin typeface="-apple-system"/>
              </a:rPr>
              <a:t> </a:t>
            </a:r>
            <a:r>
              <a:rPr lang="en-US" i="0" dirty="0">
                <a:solidFill>
                  <a:srgbClr val="17A2B8"/>
                </a:solidFill>
                <a:effectLst/>
                <a:latin typeface="-apple-system"/>
              </a:rPr>
              <a:t>(</a:t>
            </a:r>
            <a:r>
              <a:rPr lang="en-US" i="0" dirty="0" err="1">
                <a:solidFill>
                  <a:srgbClr val="17A2B8"/>
                </a:solidFill>
                <a:effectLst/>
                <a:latin typeface="-apple-system"/>
              </a:rPr>
              <a:t>Ghi</a:t>
            </a:r>
            <a:r>
              <a:rPr lang="en-US" i="0" dirty="0">
                <a:solidFill>
                  <a:srgbClr val="17A2B8"/>
                </a:solidFill>
                <a:effectLst/>
                <a:latin typeface="-apple-system"/>
              </a:rPr>
              <a:t> </a:t>
            </a:r>
            <a:r>
              <a:rPr lang="en-US" i="0" dirty="0" err="1">
                <a:solidFill>
                  <a:srgbClr val="17A2B8"/>
                </a:solidFill>
                <a:effectLst/>
                <a:latin typeface="-apple-system"/>
              </a:rPr>
              <a:t>chú</a:t>
            </a:r>
            <a:r>
              <a:rPr lang="en-US" i="0" dirty="0">
                <a:solidFill>
                  <a:srgbClr val="17A2B8"/>
                </a:solidFill>
                <a:effectLst/>
                <a:latin typeface="-apple-system"/>
              </a:rPr>
              <a:t> </a:t>
            </a:r>
            <a:r>
              <a:rPr lang="en-US" b="0" i="0" dirty="0">
                <a:solidFill>
                  <a:srgbClr val="17A2B8"/>
                </a:solidFill>
                <a:effectLst/>
                <a:latin typeface="-apple-system"/>
              </a:rPr>
              <a:t>-</a:t>
            </a:r>
            <a:r>
              <a:rPr lang="vi-VN" b="0" i="0" dirty="0">
                <a:solidFill>
                  <a:srgbClr val="17A2B8"/>
                </a:solidFill>
                <a:effectLst/>
                <a:latin typeface="-apple-system"/>
              </a:rPr>
              <a:t> </a:t>
            </a:r>
            <a:r>
              <a:rPr lang="vi-VN" b="0" i="0" dirty="0" err="1">
                <a:solidFill>
                  <a:srgbClr val="17A2B8"/>
                </a:solidFill>
                <a:effectLst/>
                <a:latin typeface="-apple-system"/>
              </a:rPr>
              <a:t>comment</a:t>
            </a:r>
            <a:r>
              <a:rPr lang="en-US" b="0" i="0" dirty="0">
                <a:solidFill>
                  <a:srgbClr val="17A2B8"/>
                </a:solidFill>
                <a:effectLst/>
                <a:latin typeface="-apple-system"/>
              </a:rPr>
              <a:t>)  </a:t>
            </a:r>
            <a:r>
              <a:rPr lang="en-US" b="0" i="0" dirty="0" err="1">
                <a:solidFill>
                  <a:srgbClr val="17A2B8"/>
                </a:solidFill>
                <a:effectLst/>
                <a:latin typeface="-apple-system"/>
              </a:rPr>
              <a:t>trong</a:t>
            </a:r>
            <a:r>
              <a:rPr lang="en-US" b="0" i="0" dirty="0">
                <a:solidFill>
                  <a:srgbClr val="17A2B8"/>
                </a:solidFill>
                <a:effectLst/>
                <a:latin typeface="-apple-system"/>
              </a:rPr>
              <a:t> C# </a:t>
            </a:r>
            <a:r>
              <a:rPr lang="vi-VN" b="0" i="0" dirty="0" err="1">
                <a:solidFill>
                  <a:srgbClr val="17A2B8"/>
                </a:solidFill>
                <a:effectLst/>
                <a:latin typeface="-apple-system"/>
              </a:rPr>
              <a:t>là</a:t>
            </a:r>
            <a:r>
              <a:rPr lang="vi-VN" b="0" i="0" dirty="0">
                <a:solidFill>
                  <a:srgbClr val="17A2B8"/>
                </a:solidFill>
                <a:effectLst/>
                <a:latin typeface="-apple-system"/>
              </a:rPr>
              <a:t> </a:t>
            </a:r>
            <a:r>
              <a:rPr lang="vi-VN" b="0" i="0" dirty="0" err="1">
                <a:solidFill>
                  <a:srgbClr val="17A2B8"/>
                </a:solidFill>
                <a:effectLst/>
                <a:latin typeface="-apple-system"/>
              </a:rPr>
              <a:t>các</a:t>
            </a:r>
            <a:r>
              <a:rPr lang="vi-VN" b="0" i="0" dirty="0">
                <a:solidFill>
                  <a:srgbClr val="17A2B8"/>
                </a:solidFill>
                <a:effectLst/>
                <a:latin typeface="-apple-system"/>
              </a:rPr>
              <a:t> </a:t>
            </a:r>
            <a:r>
              <a:rPr lang="vi-VN" b="0" i="0" dirty="0" err="1">
                <a:solidFill>
                  <a:srgbClr val="17A2B8"/>
                </a:solidFill>
                <a:effectLst/>
                <a:latin typeface="-apple-system"/>
              </a:rPr>
              <a:t>dòng</a:t>
            </a:r>
            <a:r>
              <a:rPr lang="vi-VN" b="0" i="0" dirty="0">
                <a:solidFill>
                  <a:srgbClr val="17A2B8"/>
                </a:solidFill>
                <a:effectLst/>
                <a:latin typeface="-apple-system"/>
              </a:rPr>
              <a:t> </a:t>
            </a:r>
            <a:r>
              <a:rPr lang="vi-VN" b="0" i="0" dirty="0" err="1">
                <a:solidFill>
                  <a:srgbClr val="17A2B8"/>
                </a:solidFill>
                <a:effectLst/>
                <a:latin typeface="-apple-system"/>
              </a:rPr>
              <a:t>chữ</a:t>
            </a:r>
            <a:r>
              <a:rPr lang="vi-VN" b="0" i="0" dirty="0">
                <a:solidFill>
                  <a:srgbClr val="17A2B8"/>
                </a:solidFill>
                <a:effectLst/>
                <a:latin typeface="-apple-system"/>
              </a:rPr>
              <a:t> </a:t>
            </a:r>
            <a:r>
              <a:rPr lang="vi-VN" b="0" i="0" dirty="0" err="1">
                <a:solidFill>
                  <a:srgbClr val="17A2B8"/>
                </a:solidFill>
                <a:effectLst/>
                <a:latin typeface="-apple-system"/>
              </a:rPr>
              <a:t>được</a:t>
            </a:r>
            <a:r>
              <a:rPr lang="vi-VN" b="0" i="0" dirty="0">
                <a:solidFill>
                  <a:srgbClr val="17A2B8"/>
                </a:solidFill>
                <a:effectLst/>
                <a:latin typeface="-apple-system"/>
              </a:rPr>
              <a:t> ghi </a:t>
            </a:r>
            <a:r>
              <a:rPr lang="vi-VN" b="0" i="0" dirty="0" err="1">
                <a:solidFill>
                  <a:srgbClr val="17A2B8"/>
                </a:solidFill>
                <a:effectLst/>
                <a:latin typeface="-apple-system"/>
              </a:rPr>
              <a:t>chép</a:t>
            </a:r>
            <a:r>
              <a:rPr lang="vi-VN" b="0" i="0" dirty="0">
                <a:solidFill>
                  <a:srgbClr val="17A2B8"/>
                </a:solidFill>
                <a:effectLst/>
                <a:latin typeface="-apple-system"/>
              </a:rPr>
              <a:t> </a:t>
            </a:r>
            <a:r>
              <a:rPr lang="vi-VN" b="0" i="0" dirty="0" err="1">
                <a:solidFill>
                  <a:srgbClr val="17A2B8"/>
                </a:solidFill>
                <a:effectLst/>
                <a:latin typeface="-apple-system"/>
              </a:rPr>
              <a:t>trực</a:t>
            </a:r>
            <a:r>
              <a:rPr lang="vi-VN" b="0" i="0" dirty="0">
                <a:solidFill>
                  <a:srgbClr val="17A2B8"/>
                </a:solidFill>
                <a:effectLst/>
                <a:latin typeface="-apple-system"/>
              </a:rPr>
              <a:t> </a:t>
            </a:r>
            <a:r>
              <a:rPr lang="vi-VN" b="0" i="0" dirty="0" err="1">
                <a:solidFill>
                  <a:srgbClr val="17A2B8"/>
                </a:solidFill>
                <a:effectLst/>
                <a:latin typeface="-apple-system"/>
              </a:rPr>
              <a:t>tiếp</a:t>
            </a:r>
            <a:r>
              <a:rPr lang="vi-VN" b="0" i="0" dirty="0">
                <a:solidFill>
                  <a:srgbClr val="17A2B8"/>
                </a:solidFill>
                <a:effectLst/>
                <a:latin typeface="-apple-system"/>
              </a:rPr>
              <a:t> </a:t>
            </a:r>
            <a:r>
              <a:rPr lang="vi-VN" b="0" i="0" dirty="0" err="1">
                <a:solidFill>
                  <a:srgbClr val="17A2B8"/>
                </a:solidFill>
                <a:effectLst/>
                <a:latin typeface="-apple-system"/>
              </a:rPr>
              <a:t>vào</a:t>
            </a:r>
            <a:r>
              <a:rPr lang="vi-VN" b="0" i="0" dirty="0">
                <a:solidFill>
                  <a:srgbClr val="17A2B8"/>
                </a:solidFill>
                <a:effectLst/>
                <a:latin typeface="-apple-system"/>
              </a:rPr>
              <a:t> văn </a:t>
            </a:r>
            <a:r>
              <a:rPr lang="vi-VN" b="0" i="0" dirty="0" err="1">
                <a:solidFill>
                  <a:srgbClr val="17A2B8"/>
                </a:solidFill>
                <a:effectLst/>
                <a:latin typeface="-apple-system"/>
              </a:rPr>
              <a:t>bản</a:t>
            </a:r>
            <a:r>
              <a:rPr lang="vi-VN" b="0" i="0" dirty="0">
                <a:solidFill>
                  <a:srgbClr val="17A2B8"/>
                </a:solidFill>
                <a:effectLst/>
                <a:latin typeface="-apple-system"/>
              </a:rPr>
              <a:t> </a:t>
            </a:r>
            <a:r>
              <a:rPr lang="vi-VN" b="0" i="0" dirty="0" err="1">
                <a:solidFill>
                  <a:srgbClr val="17A2B8"/>
                </a:solidFill>
                <a:effectLst/>
                <a:latin typeface="-apple-system"/>
              </a:rPr>
              <a:t>code</a:t>
            </a:r>
            <a:r>
              <a:rPr lang="vi-VN" b="0" i="0" dirty="0">
                <a:solidFill>
                  <a:srgbClr val="17A2B8"/>
                </a:solidFill>
                <a:effectLst/>
                <a:latin typeface="-apple-system"/>
              </a:rPr>
              <a:t>, </a:t>
            </a:r>
            <a:r>
              <a:rPr lang="vi-VN" b="0" i="0" dirty="0" err="1">
                <a:solidFill>
                  <a:srgbClr val="17A2B8"/>
                </a:solidFill>
                <a:effectLst/>
                <a:latin typeface="-apple-system"/>
              </a:rPr>
              <a:t>các</a:t>
            </a:r>
            <a:r>
              <a:rPr lang="vi-VN" b="0" i="0" dirty="0">
                <a:solidFill>
                  <a:srgbClr val="17A2B8"/>
                </a:solidFill>
                <a:effectLst/>
                <a:latin typeface="-apple-system"/>
              </a:rPr>
              <a:t> </a:t>
            </a:r>
            <a:r>
              <a:rPr lang="vi-VN" b="0" i="0" dirty="0" err="1">
                <a:solidFill>
                  <a:srgbClr val="17A2B8"/>
                </a:solidFill>
                <a:effectLst/>
                <a:latin typeface="-apple-system"/>
              </a:rPr>
              <a:t>comment</a:t>
            </a:r>
            <a:r>
              <a:rPr lang="vi-VN" b="0" i="0" dirty="0">
                <a:solidFill>
                  <a:srgbClr val="17A2B8"/>
                </a:solidFill>
                <a:effectLst/>
                <a:latin typeface="-apple-system"/>
              </a:rPr>
              <a:t> </a:t>
            </a:r>
            <a:r>
              <a:rPr lang="vi-VN" b="0" i="0" dirty="0" err="1">
                <a:solidFill>
                  <a:srgbClr val="17A2B8"/>
                </a:solidFill>
                <a:effectLst/>
                <a:latin typeface="-apple-system"/>
              </a:rPr>
              <a:t>bỏ</a:t>
            </a:r>
            <a:r>
              <a:rPr lang="vi-VN" b="0" i="0" dirty="0">
                <a:solidFill>
                  <a:srgbClr val="17A2B8"/>
                </a:solidFill>
                <a:effectLst/>
                <a:latin typeface="-apple-system"/>
              </a:rPr>
              <a:t> qua </a:t>
            </a:r>
            <a:r>
              <a:rPr lang="en-US" b="0" i="0" dirty="0" err="1">
                <a:solidFill>
                  <a:srgbClr val="17A2B8"/>
                </a:solidFill>
                <a:effectLst/>
                <a:latin typeface="-apple-system"/>
              </a:rPr>
              <a:t>khi</a:t>
            </a:r>
            <a:r>
              <a:rPr lang="vi-VN" b="0" i="0" dirty="0">
                <a:solidFill>
                  <a:srgbClr val="17A2B8"/>
                </a:solidFill>
                <a:effectLst/>
                <a:latin typeface="-apple-system"/>
              </a:rPr>
              <a:t> chương </a:t>
            </a:r>
            <a:r>
              <a:rPr lang="vi-VN" b="0" i="0" dirty="0" err="1">
                <a:solidFill>
                  <a:srgbClr val="17A2B8"/>
                </a:solidFill>
                <a:effectLst/>
                <a:latin typeface="-apple-system"/>
              </a:rPr>
              <a:t>trình</a:t>
            </a:r>
            <a:r>
              <a:rPr lang="vi-VN" b="0" i="0" dirty="0">
                <a:solidFill>
                  <a:srgbClr val="17A2B8"/>
                </a:solidFill>
                <a:effectLst/>
                <a:latin typeface="-apple-system"/>
              </a:rPr>
              <a:t> </a:t>
            </a:r>
            <a:r>
              <a:rPr lang="vi-VN" b="0" i="0" dirty="0" err="1">
                <a:solidFill>
                  <a:srgbClr val="17A2B8"/>
                </a:solidFill>
                <a:effectLst/>
                <a:latin typeface="-apple-system"/>
              </a:rPr>
              <a:t>chạy</a:t>
            </a:r>
            <a:r>
              <a:rPr lang="vi-VN" b="0" i="0" dirty="0">
                <a:solidFill>
                  <a:srgbClr val="17A2B8"/>
                </a:solidFill>
                <a:effectLst/>
                <a:latin typeface="-apple-system"/>
              </a:rPr>
              <a:t> (thông </a:t>
            </a:r>
            <a:r>
              <a:rPr lang="vi-VN" b="0" i="0" dirty="0" err="1">
                <a:solidFill>
                  <a:srgbClr val="17A2B8"/>
                </a:solidFill>
                <a:effectLst/>
                <a:latin typeface="-apple-system"/>
              </a:rPr>
              <a:t>dịch</a:t>
            </a:r>
            <a:r>
              <a:rPr lang="en-US" b="0" i="0" dirty="0">
                <a:solidFill>
                  <a:srgbClr val="17A2B8"/>
                </a:solidFill>
                <a:effectLst/>
                <a:latin typeface="-apple-system"/>
              </a:rPr>
              <a:t>)</a:t>
            </a:r>
          </a:p>
          <a:p>
            <a:pPr>
              <a:buFont typeface="Wingdings" panose="05000000000000000000" pitchFamily="2" charset="2"/>
              <a:buChar char="Ø"/>
            </a:pPr>
            <a:r>
              <a:rPr lang="vi-VN" b="0" i="0" dirty="0">
                <a:solidFill>
                  <a:srgbClr val="17A2B8"/>
                </a:solidFill>
                <a:effectLst/>
                <a:latin typeface="-apple-system"/>
              </a:rPr>
              <a:t>Ghi </a:t>
            </a:r>
            <a:r>
              <a:rPr lang="vi-VN" b="0" i="0" dirty="0" err="1">
                <a:solidFill>
                  <a:srgbClr val="17A2B8"/>
                </a:solidFill>
                <a:effectLst/>
                <a:latin typeface="-apple-system"/>
              </a:rPr>
              <a:t>chú</a:t>
            </a:r>
            <a:r>
              <a:rPr lang="vi-VN" b="0" i="0" dirty="0">
                <a:solidFill>
                  <a:srgbClr val="17A2B8"/>
                </a:solidFill>
                <a:effectLst/>
                <a:latin typeface="-apple-system"/>
              </a:rPr>
              <a:t> </a:t>
            </a:r>
            <a:r>
              <a:rPr lang="vi-VN" b="0" i="0" dirty="0" err="1">
                <a:solidFill>
                  <a:srgbClr val="17A2B8"/>
                </a:solidFill>
                <a:effectLst/>
                <a:latin typeface="-apple-system"/>
              </a:rPr>
              <a:t>một</a:t>
            </a:r>
            <a:r>
              <a:rPr lang="vi-VN" b="0" i="0" dirty="0">
                <a:solidFill>
                  <a:srgbClr val="17A2B8"/>
                </a:solidFill>
                <a:effectLst/>
                <a:latin typeface="-apple-system"/>
              </a:rPr>
              <a:t> </a:t>
            </a:r>
            <a:r>
              <a:rPr lang="vi-VN" b="0" i="0" dirty="0" err="1">
                <a:solidFill>
                  <a:srgbClr val="17A2B8"/>
                </a:solidFill>
                <a:effectLst/>
                <a:latin typeface="-apple-system"/>
              </a:rPr>
              <a:t>dòng</a:t>
            </a:r>
            <a:endParaRPr lang="vi-VN" b="0" i="0" dirty="0">
              <a:solidFill>
                <a:srgbClr val="17A2B8"/>
              </a:solidFill>
              <a:effectLst/>
              <a:latin typeface="-apple-system"/>
            </a:endParaRPr>
          </a:p>
          <a:p>
            <a:r>
              <a:rPr lang="vi-VN" b="0" i="0" dirty="0" err="1">
                <a:solidFill>
                  <a:srgbClr val="17A2B8"/>
                </a:solidFill>
                <a:effectLst/>
                <a:latin typeface="-apple-system"/>
              </a:rPr>
              <a:t>Là</a:t>
            </a:r>
            <a:r>
              <a:rPr lang="vi-VN" b="0" i="0" dirty="0">
                <a:solidFill>
                  <a:srgbClr val="17A2B8"/>
                </a:solidFill>
                <a:effectLst/>
                <a:latin typeface="-apple-system"/>
              </a:rPr>
              <a:t> </a:t>
            </a:r>
            <a:r>
              <a:rPr lang="vi-VN" b="0" i="0" dirty="0" err="1">
                <a:solidFill>
                  <a:srgbClr val="17A2B8"/>
                </a:solidFill>
                <a:effectLst/>
                <a:latin typeface="-apple-system"/>
              </a:rPr>
              <a:t>dòng</a:t>
            </a:r>
            <a:r>
              <a:rPr lang="vi-VN" b="0" i="0" dirty="0">
                <a:solidFill>
                  <a:srgbClr val="17A2B8"/>
                </a:solidFill>
                <a:effectLst/>
                <a:latin typeface="-apple-system"/>
              </a:rPr>
              <a:t> ghi </a:t>
            </a:r>
            <a:r>
              <a:rPr lang="vi-VN" b="0" i="0" dirty="0" err="1">
                <a:solidFill>
                  <a:srgbClr val="17A2B8"/>
                </a:solidFill>
                <a:effectLst/>
                <a:latin typeface="-apple-system"/>
              </a:rPr>
              <a:t>chú</a:t>
            </a:r>
            <a:r>
              <a:rPr lang="vi-VN" b="0" i="0" dirty="0">
                <a:solidFill>
                  <a:srgbClr val="17A2B8"/>
                </a:solidFill>
                <a:effectLst/>
                <a:latin typeface="-apple-system"/>
              </a:rPr>
              <a:t> </a:t>
            </a:r>
            <a:r>
              <a:rPr lang="vi-VN" b="0" i="0" dirty="0" err="1">
                <a:solidFill>
                  <a:srgbClr val="17A2B8"/>
                </a:solidFill>
                <a:effectLst/>
                <a:latin typeface="-apple-system"/>
              </a:rPr>
              <a:t>chỉ</a:t>
            </a:r>
            <a:r>
              <a:rPr lang="vi-VN" b="0" i="0" dirty="0">
                <a:solidFill>
                  <a:srgbClr val="17A2B8"/>
                </a:solidFill>
                <a:effectLst/>
                <a:latin typeface="-apple-system"/>
              </a:rPr>
              <a:t> </a:t>
            </a:r>
            <a:r>
              <a:rPr lang="vi-VN" b="0" i="0" dirty="0" err="1">
                <a:solidFill>
                  <a:srgbClr val="17A2B8"/>
                </a:solidFill>
                <a:effectLst/>
                <a:latin typeface="-apple-system"/>
              </a:rPr>
              <a:t>viết</a:t>
            </a:r>
            <a:r>
              <a:rPr lang="vi-VN" b="0" i="0" dirty="0">
                <a:solidFill>
                  <a:srgbClr val="17A2B8"/>
                </a:solidFill>
                <a:effectLst/>
                <a:latin typeface="-apple-system"/>
              </a:rPr>
              <a:t> trên </a:t>
            </a:r>
            <a:r>
              <a:rPr lang="vi-VN" b="0" i="0" dirty="0" err="1">
                <a:solidFill>
                  <a:srgbClr val="17A2B8"/>
                </a:solidFill>
                <a:effectLst/>
                <a:latin typeface="-apple-system"/>
              </a:rPr>
              <a:t>một</a:t>
            </a:r>
            <a:r>
              <a:rPr lang="vi-VN" b="0" i="0" dirty="0">
                <a:solidFill>
                  <a:srgbClr val="17A2B8"/>
                </a:solidFill>
                <a:effectLst/>
                <a:latin typeface="-apple-system"/>
              </a:rPr>
              <a:t> </a:t>
            </a:r>
            <a:r>
              <a:rPr lang="vi-VN" b="0" i="0" dirty="0" err="1">
                <a:solidFill>
                  <a:srgbClr val="17A2B8"/>
                </a:solidFill>
                <a:effectLst/>
                <a:latin typeface="-apple-system"/>
              </a:rPr>
              <a:t>dòng</a:t>
            </a:r>
            <a:r>
              <a:rPr lang="vi-VN" b="0" i="0" dirty="0">
                <a:solidFill>
                  <a:srgbClr val="17A2B8"/>
                </a:solidFill>
                <a:effectLst/>
                <a:latin typeface="-apple-system"/>
              </a:rPr>
              <a:t>, </a:t>
            </a:r>
            <a:r>
              <a:rPr lang="vi-VN" b="0" i="0" dirty="0" err="1">
                <a:solidFill>
                  <a:srgbClr val="17A2B8"/>
                </a:solidFill>
                <a:effectLst/>
                <a:latin typeface="-apple-system"/>
              </a:rPr>
              <a:t>nội</a:t>
            </a:r>
            <a:r>
              <a:rPr lang="vi-VN" b="0" i="0" dirty="0">
                <a:solidFill>
                  <a:srgbClr val="17A2B8"/>
                </a:solidFill>
                <a:effectLst/>
                <a:latin typeface="-apple-system"/>
              </a:rPr>
              <a:t> dung ghi </a:t>
            </a:r>
            <a:r>
              <a:rPr lang="vi-VN" b="0" i="0" dirty="0" err="1">
                <a:solidFill>
                  <a:srgbClr val="17A2B8"/>
                </a:solidFill>
                <a:effectLst/>
                <a:latin typeface="-apple-system"/>
              </a:rPr>
              <a:t>chú</a:t>
            </a:r>
            <a:r>
              <a:rPr lang="vi-VN" b="0" i="0" dirty="0">
                <a:solidFill>
                  <a:srgbClr val="17A2B8"/>
                </a:solidFill>
                <a:effectLst/>
                <a:latin typeface="-apple-system"/>
              </a:rPr>
              <a:t> </a:t>
            </a:r>
            <a:r>
              <a:rPr lang="vi-VN" b="0" i="0" dirty="0" err="1">
                <a:solidFill>
                  <a:srgbClr val="17A2B8"/>
                </a:solidFill>
                <a:effectLst/>
                <a:latin typeface="-apple-system"/>
              </a:rPr>
              <a:t>bắt</a:t>
            </a:r>
            <a:r>
              <a:rPr lang="vi-VN" b="0" i="0" dirty="0">
                <a:solidFill>
                  <a:srgbClr val="17A2B8"/>
                </a:solidFill>
                <a:effectLst/>
                <a:latin typeface="-apple-system"/>
              </a:rPr>
              <a:t> </a:t>
            </a:r>
            <a:r>
              <a:rPr lang="vi-VN" b="0" i="0" dirty="0" err="1">
                <a:solidFill>
                  <a:srgbClr val="17A2B8"/>
                </a:solidFill>
                <a:effectLst/>
                <a:latin typeface="-apple-system"/>
              </a:rPr>
              <a:t>đầu</a:t>
            </a:r>
            <a:r>
              <a:rPr lang="vi-VN" b="0" i="0" dirty="0">
                <a:solidFill>
                  <a:srgbClr val="17A2B8"/>
                </a:solidFill>
                <a:effectLst/>
                <a:latin typeface="-apple-system"/>
              </a:rPr>
              <a:t> </a:t>
            </a:r>
            <a:r>
              <a:rPr lang="vi-VN" b="0" i="0" dirty="0" err="1">
                <a:solidFill>
                  <a:srgbClr val="17A2B8"/>
                </a:solidFill>
                <a:effectLst/>
                <a:latin typeface="-apple-system"/>
              </a:rPr>
              <a:t>từ</a:t>
            </a:r>
            <a:r>
              <a:rPr lang="vi-VN" b="0" i="0" dirty="0">
                <a:solidFill>
                  <a:srgbClr val="17A2B8"/>
                </a:solidFill>
                <a:effectLst/>
                <a:latin typeface="-apple-system"/>
              </a:rPr>
              <a:t> </a:t>
            </a:r>
            <a:r>
              <a:rPr lang="vi-VN" b="0" i="0" dirty="0" err="1">
                <a:solidFill>
                  <a:srgbClr val="17A2B8"/>
                </a:solidFill>
                <a:effectLst/>
                <a:latin typeface="-apple-system"/>
              </a:rPr>
              <a:t>ký</a:t>
            </a:r>
            <a:r>
              <a:rPr lang="vi-VN" b="0" i="0" dirty="0">
                <a:solidFill>
                  <a:srgbClr val="17A2B8"/>
                </a:solidFill>
                <a:effectLst/>
                <a:latin typeface="-apple-system"/>
              </a:rPr>
              <a:t> </a:t>
            </a:r>
            <a:r>
              <a:rPr lang="vi-VN" b="0" i="0" dirty="0" err="1">
                <a:solidFill>
                  <a:srgbClr val="17A2B8"/>
                </a:solidFill>
                <a:effectLst/>
                <a:latin typeface="-apple-system"/>
              </a:rPr>
              <a:t>hiệu</a:t>
            </a:r>
            <a:r>
              <a:rPr lang="vi-VN" b="0" i="0" dirty="0">
                <a:solidFill>
                  <a:srgbClr val="17A2B8"/>
                </a:solidFill>
                <a:effectLst/>
                <a:latin typeface="-apple-system"/>
              </a:rPr>
              <a:t> // cho </a:t>
            </a:r>
            <a:r>
              <a:rPr lang="vi-VN" b="0" i="0" dirty="0" err="1">
                <a:solidFill>
                  <a:srgbClr val="17A2B8"/>
                </a:solidFill>
                <a:effectLst/>
                <a:latin typeface="-apple-system"/>
              </a:rPr>
              <a:t>đến</a:t>
            </a:r>
            <a:r>
              <a:rPr lang="vi-VN" b="0" i="0" dirty="0">
                <a:solidFill>
                  <a:srgbClr val="17A2B8"/>
                </a:solidFill>
                <a:effectLst/>
                <a:latin typeface="-apple-system"/>
              </a:rPr>
              <a:t> </a:t>
            </a:r>
            <a:r>
              <a:rPr lang="vi-VN" b="0" i="0" dirty="0" err="1">
                <a:solidFill>
                  <a:srgbClr val="17A2B8"/>
                </a:solidFill>
                <a:effectLst/>
                <a:latin typeface="-apple-system"/>
              </a:rPr>
              <a:t>hết</a:t>
            </a:r>
            <a:r>
              <a:rPr lang="vi-VN" b="0" i="0" dirty="0">
                <a:solidFill>
                  <a:srgbClr val="17A2B8"/>
                </a:solidFill>
                <a:effectLst/>
                <a:latin typeface="-apple-system"/>
              </a:rPr>
              <a:t> </a:t>
            </a:r>
            <a:r>
              <a:rPr lang="vi-VN" b="0" i="0" dirty="0" err="1">
                <a:solidFill>
                  <a:srgbClr val="17A2B8"/>
                </a:solidFill>
                <a:effectLst/>
                <a:latin typeface="-apple-system"/>
              </a:rPr>
              <a:t>dòng</a:t>
            </a:r>
            <a:r>
              <a:rPr lang="vi-VN" b="0" i="0" dirty="0">
                <a:solidFill>
                  <a:srgbClr val="17A2B8"/>
                </a:solidFill>
                <a:effectLst/>
                <a:latin typeface="-apple-system"/>
              </a:rPr>
              <a:t>. </a:t>
            </a:r>
            <a:r>
              <a:rPr lang="en-US" b="0" i="0" dirty="0" err="1">
                <a:solidFill>
                  <a:srgbClr val="17A2B8"/>
                </a:solidFill>
                <a:effectLst/>
                <a:latin typeface="-apple-system"/>
              </a:rPr>
              <a:t>Ví</a:t>
            </a:r>
            <a:r>
              <a:rPr lang="en-US" b="0" i="0" dirty="0">
                <a:solidFill>
                  <a:srgbClr val="17A2B8"/>
                </a:solidFill>
                <a:effectLst/>
                <a:latin typeface="-apple-system"/>
              </a:rPr>
              <a:t> </a:t>
            </a:r>
            <a:r>
              <a:rPr lang="en-US" b="0" i="0" dirty="0" err="1">
                <a:solidFill>
                  <a:srgbClr val="17A2B8"/>
                </a:solidFill>
                <a:effectLst/>
                <a:latin typeface="-apple-system"/>
              </a:rPr>
              <a:t>dụ</a:t>
            </a:r>
            <a:r>
              <a:rPr lang="en-US" b="0" i="0" dirty="0">
                <a:solidFill>
                  <a:srgbClr val="17A2B8"/>
                </a:solidFill>
                <a:effectLst/>
                <a:latin typeface="-apple-system"/>
              </a:rPr>
              <a:t>: </a:t>
            </a:r>
            <a:r>
              <a:rPr lang="en-US" dirty="0">
                <a:solidFill>
                  <a:srgbClr val="17A2B8"/>
                </a:solidFill>
                <a:latin typeface="-apple-system"/>
              </a:rPr>
              <a:t>// </a:t>
            </a:r>
            <a:r>
              <a:rPr lang="en-US" dirty="0" err="1">
                <a:solidFill>
                  <a:srgbClr val="17A2B8"/>
                </a:solidFill>
                <a:latin typeface="-apple-system"/>
              </a:rPr>
              <a:t>dòng</a:t>
            </a:r>
            <a:r>
              <a:rPr lang="en-US" dirty="0">
                <a:solidFill>
                  <a:srgbClr val="17A2B8"/>
                </a:solidFill>
                <a:latin typeface="-apple-system"/>
              </a:rPr>
              <a:t> </a:t>
            </a:r>
            <a:r>
              <a:rPr lang="en-US" dirty="0" err="1">
                <a:solidFill>
                  <a:srgbClr val="17A2B8"/>
                </a:solidFill>
                <a:latin typeface="-apple-system"/>
              </a:rPr>
              <a:t>chú</a:t>
            </a:r>
            <a:r>
              <a:rPr lang="en-US" dirty="0">
                <a:solidFill>
                  <a:srgbClr val="17A2B8"/>
                </a:solidFill>
                <a:latin typeface="-apple-system"/>
              </a:rPr>
              <a:t> </a:t>
            </a:r>
            <a:r>
              <a:rPr lang="en-US" dirty="0" err="1">
                <a:solidFill>
                  <a:srgbClr val="17A2B8"/>
                </a:solidFill>
                <a:latin typeface="-apple-system"/>
              </a:rPr>
              <a:t>thích</a:t>
            </a:r>
            <a:endParaRPr lang="en-US" b="0" i="0" dirty="0">
              <a:solidFill>
                <a:srgbClr val="17A2B8"/>
              </a:solidFill>
              <a:effectLst/>
              <a:latin typeface="-apple-system"/>
            </a:endParaRPr>
          </a:p>
          <a:p>
            <a:pPr>
              <a:buFont typeface="Wingdings" panose="05000000000000000000" pitchFamily="2" charset="2"/>
              <a:buChar char="Ø"/>
            </a:pPr>
            <a:r>
              <a:rPr lang="vi-VN" b="0" i="0" dirty="0">
                <a:solidFill>
                  <a:srgbClr val="17A2B8"/>
                </a:solidFill>
                <a:effectLst/>
                <a:latin typeface="-apple-system"/>
              </a:rPr>
              <a:t>Ghi </a:t>
            </a:r>
            <a:r>
              <a:rPr lang="vi-VN" b="0" i="0" dirty="0" err="1">
                <a:solidFill>
                  <a:srgbClr val="17A2B8"/>
                </a:solidFill>
                <a:effectLst/>
                <a:latin typeface="-apple-system"/>
              </a:rPr>
              <a:t>chú</a:t>
            </a:r>
            <a:r>
              <a:rPr lang="vi-VN" b="0" i="0" dirty="0">
                <a:solidFill>
                  <a:srgbClr val="17A2B8"/>
                </a:solidFill>
                <a:effectLst/>
                <a:latin typeface="-apple-system"/>
              </a:rPr>
              <a:t> trên </a:t>
            </a:r>
            <a:r>
              <a:rPr lang="vi-VN" b="0" i="0" dirty="0" err="1">
                <a:solidFill>
                  <a:srgbClr val="17A2B8"/>
                </a:solidFill>
                <a:effectLst/>
                <a:latin typeface="-apple-system"/>
              </a:rPr>
              <a:t>nhiều</a:t>
            </a:r>
            <a:r>
              <a:rPr lang="vi-VN" b="0" i="0" dirty="0">
                <a:solidFill>
                  <a:srgbClr val="17A2B8"/>
                </a:solidFill>
                <a:effectLst/>
                <a:latin typeface="-apple-system"/>
              </a:rPr>
              <a:t> </a:t>
            </a:r>
            <a:r>
              <a:rPr lang="vi-VN" b="0" i="0" dirty="0" err="1">
                <a:solidFill>
                  <a:srgbClr val="17A2B8"/>
                </a:solidFill>
                <a:effectLst/>
                <a:latin typeface="-apple-system"/>
              </a:rPr>
              <a:t>dòng</a:t>
            </a:r>
            <a:endParaRPr lang="vi-VN" b="0" i="0" dirty="0">
              <a:solidFill>
                <a:srgbClr val="17A2B8"/>
              </a:solidFill>
              <a:effectLst/>
              <a:latin typeface="-apple-system"/>
            </a:endParaRPr>
          </a:p>
          <a:p>
            <a:r>
              <a:rPr lang="en-US" dirty="0">
                <a:solidFill>
                  <a:srgbClr val="17A2B8"/>
                </a:solidFill>
                <a:latin typeface="-apple-system"/>
              </a:rPr>
              <a:t>/*</a:t>
            </a:r>
            <a:r>
              <a:rPr lang="en-US" dirty="0" err="1">
                <a:solidFill>
                  <a:srgbClr val="17A2B8"/>
                </a:solidFill>
                <a:latin typeface="-apple-system"/>
              </a:rPr>
              <a:t>Đoạn</a:t>
            </a:r>
            <a:r>
              <a:rPr lang="en-US" dirty="0">
                <a:solidFill>
                  <a:srgbClr val="17A2B8"/>
                </a:solidFill>
                <a:latin typeface="-apple-system"/>
              </a:rPr>
              <a:t> </a:t>
            </a:r>
            <a:r>
              <a:rPr lang="en-US" dirty="0" err="1">
                <a:solidFill>
                  <a:srgbClr val="17A2B8"/>
                </a:solidFill>
                <a:latin typeface="-apple-system"/>
              </a:rPr>
              <a:t>chú</a:t>
            </a:r>
            <a:r>
              <a:rPr lang="en-US" dirty="0">
                <a:solidFill>
                  <a:srgbClr val="17A2B8"/>
                </a:solidFill>
                <a:latin typeface="-apple-system"/>
              </a:rPr>
              <a:t> </a:t>
            </a:r>
            <a:r>
              <a:rPr lang="en-US" dirty="0" err="1">
                <a:solidFill>
                  <a:srgbClr val="17A2B8"/>
                </a:solidFill>
                <a:latin typeface="-apple-system"/>
              </a:rPr>
              <a:t>thích</a:t>
            </a:r>
            <a:r>
              <a:rPr lang="en-US" dirty="0">
                <a:solidFill>
                  <a:srgbClr val="17A2B8"/>
                </a:solidFill>
                <a:latin typeface="-apple-system"/>
              </a:rPr>
              <a:t> */</a:t>
            </a:r>
            <a:endParaRPr lang="vi-VN" b="0" i="0" dirty="0">
              <a:solidFill>
                <a:srgbClr val="17A2B8"/>
              </a:solidFill>
              <a:effectLst/>
              <a:latin typeface="-apple-system"/>
            </a:endParaRPr>
          </a:p>
        </p:txBody>
      </p:sp>
    </p:spTree>
    <p:extLst>
      <p:ext uri="{BB962C8B-B14F-4D97-AF65-F5344CB8AC3E}">
        <p14:creationId xmlns:p14="http://schemas.microsoft.com/office/powerpoint/2010/main" val="701905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29F43-013B-0EA9-7E1A-F1989B00EC20}"/>
              </a:ext>
            </a:extLst>
          </p:cNvPr>
          <p:cNvSpPr>
            <a:spLocks noGrp="1"/>
          </p:cNvSpPr>
          <p:nvPr>
            <p:ph type="title"/>
          </p:nvPr>
        </p:nvSpPr>
        <p:spPr/>
        <p:txBody>
          <a:bodyPr/>
          <a:lstStyle/>
          <a:p>
            <a:r>
              <a:rPr lang="en-US" b="0" i="0" dirty="0">
                <a:solidFill>
                  <a:srgbClr val="009688"/>
                </a:solidFill>
                <a:effectLst/>
                <a:latin typeface="-apple-system"/>
              </a:rPr>
              <a:t>b. </a:t>
            </a:r>
            <a:r>
              <a:rPr lang="en-US" b="0" i="0" dirty="0" err="1">
                <a:solidFill>
                  <a:srgbClr val="009688"/>
                </a:solidFill>
                <a:effectLst/>
                <a:latin typeface="-apple-system"/>
              </a:rPr>
              <a:t>Biến</a:t>
            </a:r>
            <a:r>
              <a:rPr lang="en-US" b="0" i="0" dirty="0">
                <a:solidFill>
                  <a:srgbClr val="009688"/>
                </a:solidFill>
                <a:effectLst/>
                <a:latin typeface="-apple-system"/>
              </a:rPr>
              <a:t> </a:t>
            </a:r>
            <a:r>
              <a:rPr lang="en-US" b="0" i="0" dirty="0" err="1">
                <a:solidFill>
                  <a:srgbClr val="009688"/>
                </a:solidFill>
                <a:effectLst/>
                <a:latin typeface="-apple-system"/>
              </a:rPr>
              <a:t>trong</a:t>
            </a:r>
            <a:r>
              <a:rPr lang="en-US" b="0" i="0" dirty="0">
                <a:solidFill>
                  <a:srgbClr val="009688"/>
                </a:solidFill>
                <a:effectLst/>
                <a:latin typeface="-apple-system"/>
              </a:rPr>
              <a:t> C#</a:t>
            </a:r>
            <a:endParaRPr lang="en-US" dirty="0"/>
          </a:p>
        </p:txBody>
      </p:sp>
      <p:sp>
        <p:nvSpPr>
          <p:cNvPr id="3" name="Content Placeholder 2">
            <a:extLst>
              <a:ext uri="{FF2B5EF4-FFF2-40B4-BE49-F238E27FC236}">
                <a16:creationId xmlns:a16="http://schemas.microsoft.com/office/drawing/2014/main" id="{D7CB5B21-0B51-C961-0199-275617893EE1}"/>
              </a:ext>
            </a:extLst>
          </p:cNvPr>
          <p:cNvSpPr>
            <a:spLocks noGrp="1"/>
          </p:cNvSpPr>
          <p:nvPr>
            <p:ph idx="1"/>
          </p:nvPr>
        </p:nvSpPr>
        <p:spPr/>
        <p:txBody>
          <a:bodyPr/>
          <a:lstStyle/>
          <a:p>
            <a:r>
              <a:rPr lang="vi-VN" dirty="0" err="1"/>
              <a:t>Biến</a:t>
            </a:r>
            <a:r>
              <a:rPr lang="vi-VN" dirty="0"/>
              <a:t> </a:t>
            </a:r>
            <a:r>
              <a:rPr lang="vi-VN" dirty="0" err="1"/>
              <a:t>dùng</a:t>
            </a:r>
            <a:r>
              <a:rPr lang="vi-VN" dirty="0"/>
              <a:t> </a:t>
            </a:r>
            <a:r>
              <a:rPr lang="vi-VN" dirty="0" err="1"/>
              <a:t>để</a:t>
            </a:r>
            <a:r>
              <a:rPr lang="vi-VN" dirty="0"/>
              <a:t> lưu </a:t>
            </a:r>
            <a:r>
              <a:rPr lang="vi-VN" dirty="0" err="1"/>
              <a:t>các</a:t>
            </a:r>
            <a:r>
              <a:rPr lang="vi-VN" dirty="0"/>
              <a:t> </a:t>
            </a:r>
            <a:r>
              <a:rPr lang="vi-VN" dirty="0" err="1"/>
              <a:t>giá</a:t>
            </a:r>
            <a:r>
              <a:rPr lang="vi-VN" dirty="0"/>
              <a:t> </a:t>
            </a:r>
            <a:r>
              <a:rPr lang="vi-VN" dirty="0" err="1"/>
              <a:t>trị</a:t>
            </a:r>
            <a:r>
              <a:rPr lang="vi-VN" dirty="0"/>
              <a:t> </a:t>
            </a:r>
            <a:r>
              <a:rPr lang="vi-VN" dirty="0" err="1"/>
              <a:t>dữ</a:t>
            </a:r>
            <a:r>
              <a:rPr lang="vi-VN" dirty="0"/>
              <a:t> </a:t>
            </a:r>
            <a:r>
              <a:rPr lang="vi-VN" dirty="0" err="1"/>
              <a:t>liệu</a:t>
            </a:r>
            <a:r>
              <a:rPr lang="vi-VN" dirty="0"/>
              <a:t> </a:t>
            </a:r>
            <a:r>
              <a:rPr lang="vi-VN" dirty="0" err="1"/>
              <a:t>vào</a:t>
            </a:r>
            <a:r>
              <a:rPr lang="vi-VN" dirty="0"/>
              <a:t> </a:t>
            </a:r>
            <a:r>
              <a:rPr lang="vi-VN" dirty="0" err="1"/>
              <a:t>bộ</a:t>
            </a:r>
            <a:r>
              <a:rPr lang="vi-VN" dirty="0"/>
              <a:t> </a:t>
            </a:r>
            <a:r>
              <a:rPr lang="vi-VN" dirty="0" err="1"/>
              <a:t>nhớ</a:t>
            </a:r>
            <a:r>
              <a:rPr lang="vi-VN" dirty="0"/>
              <a:t>, </a:t>
            </a:r>
            <a:r>
              <a:rPr lang="vi-VN" dirty="0" err="1"/>
              <a:t>giá</a:t>
            </a:r>
            <a:r>
              <a:rPr lang="vi-VN" dirty="0"/>
              <a:t> </a:t>
            </a:r>
            <a:r>
              <a:rPr lang="vi-VN" dirty="0" err="1"/>
              <a:t>trị</a:t>
            </a:r>
            <a:r>
              <a:rPr lang="vi-VN" dirty="0"/>
              <a:t> lưu </a:t>
            </a:r>
            <a:r>
              <a:rPr lang="vi-VN" dirty="0" err="1"/>
              <a:t>trữ</a:t>
            </a:r>
            <a:r>
              <a:rPr lang="vi-VN" dirty="0"/>
              <a:t> </a:t>
            </a:r>
            <a:r>
              <a:rPr lang="vi-VN" dirty="0" err="1"/>
              <a:t>vào</a:t>
            </a:r>
            <a:r>
              <a:rPr lang="vi-VN" dirty="0"/>
              <a:t> </a:t>
            </a:r>
            <a:r>
              <a:rPr lang="vi-VN" dirty="0" err="1"/>
              <a:t>đó</a:t>
            </a:r>
            <a:r>
              <a:rPr lang="vi-VN" dirty="0"/>
              <a:t> </a:t>
            </a:r>
            <a:r>
              <a:rPr lang="vi-VN" dirty="0" err="1"/>
              <a:t>có</a:t>
            </a:r>
            <a:r>
              <a:rPr lang="vi-VN" dirty="0"/>
              <a:t> </a:t>
            </a:r>
            <a:r>
              <a:rPr lang="vi-VN" dirty="0" err="1"/>
              <a:t>thể</a:t>
            </a:r>
            <a:r>
              <a:rPr lang="vi-VN" dirty="0"/>
              <a:t> </a:t>
            </a:r>
            <a:r>
              <a:rPr lang="vi-VN" dirty="0" err="1"/>
              <a:t>đọc</a:t>
            </a:r>
            <a:r>
              <a:rPr lang="vi-VN" dirty="0"/>
              <a:t> </a:t>
            </a:r>
            <a:r>
              <a:rPr lang="vi-VN" dirty="0" err="1"/>
              <a:t>và</a:t>
            </a:r>
            <a:r>
              <a:rPr lang="vi-VN" dirty="0"/>
              <a:t> thay </a:t>
            </a:r>
            <a:r>
              <a:rPr lang="vi-VN" dirty="0" err="1"/>
              <a:t>đổi</a:t>
            </a:r>
            <a:r>
              <a:rPr lang="vi-VN" dirty="0"/>
              <a:t> </a:t>
            </a:r>
            <a:r>
              <a:rPr lang="vi-VN" dirty="0" err="1"/>
              <a:t>bởi</a:t>
            </a:r>
            <a:r>
              <a:rPr lang="vi-VN" dirty="0"/>
              <a:t> chương </a:t>
            </a:r>
            <a:r>
              <a:rPr lang="vi-VN" dirty="0" err="1"/>
              <a:t>trình</a:t>
            </a:r>
            <a:r>
              <a:rPr lang="vi-VN" dirty="0"/>
              <a:t> C# khi </a:t>
            </a:r>
            <a:r>
              <a:rPr lang="vi-VN" dirty="0" err="1"/>
              <a:t>nó</a:t>
            </a:r>
            <a:r>
              <a:rPr lang="vi-VN" dirty="0"/>
              <a:t> </a:t>
            </a:r>
            <a:r>
              <a:rPr lang="vi-VN" dirty="0" err="1"/>
              <a:t>chạy</a:t>
            </a:r>
            <a:r>
              <a:rPr lang="vi-VN" dirty="0"/>
              <a:t>. </a:t>
            </a:r>
            <a:r>
              <a:rPr lang="vi-VN" dirty="0" err="1"/>
              <a:t>Để</a:t>
            </a:r>
            <a:r>
              <a:rPr lang="vi-VN" dirty="0"/>
              <a:t> </a:t>
            </a:r>
            <a:r>
              <a:rPr lang="vi-VN" dirty="0" err="1"/>
              <a:t>dùng</a:t>
            </a:r>
            <a:r>
              <a:rPr lang="vi-VN" dirty="0"/>
              <a:t> </a:t>
            </a:r>
            <a:r>
              <a:rPr lang="vi-VN" dirty="0" err="1"/>
              <a:t>biến</a:t>
            </a:r>
            <a:r>
              <a:rPr lang="vi-VN" dirty="0"/>
              <a:t>, </a:t>
            </a:r>
            <a:r>
              <a:rPr lang="vi-VN" dirty="0" err="1"/>
              <a:t>trước</a:t>
            </a:r>
            <a:r>
              <a:rPr lang="vi-VN" dirty="0"/>
              <a:t> tiên </a:t>
            </a:r>
            <a:r>
              <a:rPr lang="vi-VN" dirty="0" err="1"/>
              <a:t>phải</a:t>
            </a:r>
            <a:r>
              <a:rPr lang="vi-VN" dirty="0"/>
              <a:t> </a:t>
            </a:r>
            <a:r>
              <a:rPr lang="vi-VN" dirty="0" err="1"/>
              <a:t>đặt</a:t>
            </a:r>
            <a:r>
              <a:rPr lang="vi-VN" dirty="0"/>
              <a:t> </a:t>
            </a:r>
            <a:r>
              <a:rPr lang="vi-VN" dirty="0" err="1"/>
              <a:t>một</a:t>
            </a:r>
            <a:r>
              <a:rPr lang="vi-VN" dirty="0"/>
              <a:t> </a:t>
            </a:r>
            <a:r>
              <a:rPr lang="vi-VN" dirty="0" err="1"/>
              <a:t>cái</a:t>
            </a:r>
            <a:r>
              <a:rPr lang="vi-VN" dirty="0"/>
              <a:t> tên cho </a:t>
            </a:r>
            <a:r>
              <a:rPr lang="vi-VN" dirty="0" err="1"/>
              <a:t>biến</a:t>
            </a:r>
            <a:r>
              <a:rPr lang="vi-VN" dirty="0"/>
              <a:t> </a:t>
            </a:r>
            <a:r>
              <a:rPr lang="vi-VN" dirty="0" err="1"/>
              <a:t>và</a:t>
            </a:r>
            <a:r>
              <a:rPr lang="vi-VN" dirty="0"/>
              <a:t> </a:t>
            </a:r>
            <a:r>
              <a:rPr lang="vi-VN" dirty="0" err="1"/>
              <a:t>chỉ</a:t>
            </a:r>
            <a:r>
              <a:rPr lang="vi-VN" dirty="0"/>
              <a:t> ra </a:t>
            </a:r>
            <a:r>
              <a:rPr lang="vi-VN" dirty="0" err="1"/>
              <a:t>biến</a:t>
            </a:r>
            <a:r>
              <a:rPr lang="vi-VN" dirty="0"/>
              <a:t> </a:t>
            </a:r>
            <a:r>
              <a:rPr lang="vi-VN" dirty="0" err="1"/>
              <a:t>đó</a:t>
            </a:r>
            <a:r>
              <a:rPr lang="vi-VN" dirty="0"/>
              <a:t> </a:t>
            </a:r>
            <a:r>
              <a:rPr lang="vi-VN" dirty="0" err="1"/>
              <a:t>sẽ</a:t>
            </a:r>
            <a:r>
              <a:rPr lang="vi-VN" dirty="0"/>
              <a:t> lưu </a:t>
            </a:r>
            <a:r>
              <a:rPr lang="vi-VN" dirty="0" err="1"/>
              <a:t>loại</a:t>
            </a:r>
            <a:r>
              <a:rPr lang="vi-VN" dirty="0"/>
              <a:t> </a:t>
            </a:r>
            <a:r>
              <a:rPr lang="vi-VN" dirty="0" err="1"/>
              <a:t>dữ</a:t>
            </a:r>
            <a:r>
              <a:rPr lang="vi-VN" dirty="0"/>
              <a:t> </a:t>
            </a:r>
            <a:r>
              <a:rPr lang="vi-VN" dirty="0" err="1"/>
              <a:t>liệu</a:t>
            </a:r>
            <a:r>
              <a:rPr lang="vi-VN" dirty="0"/>
              <a:t> </a:t>
            </a:r>
            <a:r>
              <a:rPr lang="vi-VN" dirty="0" err="1"/>
              <a:t>nào</a:t>
            </a:r>
            <a:r>
              <a:rPr lang="vi-VN" dirty="0"/>
              <a:t> (</a:t>
            </a:r>
            <a:r>
              <a:rPr lang="vi-VN" dirty="0" err="1"/>
              <a:t>số</a:t>
            </a:r>
            <a:r>
              <a:rPr lang="vi-VN" dirty="0"/>
              <a:t> nguyên - </a:t>
            </a:r>
            <a:r>
              <a:rPr lang="vi-VN" dirty="0" err="1"/>
              <a:t>int</a:t>
            </a:r>
            <a:r>
              <a:rPr lang="vi-VN" dirty="0"/>
              <a:t>, </a:t>
            </a:r>
            <a:r>
              <a:rPr lang="vi-VN" dirty="0" err="1"/>
              <a:t>số</a:t>
            </a:r>
            <a:r>
              <a:rPr lang="vi-VN" dirty="0"/>
              <a:t> </a:t>
            </a:r>
            <a:r>
              <a:rPr lang="vi-VN" dirty="0" err="1"/>
              <a:t>thực</a:t>
            </a:r>
            <a:r>
              <a:rPr lang="vi-VN" dirty="0"/>
              <a:t> </a:t>
            </a:r>
            <a:r>
              <a:rPr lang="vi-VN" dirty="0" err="1"/>
              <a:t>double</a:t>
            </a:r>
            <a:r>
              <a:rPr lang="vi-VN" dirty="0"/>
              <a:t>, </a:t>
            </a:r>
            <a:r>
              <a:rPr lang="vi-VN" dirty="0" err="1"/>
              <a:t>chuỗi</a:t>
            </a:r>
            <a:r>
              <a:rPr lang="vi-VN" dirty="0"/>
              <a:t> - </a:t>
            </a:r>
            <a:r>
              <a:rPr lang="vi-VN" dirty="0" err="1"/>
              <a:t>string</a:t>
            </a:r>
            <a:r>
              <a:rPr lang="vi-VN" dirty="0"/>
              <a:t> ...), </a:t>
            </a:r>
            <a:r>
              <a:rPr lang="vi-VN" dirty="0" err="1"/>
              <a:t>việc</a:t>
            </a:r>
            <a:r>
              <a:rPr lang="vi-VN" dirty="0"/>
              <a:t> </a:t>
            </a:r>
            <a:r>
              <a:rPr lang="vi-VN" dirty="0" err="1"/>
              <a:t>này</a:t>
            </a:r>
            <a:r>
              <a:rPr lang="vi-VN" dirty="0"/>
              <a:t> </a:t>
            </a:r>
            <a:r>
              <a:rPr lang="vi-VN" dirty="0" err="1"/>
              <a:t>gọi</a:t>
            </a:r>
            <a:r>
              <a:rPr lang="vi-VN" dirty="0"/>
              <a:t> </a:t>
            </a:r>
            <a:r>
              <a:rPr lang="vi-VN" dirty="0" err="1"/>
              <a:t>là</a:t>
            </a:r>
            <a:r>
              <a:rPr lang="vi-VN" dirty="0"/>
              <a:t> khai </a:t>
            </a:r>
            <a:r>
              <a:rPr lang="vi-VN" dirty="0" err="1"/>
              <a:t>báo</a:t>
            </a:r>
            <a:r>
              <a:rPr lang="vi-VN" dirty="0"/>
              <a:t> </a:t>
            </a:r>
            <a:r>
              <a:rPr lang="vi-VN" dirty="0" err="1"/>
              <a:t>biến</a:t>
            </a:r>
            <a:endParaRPr lang="vi-VN" dirty="0"/>
          </a:p>
          <a:p>
            <a:endParaRPr lang="vi-VN" dirty="0"/>
          </a:p>
          <a:p>
            <a:r>
              <a:rPr lang="vi-VN" dirty="0"/>
              <a:t>Khi </a:t>
            </a:r>
            <a:r>
              <a:rPr lang="vi-VN" dirty="0" err="1"/>
              <a:t>đặt</a:t>
            </a:r>
            <a:r>
              <a:rPr lang="vi-VN" dirty="0"/>
              <a:t> tên </a:t>
            </a:r>
            <a:r>
              <a:rPr lang="vi-VN" dirty="0" err="1"/>
              <a:t>biến</a:t>
            </a:r>
            <a:r>
              <a:rPr lang="vi-VN" dirty="0"/>
              <a:t> C# </a:t>
            </a:r>
            <a:r>
              <a:rPr lang="vi-VN" dirty="0" err="1"/>
              <a:t>cần</a:t>
            </a:r>
            <a:r>
              <a:rPr lang="vi-VN" dirty="0"/>
              <a:t> lưu ý: tên </a:t>
            </a:r>
            <a:r>
              <a:rPr lang="vi-VN" dirty="0" err="1"/>
              <a:t>biến</a:t>
            </a:r>
            <a:r>
              <a:rPr lang="vi-VN" dirty="0"/>
              <a:t> </a:t>
            </a:r>
            <a:r>
              <a:rPr lang="vi-VN" dirty="0" err="1"/>
              <a:t>có</a:t>
            </a:r>
            <a:r>
              <a:rPr lang="vi-VN" dirty="0"/>
              <a:t> </a:t>
            </a:r>
            <a:r>
              <a:rPr lang="vi-VN" dirty="0" err="1"/>
              <a:t>thể</a:t>
            </a:r>
            <a:r>
              <a:rPr lang="vi-VN" dirty="0"/>
              <a:t> </a:t>
            </a:r>
            <a:r>
              <a:rPr lang="vi-VN" dirty="0" err="1"/>
              <a:t>chứa</a:t>
            </a:r>
            <a:r>
              <a:rPr lang="vi-VN" dirty="0"/>
              <a:t> </a:t>
            </a:r>
            <a:r>
              <a:rPr lang="vi-VN" dirty="0" err="1"/>
              <a:t>chữ</a:t>
            </a:r>
            <a:r>
              <a:rPr lang="vi-VN" dirty="0"/>
              <a:t>, </a:t>
            </a:r>
            <a:r>
              <a:rPr lang="vi-VN" dirty="0" err="1"/>
              <a:t>số</a:t>
            </a:r>
            <a:r>
              <a:rPr lang="vi-VN" dirty="0"/>
              <a:t> </a:t>
            </a:r>
            <a:r>
              <a:rPr lang="vi-VN" dirty="0" err="1"/>
              <a:t>và</a:t>
            </a:r>
            <a:r>
              <a:rPr lang="vi-VN" dirty="0"/>
              <a:t> </a:t>
            </a:r>
            <a:r>
              <a:rPr lang="vi-VN" dirty="0" err="1"/>
              <a:t>ký</a:t>
            </a:r>
            <a:r>
              <a:rPr lang="vi-VN" dirty="0"/>
              <a:t> </a:t>
            </a:r>
            <a:r>
              <a:rPr lang="vi-VN" dirty="0" err="1"/>
              <a:t>tự</a:t>
            </a:r>
            <a:r>
              <a:rPr lang="vi-VN" dirty="0"/>
              <a:t> _ nhưng </a:t>
            </a:r>
            <a:r>
              <a:rPr lang="vi-VN" dirty="0" err="1"/>
              <a:t>ký</a:t>
            </a:r>
            <a:r>
              <a:rPr lang="vi-VN" dirty="0"/>
              <a:t> </a:t>
            </a:r>
            <a:r>
              <a:rPr lang="vi-VN" dirty="0" err="1"/>
              <a:t>tự</a:t>
            </a:r>
            <a:r>
              <a:rPr lang="vi-VN" dirty="0"/>
              <a:t> </a:t>
            </a:r>
            <a:r>
              <a:rPr lang="vi-VN" dirty="0" err="1"/>
              <a:t>đầu</a:t>
            </a:r>
            <a:r>
              <a:rPr lang="vi-VN" dirty="0"/>
              <a:t> tiên </a:t>
            </a:r>
            <a:r>
              <a:rPr lang="vi-VN" dirty="0" err="1"/>
              <a:t>của</a:t>
            </a:r>
            <a:r>
              <a:rPr lang="vi-VN" dirty="0"/>
              <a:t> tên </a:t>
            </a:r>
            <a:r>
              <a:rPr lang="vi-VN" dirty="0" err="1"/>
              <a:t>biến</a:t>
            </a:r>
            <a:r>
              <a:rPr lang="vi-VN" dirty="0"/>
              <a:t> không </a:t>
            </a:r>
            <a:r>
              <a:rPr lang="vi-VN" dirty="0" err="1"/>
              <a:t>được</a:t>
            </a:r>
            <a:r>
              <a:rPr lang="vi-VN" dirty="0"/>
              <a:t> </a:t>
            </a:r>
            <a:r>
              <a:rPr lang="vi-VN" dirty="0" err="1"/>
              <a:t>dùng</a:t>
            </a:r>
            <a:r>
              <a:rPr lang="vi-VN" dirty="0"/>
              <a:t> </a:t>
            </a:r>
            <a:r>
              <a:rPr lang="vi-VN" dirty="0" err="1"/>
              <a:t>số</a:t>
            </a:r>
            <a:r>
              <a:rPr lang="vi-VN" dirty="0"/>
              <a:t>, tên </a:t>
            </a:r>
            <a:r>
              <a:rPr lang="vi-VN" dirty="0" err="1"/>
              <a:t>biến</a:t>
            </a:r>
            <a:r>
              <a:rPr lang="vi-VN" dirty="0"/>
              <a:t> trong C# </a:t>
            </a:r>
            <a:r>
              <a:rPr lang="vi-VN" dirty="0" err="1"/>
              <a:t>có</a:t>
            </a:r>
            <a:r>
              <a:rPr lang="vi-VN" dirty="0"/>
              <a:t> phân </a:t>
            </a:r>
            <a:r>
              <a:rPr lang="vi-VN" dirty="0" err="1"/>
              <a:t>biệt</a:t>
            </a:r>
            <a:r>
              <a:rPr lang="vi-VN" dirty="0"/>
              <a:t> </a:t>
            </a:r>
            <a:r>
              <a:rPr lang="vi-VN" dirty="0" err="1"/>
              <a:t>chữ</a:t>
            </a:r>
            <a:r>
              <a:rPr lang="vi-VN" dirty="0"/>
              <a:t> hoa </a:t>
            </a:r>
            <a:r>
              <a:rPr lang="vi-VN" dirty="0" err="1"/>
              <a:t>chữ</a:t>
            </a:r>
            <a:r>
              <a:rPr lang="vi-VN" dirty="0"/>
              <a:t> </a:t>
            </a:r>
            <a:r>
              <a:rPr lang="vi-VN" dirty="0" err="1"/>
              <a:t>thường</a:t>
            </a:r>
            <a:r>
              <a:rPr lang="vi-VN" dirty="0"/>
              <a:t>. </a:t>
            </a:r>
            <a:r>
              <a:rPr lang="vi-VN" dirty="0" err="1"/>
              <a:t>Hãy</a:t>
            </a:r>
            <a:r>
              <a:rPr lang="vi-VN" dirty="0"/>
              <a:t> </a:t>
            </a:r>
            <a:r>
              <a:rPr lang="vi-VN" dirty="0" err="1"/>
              <a:t>đặt</a:t>
            </a:r>
            <a:r>
              <a:rPr lang="vi-VN" dirty="0"/>
              <a:t> tên </a:t>
            </a:r>
            <a:r>
              <a:rPr lang="vi-VN" dirty="0" err="1"/>
              <a:t>biến</a:t>
            </a:r>
            <a:r>
              <a:rPr lang="vi-VN" dirty="0"/>
              <a:t> sao cho </a:t>
            </a:r>
            <a:r>
              <a:rPr lang="vi-VN" dirty="0" err="1"/>
              <a:t>nó</a:t>
            </a:r>
            <a:r>
              <a:rPr lang="vi-VN" dirty="0"/>
              <a:t> </a:t>
            </a:r>
            <a:r>
              <a:rPr lang="vi-VN" dirty="0" err="1"/>
              <a:t>ngắn</a:t>
            </a:r>
            <a:r>
              <a:rPr lang="vi-VN" dirty="0"/>
              <a:t> </a:t>
            </a:r>
            <a:r>
              <a:rPr lang="vi-VN" dirty="0" err="1"/>
              <a:t>gọn</a:t>
            </a:r>
            <a:r>
              <a:rPr lang="vi-VN" dirty="0"/>
              <a:t> nhưng </a:t>
            </a:r>
            <a:r>
              <a:rPr lang="vi-VN" dirty="0" err="1"/>
              <a:t>gọi</a:t>
            </a:r>
            <a:r>
              <a:rPr lang="vi-VN" dirty="0"/>
              <a:t> </a:t>
            </a:r>
            <a:r>
              <a:rPr lang="vi-VN" dirty="0" err="1"/>
              <a:t>nhớ</a:t>
            </a:r>
            <a:r>
              <a:rPr lang="vi-VN" dirty="0"/>
              <a:t> </a:t>
            </a:r>
            <a:r>
              <a:rPr lang="vi-VN" dirty="0" err="1"/>
              <a:t>đến</a:t>
            </a:r>
            <a:r>
              <a:rPr lang="vi-VN" dirty="0"/>
              <a:t> thông tin </a:t>
            </a:r>
            <a:r>
              <a:rPr lang="vi-VN" dirty="0" err="1"/>
              <a:t>dữ</a:t>
            </a:r>
            <a:r>
              <a:rPr lang="vi-VN" dirty="0"/>
              <a:t> </a:t>
            </a:r>
            <a:r>
              <a:rPr lang="vi-VN" dirty="0" err="1"/>
              <a:t>liệu</a:t>
            </a:r>
            <a:r>
              <a:rPr lang="vi-VN" dirty="0"/>
              <a:t> </a:t>
            </a:r>
            <a:r>
              <a:rPr lang="vi-VN" dirty="0" err="1"/>
              <a:t>biến</a:t>
            </a:r>
            <a:r>
              <a:rPr lang="vi-VN" dirty="0"/>
              <a:t> </a:t>
            </a:r>
            <a:r>
              <a:rPr lang="vi-VN" dirty="0" err="1"/>
              <a:t>đó</a:t>
            </a:r>
            <a:r>
              <a:rPr lang="vi-VN" dirty="0"/>
              <a:t> lưu </a:t>
            </a:r>
            <a:r>
              <a:rPr lang="vi-VN" dirty="0" err="1"/>
              <a:t>trữ</a:t>
            </a:r>
            <a:r>
              <a:rPr lang="vi-VN" dirty="0"/>
              <a:t>. </a:t>
            </a:r>
            <a:r>
              <a:rPr lang="vi-VN" dirty="0" err="1"/>
              <a:t>Ví</a:t>
            </a:r>
            <a:r>
              <a:rPr lang="vi-VN" dirty="0"/>
              <a:t> </a:t>
            </a:r>
            <a:r>
              <a:rPr lang="vi-VN" dirty="0" err="1"/>
              <a:t>dụ</a:t>
            </a:r>
            <a:r>
              <a:rPr lang="vi-VN" dirty="0"/>
              <a:t> như </a:t>
            </a:r>
            <a:r>
              <a:rPr lang="vi-VN" dirty="0" err="1"/>
              <a:t>studentName</a:t>
            </a:r>
            <a:r>
              <a:rPr lang="vi-VN" dirty="0"/>
              <a:t>, </a:t>
            </a:r>
            <a:r>
              <a:rPr lang="vi-VN" dirty="0" err="1"/>
              <a:t>studentAge</a:t>
            </a:r>
            <a:r>
              <a:rPr lang="vi-VN" dirty="0"/>
              <a:t> ... </a:t>
            </a:r>
            <a:r>
              <a:rPr lang="vi-VN" dirty="0" err="1"/>
              <a:t>sẽ</a:t>
            </a:r>
            <a:r>
              <a:rPr lang="vi-VN" dirty="0"/>
              <a:t> hay hơn </a:t>
            </a:r>
            <a:r>
              <a:rPr lang="vi-VN" dirty="0" err="1"/>
              <a:t>abc</a:t>
            </a:r>
            <a:r>
              <a:rPr lang="vi-VN" dirty="0"/>
              <a:t>, </a:t>
            </a:r>
            <a:r>
              <a:rPr lang="vi-VN" dirty="0" err="1"/>
              <a:t>xyz</a:t>
            </a:r>
            <a:r>
              <a:rPr lang="vi-VN" dirty="0"/>
              <a:t> ... </a:t>
            </a:r>
            <a:r>
              <a:rPr lang="vi-VN" dirty="0" err="1"/>
              <a:t>Ngoài</a:t>
            </a:r>
            <a:r>
              <a:rPr lang="vi-VN" dirty="0"/>
              <a:t> ra </a:t>
            </a:r>
            <a:r>
              <a:rPr lang="vi-VN" dirty="0" err="1"/>
              <a:t>cũng</a:t>
            </a:r>
            <a:r>
              <a:rPr lang="vi-VN" dirty="0"/>
              <a:t> không </a:t>
            </a:r>
            <a:r>
              <a:rPr lang="vi-VN" dirty="0" err="1"/>
              <a:t>đặt</a:t>
            </a:r>
            <a:r>
              <a:rPr lang="vi-VN" dirty="0"/>
              <a:t> tên </a:t>
            </a:r>
            <a:r>
              <a:rPr lang="vi-VN" dirty="0" err="1"/>
              <a:t>biến</a:t>
            </a:r>
            <a:r>
              <a:rPr lang="vi-VN" dirty="0"/>
              <a:t> </a:t>
            </a:r>
            <a:r>
              <a:rPr lang="vi-VN" dirty="0" err="1"/>
              <a:t>trùng</a:t>
            </a:r>
            <a:r>
              <a:rPr lang="vi-VN" dirty="0"/>
              <a:t> </a:t>
            </a:r>
            <a:r>
              <a:rPr lang="vi-VN" dirty="0" err="1"/>
              <a:t>với</a:t>
            </a:r>
            <a:r>
              <a:rPr lang="vi-VN" dirty="0"/>
              <a:t> </a:t>
            </a:r>
            <a:r>
              <a:rPr lang="vi-VN" dirty="0" err="1"/>
              <a:t>những</a:t>
            </a:r>
            <a:r>
              <a:rPr lang="vi-VN" dirty="0"/>
              <a:t> </a:t>
            </a:r>
            <a:r>
              <a:rPr lang="vi-VN" dirty="0" err="1"/>
              <a:t>từ</a:t>
            </a:r>
            <a:r>
              <a:rPr lang="vi-VN" dirty="0"/>
              <a:t> </a:t>
            </a:r>
            <a:r>
              <a:rPr lang="vi-VN" dirty="0" err="1"/>
              <a:t>khóa</a:t>
            </a:r>
            <a:r>
              <a:rPr lang="vi-VN" dirty="0"/>
              <a:t> </a:t>
            </a:r>
            <a:r>
              <a:rPr lang="vi-VN" dirty="0" err="1"/>
              <a:t>dành</a:t>
            </a:r>
            <a:r>
              <a:rPr lang="vi-VN" dirty="0"/>
              <a:t> riêng cho câu </a:t>
            </a:r>
            <a:r>
              <a:rPr lang="vi-VN" dirty="0" err="1"/>
              <a:t>lệnh</a:t>
            </a:r>
            <a:r>
              <a:rPr lang="vi-VN" dirty="0"/>
              <a:t> C#</a:t>
            </a:r>
            <a:endParaRPr lang="en-US" dirty="0"/>
          </a:p>
        </p:txBody>
      </p:sp>
    </p:spTree>
    <p:extLst>
      <p:ext uri="{BB962C8B-B14F-4D97-AF65-F5344CB8AC3E}">
        <p14:creationId xmlns:p14="http://schemas.microsoft.com/office/powerpoint/2010/main" val="2335464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7BCE-9F36-E711-428B-D3156DBB51A6}"/>
              </a:ext>
            </a:extLst>
          </p:cNvPr>
          <p:cNvSpPr>
            <a:spLocks noGrp="1"/>
          </p:cNvSpPr>
          <p:nvPr>
            <p:ph type="title"/>
          </p:nvPr>
        </p:nvSpPr>
        <p:spPr>
          <a:xfrm>
            <a:off x="938254" y="217750"/>
            <a:ext cx="10058400" cy="534725"/>
          </a:xfrm>
        </p:spPr>
        <p:txBody>
          <a:bodyPr>
            <a:normAutofit fontScale="90000"/>
          </a:bodyPr>
          <a:lstStyle/>
          <a:p>
            <a:r>
              <a:rPr lang="en-US" b="1" i="0" dirty="0" err="1">
                <a:solidFill>
                  <a:srgbClr val="212529"/>
                </a:solidFill>
                <a:effectLst/>
                <a:latin typeface="-apple-system"/>
              </a:rPr>
              <a:t>Các</a:t>
            </a:r>
            <a:r>
              <a:rPr lang="en-US" b="1" i="0" dirty="0">
                <a:solidFill>
                  <a:srgbClr val="212529"/>
                </a:solidFill>
                <a:effectLst/>
                <a:latin typeface="-apple-system"/>
              </a:rPr>
              <a:t> </a:t>
            </a:r>
            <a:r>
              <a:rPr lang="en-US" b="1" i="0" dirty="0" err="1">
                <a:solidFill>
                  <a:srgbClr val="212529"/>
                </a:solidFill>
                <a:effectLst/>
                <a:latin typeface="-apple-system"/>
              </a:rPr>
              <a:t>từ</a:t>
            </a:r>
            <a:r>
              <a:rPr lang="en-US" b="1" i="0" dirty="0">
                <a:solidFill>
                  <a:srgbClr val="212529"/>
                </a:solidFill>
                <a:effectLst/>
                <a:latin typeface="-apple-system"/>
              </a:rPr>
              <a:t> </a:t>
            </a:r>
            <a:r>
              <a:rPr lang="en-US" b="1" i="0" dirty="0" err="1">
                <a:solidFill>
                  <a:srgbClr val="212529"/>
                </a:solidFill>
                <a:effectLst/>
                <a:latin typeface="-apple-system"/>
              </a:rPr>
              <a:t>khóa</a:t>
            </a:r>
            <a:r>
              <a:rPr lang="en-US" b="1" i="0" dirty="0">
                <a:solidFill>
                  <a:srgbClr val="212529"/>
                </a:solidFill>
                <a:effectLst/>
                <a:latin typeface="-apple-system"/>
              </a:rPr>
              <a:t> </a:t>
            </a:r>
            <a:r>
              <a:rPr lang="en-US" b="1" i="0" dirty="0" err="1">
                <a:solidFill>
                  <a:srgbClr val="212529"/>
                </a:solidFill>
                <a:effectLst/>
                <a:latin typeface="-apple-system"/>
              </a:rPr>
              <a:t>trong</a:t>
            </a:r>
            <a:r>
              <a:rPr lang="en-US" b="1" i="0" dirty="0">
                <a:solidFill>
                  <a:srgbClr val="212529"/>
                </a:solidFill>
                <a:effectLst/>
                <a:latin typeface="-apple-system"/>
              </a:rPr>
              <a:t> C#</a:t>
            </a:r>
            <a:endParaRPr lang="en-US" dirty="0"/>
          </a:p>
        </p:txBody>
      </p:sp>
      <p:pic>
        <p:nvPicPr>
          <p:cNvPr id="5" name="Picture 4">
            <a:extLst>
              <a:ext uri="{FF2B5EF4-FFF2-40B4-BE49-F238E27FC236}">
                <a16:creationId xmlns:a16="http://schemas.microsoft.com/office/drawing/2014/main" id="{B09A47A4-71AD-EE9D-8639-EDBF4DA5591F}"/>
              </a:ext>
            </a:extLst>
          </p:cNvPr>
          <p:cNvPicPr>
            <a:picLocks noChangeAspect="1"/>
          </p:cNvPicPr>
          <p:nvPr/>
        </p:nvPicPr>
        <p:blipFill>
          <a:blip r:embed="rId2"/>
          <a:stretch>
            <a:fillRect/>
          </a:stretch>
        </p:blipFill>
        <p:spPr>
          <a:xfrm>
            <a:off x="938254" y="752475"/>
            <a:ext cx="9134475" cy="5353050"/>
          </a:xfrm>
          <a:prstGeom prst="rect">
            <a:avLst/>
          </a:prstGeom>
        </p:spPr>
      </p:pic>
    </p:spTree>
    <p:extLst>
      <p:ext uri="{BB962C8B-B14F-4D97-AF65-F5344CB8AC3E}">
        <p14:creationId xmlns:p14="http://schemas.microsoft.com/office/powerpoint/2010/main" val="4162920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7605B-0746-083F-D31F-092B884F5B90}"/>
              </a:ext>
            </a:extLst>
          </p:cNvPr>
          <p:cNvSpPr>
            <a:spLocks noGrp="1"/>
          </p:cNvSpPr>
          <p:nvPr>
            <p:ph type="title"/>
          </p:nvPr>
        </p:nvSpPr>
        <p:spPr/>
        <p:txBody>
          <a:bodyPr/>
          <a:lstStyle/>
          <a:p>
            <a:r>
              <a:rPr lang="en-US" b="1" i="0" dirty="0" err="1">
                <a:solidFill>
                  <a:srgbClr val="B1154A"/>
                </a:solidFill>
                <a:effectLst/>
                <a:latin typeface="-apple-system"/>
              </a:rPr>
              <a:t>Khai</a:t>
            </a:r>
            <a:r>
              <a:rPr lang="en-US" b="1" i="0" dirty="0">
                <a:solidFill>
                  <a:srgbClr val="B1154A"/>
                </a:solidFill>
                <a:effectLst/>
                <a:latin typeface="-apple-system"/>
              </a:rPr>
              <a:t> </a:t>
            </a:r>
            <a:r>
              <a:rPr lang="en-US" b="1" i="0" dirty="0" err="1">
                <a:solidFill>
                  <a:srgbClr val="B1154A"/>
                </a:solidFill>
                <a:effectLst/>
                <a:latin typeface="-apple-system"/>
              </a:rPr>
              <a:t>báo</a:t>
            </a:r>
            <a:r>
              <a:rPr lang="en-US" b="1" i="0" dirty="0">
                <a:solidFill>
                  <a:srgbClr val="B1154A"/>
                </a:solidFill>
                <a:effectLst/>
                <a:latin typeface="-apple-system"/>
              </a:rPr>
              <a:t> </a:t>
            </a:r>
            <a:r>
              <a:rPr lang="en-US" b="1" i="0" dirty="0" err="1">
                <a:solidFill>
                  <a:srgbClr val="B1154A"/>
                </a:solidFill>
                <a:effectLst/>
                <a:latin typeface="-apple-system"/>
              </a:rPr>
              <a:t>biến</a:t>
            </a:r>
            <a:endParaRPr lang="en-US" dirty="0"/>
          </a:p>
        </p:txBody>
      </p:sp>
      <p:sp>
        <p:nvSpPr>
          <p:cNvPr id="3" name="Content Placeholder 2">
            <a:extLst>
              <a:ext uri="{FF2B5EF4-FFF2-40B4-BE49-F238E27FC236}">
                <a16:creationId xmlns:a16="http://schemas.microsoft.com/office/drawing/2014/main" id="{0435920F-FE96-E81C-20EE-E5DFBB0ECD8C}"/>
              </a:ext>
            </a:extLst>
          </p:cNvPr>
          <p:cNvSpPr>
            <a:spLocks noGrp="1"/>
          </p:cNvSpPr>
          <p:nvPr>
            <p:ph idx="1"/>
          </p:nvPr>
        </p:nvSpPr>
        <p:spPr/>
        <p:txBody>
          <a:bodyPr>
            <a:normAutofit fontScale="85000" lnSpcReduction="20000"/>
          </a:bodyPr>
          <a:lstStyle/>
          <a:p>
            <a:r>
              <a:rPr lang="en-US" b="1" dirty="0" err="1">
                <a:solidFill>
                  <a:srgbClr val="B1154A"/>
                </a:solidFill>
                <a:latin typeface="-apple-system"/>
              </a:rPr>
              <a:t>Cú</a:t>
            </a:r>
            <a:r>
              <a:rPr lang="en-US" b="1" dirty="0">
                <a:solidFill>
                  <a:srgbClr val="B1154A"/>
                </a:solidFill>
                <a:latin typeface="-apple-system"/>
              </a:rPr>
              <a:t> </a:t>
            </a:r>
            <a:r>
              <a:rPr lang="en-US" b="1" dirty="0" err="1">
                <a:solidFill>
                  <a:srgbClr val="B1154A"/>
                </a:solidFill>
                <a:latin typeface="-apple-system"/>
              </a:rPr>
              <a:t>pháp</a:t>
            </a:r>
            <a:r>
              <a:rPr lang="en-US" b="1" dirty="0">
                <a:solidFill>
                  <a:srgbClr val="B1154A"/>
                </a:solidFill>
                <a:latin typeface="-apple-system"/>
              </a:rPr>
              <a:t>:</a:t>
            </a:r>
          </a:p>
          <a:p>
            <a:r>
              <a:rPr lang="en-US" dirty="0" err="1">
                <a:highlight>
                  <a:srgbClr val="FFFF00"/>
                </a:highlight>
              </a:rPr>
              <a:t>Kiểu_Dữ_Liệu</a:t>
            </a:r>
            <a:r>
              <a:rPr lang="en-US" dirty="0">
                <a:highlight>
                  <a:srgbClr val="FFFF00"/>
                </a:highlight>
              </a:rPr>
              <a:t>   </a:t>
            </a:r>
            <a:r>
              <a:rPr lang="en-US" dirty="0" err="1"/>
              <a:t>Tên_Biến</a:t>
            </a:r>
            <a:r>
              <a:rPr lang="en-US" dirty="0"/>
              <a:t>;</a:t>
            </a:r>
          </a:p>
          <a:p>
            <a:r>
              <a:rPr lang="en-US" b="1" dirty="0" err="1"/>
              <a:t>Ví</a:t>
            </a:r>
            <a:r>
              <a:rPr lang="en-US" b="1" dirty="0"/>
              <a:t> </a:t>
            </a:r>
            <a:r>
              <a:rPr lang="en-US" b="1" dirty="0" err="1"/>
              <a:t>dụ</a:t>
            </a:r>
            <a:r>
              <a:rPr lang="en-US" b="1" dirty="0"/>
              <a:t>:</a:t>
            </a:r>
          </a:p>
          <a:p>
            <a:r>
              <a:rPr lang="en-US" dirty="0"/>
              <a:t>string </a:t>
            </a:r>
            <a:r>
              <a:rPr lang="en-US" dirty="0" err="1"/>
              <a:t>studentName</a:t>
            </a:r>
            <a:r>
              <a:rPr lang="en-US" dirty="0"/>
              <a:t>;</a:t>
            </a:r>
          </a:p>
          <a:p>
            <a:r>
              <a:rPr lang="en-US" b="1" i="0" dirty="0" err="1">
                <a:solidFill>
                  <a:srgbClr val="B1154A"/>
                </a:solidFill>
                <a:effectLst/>
                <a:latin typeface="-apple-system"/>
              </a:rPr>
              <a:t>Gán</a:t>
            </a:r>
            <a:r>
              <a:rPr lang="en-US" b="1" i="0" dirty="0">
                <a:solidFill>
                  <a:srgbClr val="B1154A"/>
                </a:solidFill>
                <a:effectLst/>
                <a:latin typeface="-apple-system"/>
              </a:rPr>
              <a:t> </a:t>
            </a:r>
            <a:r>
              <a:rPr lang="en-US" b="1" i="0" dirty="0" err="1">
                <a:solidFill>
                  <a:srgbClr val="B1154A"/>
                </a:solidFill>
                <a:effectLst/>
                <a:latin typeface="-apple-system"/>
              </a:rPr>
              <a:t>giá</a:t>
            </a:r>
            <a:r>
              <a:rPr lang="en-US" b="1" i="0" dirty="0">
                <a:solidFill>
                  <a:srgbClr val="B1154A"/>
                </a:solidFill>
                <a:effectLst/>
                <a:latin typeface="-apple-system"/>
              </a:rPr>
              <a:t> </a:t>
            </a:r>
            <a:r>
              <a:rPr lang="en-US" b="1" i="0" dirty="0" err="1">
                <a:solidFill>
                  <a:srgbClr val="B1154A"/>
                </a:solidFill>
                <a:effectLst/>
                <a:latin typeface="-apple-system"/>
              </a:rPr>
              <a:t>trị</a:t>
            </a:r>
            <a:r>
              <a:rPr lang="en-US" b="1" i="0" dirty="0">
                <a:solidFill>
                  <a:srgbClr val="B1154A"/>
                </a:solidFill>
                <a:effectLst/>
                <a:latin typeface="-apple-system"/>
              </a:rPr>
              <a:t> </a:t>
            </a:r>
            <a:r>
              <a:rPr lang="en-US" b="1" i="0" dirty="0" err="1">
                <a:solidFill>
                  <a:srgbClr val="B1154A"/>
                </a:solidFill>
                <a:effectLst/>
                <a:latin typeface="-apple-system"/>
              </a:rPr>
              <a:t>cho</a:t>
            </a:r>
            <a:r>
              <a:rPr lang="en-US" b="1" i="0" dirty="0">
                <a:solidFill>
                  <a:srgbClr val="B1154A"/>
                </a:solidFill>
                <a:effectLst/>
                <a:latin typeface="-apple-system"/>
              </a:rPr>
              <a:t> </a:t>
            </a:r>
            <a:r>
              <a:rPr lang="en-US" b="1" i="0" dirty="0" err="1">
                <a:solidFill>
                  <a:srgbClr val="B1154A"/>
                </a:solidFill>
                <a:effectLst/>
                <a:latin typeface="-apple-system"/>
              </a:rPr>
              <a:t>biến</a:t>
            </a:r>
            <a:r>
              <a:rPr lang="en-US" b="0" i="0" dirty="0">
                <a:solidFill>
                  <a:srgbClr val="212529"/>
                </a:solidFill>
                <a:effectLst/>
                <a:latin typeface="-apple-system"/>
              </a:rPr>
              <a:t>:</a:t>
            </a:r>
          </a:p>
          <a:p>
            <a:r>
              <a:rPr lang="vi-VN" dirty="0"/>
              <a:t>// Khai </a:t>
            </a:r>
            <a:r>
              <a:rPr lang="vi-VN" dirty="0" err="1"/>
              <a:t>báo</a:t>
            </a:r>
            <a:r>
              <a:rPr lang="vi-VN" dirty="0"/>
              <a:t> </a:t>
            </a:r>
            <a:r>
              <a:rPr lang="vi-VN" dirty="0" err="1"/>
              <a:t>biến</a:t>
            </a:r>
            <a:r>
              <a:rPr lang="vi-VN" dirty="0"/>
              <a:t> </a:t>
            </a:r>
            <a:r>
              <a:rPr lang="vi-VN" dirty="0" err="1"/>
              <a:t>và</a:t>
            </a:r>
            <a:r>
              <a:rPr lang="vi-VN" dirty="0"/>
              <a:t> </a:t>
            </a:r>
            <a:r>
              <a:rPr lang="vi-VN" dirty="0" err="1"/>
              <a:t>gán</a:t>
            </a:r>
            <a:r>
              <a:rPr lang="vi-VN" dirty="0"/>
              <a:t> ngay </a:t>
            </a:r>
            <a:r>
              <a:rPr lang="vi-VN" dirty="0" err="1"/>
              <a:t>giá</a:t>
            </a:r>
            <a:r>
              <a:rPr lang="vi-VN" dirty="0"/>
              <a:t> </a:t>
            </a:r>
            <a:r>
              <a:rPr lang="vi-VN" dirty="0" err="1"/>
              <a:t>trị</a:t>
            </a:r>
            <a:r>
              <a:rPr lang="vi-VN" dirty="0"/>
              <a:t> lưu </a:t>
            </a:r>
            <a:r>
              <a:rPr lang="vi-VN" dirty="0" err="1"/>
              <a:t>vào</a:t>
            </a:r>
            <a:r>
              <a:rPr lang="vi-VN" dirty="0"/>
              <a:t> </a:t>
            </a:r>
            <a:r>
              <a:rPr lang="vi-VN" dirty="0" err="1"/>
              <a:t>biến</a:t>
            </a:r>
            <a:endParaRPr lang="vi-VN" dirty="0"/>
          </a:p>
          <a:p>
            <a:r>
              <a:rPr lang="vi-VN" dirty="0" err="1"/>
              <a:t>string</a:t>
            </a:r>
            <a:r>
              <a:rPr lang="vi-VN" dirty="0"/>
              <a:t> </a:t>
            </a:r>
            <a:r>
              <a:rPr lang="vi-VN" dirty="0" err="1"/>
              <a:t>address</a:t>
            </a:r>
            <a:r>
              <a:rPr lang="vi-VN" dirty="0"/>
              <a:t> = "</a:t>
            </a:r>
            <a:r>
              <a:rPr lang="vi-VN" dirty="0" err="1"/>
              <a:t>Hà</a:t>
            </a:r>
            <a:r>
              <a:rPr lang="vi-VN" dirty="0"/>
              <a:t> </a:t>
            </a:r>
            <a:r>
              <a:rPr lang="vi-VN" dirty="0" err="1"/>
              <a:t>Nội</a:t>
            </a:r>
            <a:r>
              <a:rPr lang="vi-VN" dirty="0"/>
              <a:t>, </a:t>
            </a:r>
            <a:r>
              <a:rPr lang="vi-VN" dirty="0" err="1"/>
              <a:t>Việt</a:t>
            </a:r>
            <a:r>
              <a:rPr lang="vi-VN" dirty="0"/>
              <a:t> Nam";</a:t>
            </a:r>
          </a:p>
          <a:p>
            <a:pPr marL="0" indent="0">
              <a:buNone/>
            </a:pPr>
            <a:endParaRPr lang="vi-VN" dirty="0"/>
          </a:p>
          <a:p>
            <a:r>
              <a:rPr lang="vi-VN" dirty="0"/>
              <a:t>// Khai </a:t>
            </a:r>
            <a:r>
              <a:rPr lang="vi-VN" dirty="0" err="1"/>
              <a:t>báo</a:t>
            </a:r>
            <a:r>
              <a:rPr lang="vi-VN" dirty="0"/>
              <a:t> </a:t>
            </a:r>
            <a:r>
              <a:rPr lang="vi-VN" dirty="0" err="1"/>
              <a:t>biến</a:t>
            </a:r>
            <a:r>
              <a:rPr lang="vi-VN" dirty="0"/>
              <a:t>, sau </a:t>
            </a:r>
            <a:r>
              <a:rPr lang="vi-VN" dirty="0" err="1"/>
              <a:t>đó</a:t>
            </a:r>
            <a:r>
              <a:rPr lang="vi-VN" dirty="0"/>
              <a:t> </a:t>
            </a:r>
            <a:r>
              <a:rPr lang="vi-VN" dirty="0" err="1"/>
              <a:t>trước</a:t>
            </a:r>
            <a:r>
              <a:rPr lang="vi-VN" dirty="0"/>
              <a:t> khi </a:t>
            </a:r>
            <a:r>
              <a:rPr lang="vi-VN" dirty="0" err="1"/>
              <a:t>sử</a:t>
            </a:r>
            <a:r>
              <a:rPr lang="vi-VN" dirty="0"/>
              <a:t> </a:t>
            </a:r>
            <a:r>
              <a:rPr lang="vi-VN" dirty="0" err="1"/>
              <a:t>dụng</a:t>
            </a:r>
            <a:r>
              <a:rPr lang="vi-VN" dirty="0"/>
              <a:t> </a:t>
            </a:r>
            <a:r>
              <a:rPr lang="vi-VN" dirty="0" err="1"/>
              <a:t>gán</a:t>
            </a:r>
            <a:r>
              <a:rPr lang="vi-VN" dirty="0"/>
              <a:t> </a:t>
            </a:r>
            <a:r>
              <a:rPr lang="vi-VN" dirty="0" err="1"/>
              <a:t>giá</a:t>
            </a:r>
            <a:r>
              <a:rPr lang="vi-VN" dirty="0"/>
              <a:t> </a:t>
            </a:r>
            <a:r>
              <a:rPr lang="vi-VN" dirty="0" err="1"/>
              <a:t>trị</a:t>
            </a:r>
            <a:r>
              <a:rPr lang="vi-VN" dirty="0"/>
              <a:t> cho </a:t>
            </a:r>
            <a:r>
              <a:rPr lang="vi-VN" dirty="0" err="1"/>
              <a:t>biến</a:t>
            </a:r>
            <a:endParaRPr lang="vi-VN" dirty="0"/>
          </a:p>
          <a:p>
            <a:r>
              <a:rPr lang="vi-VN" dirty="0" err="1"/>
              <a:t>int</a:t>
            </a:r>
            <a:r>
              <a:rPr lang="vi-VN" dirty="0"/>
              <a:t> </a:t>
            </a:r>
            <a:r>
              <a:rPr lang="vi-VN" dirty="0" err="1"/>
              <a:t>studentAge</a:t>
            </a:r>
            <a:r>
              <a:rPr lang="vi-VN" dirty="0"/>
              <a:t>;</a:t>
            </a:r>
          </a:p>
          <a:p>
            <a:r>
              <a:rPr lang="vi-VN" dirty="0" err="1"/>
              <a:t>studentAge</a:t>
            </a:r>
            <a:r>
              <a:rPr lang="vi-VN" dirty="0"/>
              <a:t> = 22;</a:t>
            </a:r>
            <a:endParaRPr lang="en-US" dirty="0"/>
          </a:p>
        </p:txBody>
      </p:sp>
    </p:spTree>
    <p:extLst>
      <p:ext uri="{BB962C8B-B14F-4D97-AF65-F5344CB8AC3E}">
        <p14:creationId xmlns:p14="http://schemas.microsoft.com/office/powerpoint/2010/main" val="3905506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4D72C-B642-3874-4063-7262FEE63ED0}"/>
              </a:ext>
            </a:extLst>
          </p:cNvPr>
          <p:cNvSpPr>
            <a:spLocks noGrp="1"/>
          </p:cNvSpPr>
          <p:nvPr>
            <p:ph type="title"/>
          </p:nvPr>
        </p:nvSpPr>
        <p:spPr/>
        <p:txBody>
          <a:bodyPr>
            <a:normAutofit/>
          </a:bodyPr>
          <a:lstStyle/>
          <a:p>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Khai</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báo</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ngầm</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định</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với</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var</a:t>
            </a:r>
            <a:endParaRPr lang="en-US" sz="8000" dirty="0"/>
          </a:p>
        </p:txBody>
      </p:sp>
      <p:sp>
        <p:nvSpPr>
          <p:cNvPr id="3" name="Content Placeholder 2">
            <a:extLst>
              <a:ext uri="{FF2B5EF4-FFF2-40B4-BE49-F238E27FC236}">
                <a16:creationId xmlns:a16="http://schemas.microsoft.com/office/drawing/2014/main" id="{5B626770-98FF-20DB-9AB5-04B9B97C9371}"/>
              </a:ext>
            </a:extLst>
          </p:cNvPr>
          <p:cNvSpPr>
            <a:spLocks noGrp="1"/>
          </p:cNvSpPr>
          <p:nvPr>
            <p:ph idx="1"/>
          </p:nvPr>
        </p:nvSpPr>
        <p:spPr/>
        <p:txBody>
          <a:bodyPr>
            <a:normAutofit lnSpcReduction="10000"/>
          </a:bodyPr>
          <a:lstStyle/>
          <a:p>
            <a:pPr>
              <a:lnSpc>
                <a:spcPct val="107000"/>
              </a:lnSpc>
              <a:spcAft>
                <a:spcPts val="800"/>
              </a:spcAft>
            </a:pP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Mặc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định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C#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khai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báo</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cần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phải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chỉ</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rõ</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một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cách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tường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minh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dữ</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liệu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(int, float ...)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của</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ở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ở</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ví</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dụ</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Để</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linh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hoạt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C#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còn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một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cơ</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chế</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khai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báo</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với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từ</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khóa</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không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cần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chỉ</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rõ</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ngay</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dữ</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liệu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của</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của</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được</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xác</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định</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theo</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biểu</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thức</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gán</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vào</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ngay</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sau</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đó</a:t>
            </a:r>
            <a:r>
              <a:rPr lang="en-US" sz="1800" dirty="0">
                <a:solidFill>
                  <a:srgbClr val="B1154A"/>
                </a:solidFill>
                <a:effectLst/>
                <a:latin typeface="Segoe UI" panose="020B0502040204020203" pitchFamily="34" charset="0"/>
                <a:ea typeface="Times New Roman" panose="02020603050405020304" pitchFamily="18" charset="0"/>
                <a:cs typeface="Times New Roman" panose="02020603050405020304" pitchFamily="18" charset="0"/>
              </a:rPr>
              <a: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cũng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nghĩa</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phải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khởi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tạo</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ngay</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p>
          <a:p>
            <a:pPr>
              <a:lnSpc>
                <a:spcPct val="107000"/>
              </a:lnSpc>
              <a:spcAft>
                <a:spcPts val="800"/>
              </a:spcAft>
            </a:pP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Ví</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dụ</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bien1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3.14</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biến</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sẽ</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có</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kiểu</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double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bien2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biến</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sẽ</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có</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kiểu</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int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bien3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Biến</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khai</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báo</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với</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var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phải</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khởi</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tạo</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ngay</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string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bien4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5</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&lt;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4</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bool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67113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FB53-035F-BE7F-4539-CB4A5DF9319F}"/>
              </a:ext>
            </a:extLst>
          </p:cNvPr>
          <p:cNvSpPr>
            <a:spLocks noGrp="1"/>
          </p:cNvSpPr>
          <p:nvPr>
            <p:ph type="title"/>
          </p:nvPr>
        </p:nvSpPr>
        <p:spPr>
          <a:xfrm>
            <a:off x="861060" y="0"/>
            <a:ext cx="10058400" cy="653144"/>
          </a:xfrm>
        </p:spPr>
        <p:txBody>
          <a:bodyPr>
            <a:normAutofit fontScale="90000"/>
          </a:bodyPr>
          <a:lstStyle/>
          <a:p>
            <a:r>
              <a:rPr lang="en-US" b="0" i="0" dirty="0">
                <a:solidFill>
                  <a:srgbClr val="009688"/>
                </a:solidFill>
                <a:effectLst/>
                <a:latin typeface="-apple-system"/>
              </a:rPr>
              <a:t>c. </a:t>
            </a:r>
            <a:r>
              <a:rPr lang="en-US" b="0" i="0" dirty="0" err="1">
                <a:solidFill>
                  <a:srgbClr val="009688"/>
                </a:solidFill>
                <a:effectLst/>
                <a:latin typeface="-apple-system"/>
              </a:rPr>
              <a:t>Kiểu</a:t>
            </a:r>
            <a:r>
              <a:rPr lang="en-US" b="0" i="0" dirty="0">
                <a:solidFill>
                  <a:srgbClr val="009688"/>
                </a:solidFill>
                <a:effectLst/>
                <a:latin typeface="-apple-system"/>
              </a:rPr>
              <a:t> </a:t>
            </a:r>
            <a:r>
              <a:rPr lang="en-US" b="0" i="0" dirty="0" err="1">
                <a:solidFill>
                  <a:srgbClr val="009688"/>
                </a:solidFill>
                <a:effectLst/>
                <a:latin typeface="-apple-system"/>
              </a:rPr>
              <a:t>dữ</a:t>
            </a:r>
            <a:r>
              <a:rPr lang="en-US" b="0" i="0" dirty="0">
                <a:solidFill>
                  <a:srgbClr val="009688"/>
                </a:solidFill>
                <a:effectLst/>
                <a:latin typeface="-apple-system"/>
              </a:rPr>
              <a:t> </a:t>
            </a:r>
            <a:r>
              <a:rPr lang="en-US" b="0" i="0" dirty="0" err="1">
                <a:solidFill>
                  <a:srgbClr val="009688"/>
                </a:solidFill>
                <a:effectLst/>
                <a:latin typeface="-apple-system"/>
              </a:rPr>
              <a:t>liệu</a:t>
            </a:r>
            <a:r>
              <a:rPr lang="en-US" b="0" i="0" dirty="0">
                <a:solidFill>
                  <a:srgbClr val="009688"/>
                </a:solidFill>
                <a:effectLst/>
                <a:latin typeface="-apple-system"/>
              </a:rPr>
              <a:t> C# </a:t>
            </a:r>
            <a:r>
              <a:rPr lang="en-US" b="0" i="0" dirty="0" err="1">
                <a:solidFill>
                  <a:srgbClr val="009688"/>
                </a:solidFill>
                <a:effectLst/>
                <a:latin typeface="-apple-system"/>
              </a:rPr>
              <a:t>định</a:t>
            </a:r>
            <a:r>
              <a:rPr lang="en-US" b="0" i="0" dirty="0">
                <a:solidFill>
                  <a:srgbClr val="009688"/>
                </a:solidFill>
                <a:effectLst/>
                <a:latin typeface="-apple-system"/>
              </a:rPr>
              <a:t> </a:t>
            </a:r>
            <a:r>
              <a:rPr lang="en-US" b="0" i="0" dirty="0" err="1">
                <a:solidFill>
                  <a:srgbClr val="009688"/>
                </a:solidFill>
                <a:effectLst/>
                <a:latin typeface="-apple-system"/>
              </a:rPr>
              <a:t>nghĩa</a:t>
            </a:r>
            <a:r>
              <a:rPr lang="en-US" b="0" i="0" dirty="0">
                <a:solidFill>
                  <a:srgbClr val="009688"/>
                </a:solidFill>
                <a:effectLst/>
                <a:latin typeface="-apple-system"/>
              </a:rPr>
              <a:t> </a:t>
            </a:r>
            <a:r>
              <a:rPr lang="en-US" b="0" i="0" dirty="0" err="1">
                <a:solidFill>
                  <a:srgbClr val="009688"/>
                </a:solidFill>
                <a:effectLst/>
                <a:latin typeface="-apple-system"/>
              </a:rPr>
              <a:t>sẵn</a:t>
            </a:r>
            <a:endParaRPr lang="en-US" dirty="0"/>
          </a:p>
        </p:txBody>
      </p:sp>
      <p:sp>
        <p:nvSpPr>
          <p:cNvPr id="3" name="Content Placeholder 2">
            <a:extLst>
              <a:ext uri="{FF2B5EF4-FFF2-40B4-BE49-F238E27FC236}">
                <a16:creationId xmlns:a16="http://schemas.microsoft.com/office/drawing/2014/main" id="{91D88CA7-CEF7-6197-14CC-682F1068A7A6}"/>
              </a:ext>
            </a:extLst>
          </p:cNvPr>
          <p:cNvSpPr>
            <a:spLocks noGrp="1"/>
          </p:cNvSpPr>
          <p:nvPr>
            <p:ph idx="1"/>
          </p:nvPr>
        </p:nvSpPr>
        <p:spPr>
          <a:xfrm>
            <a:off x="333271" y="778874"/>
            <a:ext cx="11525458" cy="5506496"/>
          </a:xfrm>
        </p:spPr>
        <p:txBody>
          <a:bodyPr>
            <a:normAutofit fontScale="85000" lnSpcReduction="20000"/>
          </a:bodyPr>
          <a:lstStyle/>
          <a:p>
            <a:r>
              <a:rPr lang="vi-VN" b="1" dirty="0" err="1">
                <a:solidFill>
                  <a:srgbClr val="0070C0"/>
                </a:solidFill>
              </a:rPr>
              <a:t>int</a:t>
            </a:r>
            <a:r>
              <a:rPr lang="vi-VN" dirty="0"/>
              <a:t> </a:t>
            </a:r>
            <a:r>
              <a:rPr lang="vi-VN" b="1" dirty="0" err="1"/>
              <a:t>kiểu</a:t>
            </a:r>
            <a:r>
              <a:rPr lang="vi-VN" b="1" dirty="0"/>
              <a:t> </a:t>
            </a:r>
            <a:r>
              <a:rPr lang="vi-VN" b="1" dirty="0" err="1"/>
              <a:t>số</a:t>
            </a:r>
            <a:r>
              <a:rPr lang="vi-VN" b="1" dirty="0"/>
              <a:t> nguyên </a:t>
            </a:r>
            <a:r>
              <a:rPr lang="vi-VN" dirty="0"/>
              <a:t>(</a:t>
            </a:r>
            <a:r>
              <a:rPr lang="vi-VN" dirty="0" err="1"/>
              <a:t>có</a:t>
            </a:r>
            <a:r>
              <a:rPr lang="vi-VN" dirty="0"/>
              <a:t> </a:t>
            </a:r>
            <a:r>
              <a:rPr lang="vi-VN" dirty="0" err="1"/>
              <a:t>dấu</a:t>
            </a:r>
            <a:r>
              <a:rPr lang="vi-VN" dirty="0"/>
              <a:t>, </a:t>
            </a:r>
            <a:r>
              <a:rPr lang="vi-VN" dirty="0" err="1"/>
              <a:t>dùng</a:t>
            </a:r>
            <a:r>
              <a:rPr lang="vi-VN" dirty="0"/>
              <a:t> 32 </a:t>
            </a:r>
            <a:r>
              <a:rPr lang="vi-VN" dirty="0" err="1"/>
              <a:t>bit</a:t>
            </a:r>
            <a:r>
              <a:rPr lang="vi-VN" dirty="0"/>
              <a:t> </a:t>
            </a:r>
            <a:r>
              <a:rPr lang="vi-VN" dirty="0" err="1"/>
              <a:t>biểu</a:t>
            </a:r>
            <a:r>
              <a:rPr lang="vi-VN" dirty="0"/>
              <a:t> </a:t>
            </a:r>
            <a:r>
              <a:rPr lang="vi-VN" dirty="0" err="1"/>
              <a:t>diễn</a:t>
            </a:r>
            <a:r>
              <a:rPr lang="vi-VN" dirty="0"/>
              <a:t>, </a:t>
            </a:r>
            <a:r>
              <a:rPr lang="vi-VN" dirty="0" err="1"/>
              <a:t>từ</a:t>
            </a:r>
            <a:r>
              <a:rPr lang="vi-VN" dirty="0"/>
              <a:t> -2,147,483,648 </a:t>
            </a:r>
            <a:r>
              <a:rPr lang="vi-VN" dirty="0" err="1"/>
              <a:t>đến</a:t>
            </a:r>
            <a:r>
              <a:rPr lang="vi-VN" dirty="0"/>
              <a:t> 2,147,483,647)</a:t>
            </a:r>
          </a:p>
          <a:p>
            <a:r>
              <a:rPr lang="vi-VN" b="1" dirty="0" err="1">
                <a:solidFill>
                  <a:srgbClr val="0070C0"/>
                </a:solidFill>
              </a:rPr>
              <a:t>sbyte</a:t>
            </a:r>
            <a:r>
              <a:rPr lang="vi-VN" dirty="0"/>
              <a:t> </a:t>
            </a:r>
            <a:r>
              <a:rPr lang="vi-VN" b="1" dirty="0" err="1"/>
              <a:t>kiểu</a:t>
            </a:r>
            <a:r>
              <a:rPr lang="vi-VN" b="1" dirty="0"/>
              <a:t> </a:t>
            </a:r>
            <a:r>
              <a:rPr lang="vi-VN" b="1" dirty="0" err="1"/>
              <a:t>số</a:t>
            </a:r>
            <a:r>
              <a:rPr lang="vi-VN" b="1" dirty="0"/>
              <a:t> nguyên </a:t>
            </a:r>
            <a:r>
              <a:rPr lang="vi-VN" dirty="0"/>
              <a:t>(</a:t>
            </a:r>
            <a:r>
              <a:rPr lang="vi-VN" dirty="0" err="1"/>
              <a:t>có</a:t>
            </a:r>
            <a:r>
              <a:rPr lang="vi-VN" dirty="0"/>
              <a:t> </a:t>
            </a:r>
            <a:r>
              <a:rPr lang="vi-VN" dirty="0" err="1"/>
              <a:t>dấu</a:t>
            </a:r>
            <a:r>
              <a:rPr lang="vi-VN" dirty="0"/>
              <a:t>, </a:t>
            </a:r>
            <a:r>
              <a:rPr lang="vi-VN" dirty="0" err="1"/>
              <a:t>dùng</a:t>
            </a:r>
            <a:r>
              <a:rPr lang="vi-VN" dirty="0"/>
              <a:t> 8 </a:t>
            </a:r>
            <a:r>
              <a:rPr lang="vi-VN" dirty="0" err="1"/>
              <a:t>bit</a:t>
            </a:r>
            <a:r>
              <a:rPr lang="vi-VN" dirty="0"/>
              <a:t> </a:t>
            </a:r>
            <a:r>
              <a:rPr lang="vi-VN" dirty="0" err="1"/>
              <a:t>biểu</a:t>
            </a:r>
            <a:r>
              <a:rPr lang="vi-VN" dirty="0"/>
              <a:t> </a:t>
            </a:r>
            <a:r>
              <a:rPr lang="vi-VN" dirty="0" err="1"/>
              <a:t>diễn</a:t>
            </a:r>
            <a:r>
              <a:rPr lang="vi-VN" dirty="0"/>
              <a:t>, </a:t>
            </a:r>
            <a:r>
              <a:rPr lang="vi-VN" dirty="0" err="1"/>
              <a:t>từ</a:t>
            </a:r>
            <a:r>
              <a:rPr lang="vi-VN" dirty="0"/>
              <a:t> -128 </a:t>
            </a:r>
            <a:r>
              <a:rPr lang="vi-VN" dirty="0" err="1"/>
              <a:t>đến</a:t>
            </a:r>
            <a:r>
              <a:rPr lang="vi-VN" dirty="0"/>
              <a:t> 127)</a:t>
            </a:r>
          </a:p>
          <a:p>
            <a:r>
              <a:rPr lang="vi-VN" sz="2100" b="1" dirty="0" err="1">
                <a:solidFill>
                  <a:srgbClr val="0070C0"/>
                </a:solidFill>
              </a:rPr>
              <a:t>byte</a:t>
            </a:r>
            <a:r>
              <a:rPr lang="vi-VN" dirty="0"/>
              <a:t> </a:t>
            </a:r>
            <a:r>
              <a:rPr lang="vi-VN" b="1" dirty="0" err="1"/>
              <a:t>kiểu</a:t>
            </a:r>
            <a:r>
              <a:rPr lang="vi-VN" b="1" dirty="0"/>
              <a:t> </a:t>
            </a:r>
            <a:r>
              <a:rPr lang="vi-VN" b="1" dirty="0" err="1"/>
              <a:t>số</a:t>
            </a:r>
            <a:r>
              <a:rPr lang="vi-VN" b="1" dirty="0"/>
              <a:t> nguyên </a:t>
            </a:r>
            <a:r>
              <a:rPr lang="vi-VN" dirty="0"/>
              <a:t>(không </a:t>
            </a:r>
            <a:r>
              <a:rPr lang="vi-VN" dirty="0" err="1"/>
              <a:t>dấu</a:t>
            </a:r>
            <a:r>
              <a:rPr lang="vi-VN" dirty="0"/>
              <a:t>, </a:t>
            </a:r>
            <a:r>
              <a:rPr lang="vi-VN" dirty="0" err="1"/>
              <a:t>dùng</a:t>
            </a:r>
            <a:r>
              <a:rPr lang="vi-VN" dirty="0"/>
              <a:t> 8 </a:t>
            </a:r>
            <a:r>
              <a:rPr lang="vi-VN" dirty="0" err="1"/>
              <a:t>bit</a:t>
            </a:r>
            <a:r>
              <a:rPr lang="vi-VN" dirty="0"/>
              <a:t> </a:t>
            </a:r>
            <a:r>
              <a:rPr lang="vi-VN" dirty="0" err="1"/>
              <a:t>biểu</a:t>
            </a:r>
            <a:r>
              <a:rPr lang="vi-VN" dirty="0"/>
              <a:t> </a:t>
            </a:r>
            <a:r>
              <a:rPr lang="vi-VN" dirty="0" err="1"/>
              <a:t>diễn</a:t>
            </a:r>
            <a:r>
              <a:rPr lang="vi-VN" dirty="0"/>
              <a:t>, </a:t>
            </a:r>
            <a:r>
              <a:rPr lang="vi-VN" dirty="0" err="1"/>
              <a:t>từ</a:t>
            </a:r>
            <a:r>
              <a:rPr lang="vi-VN" dirty="0"/>
              <a:t> 0 </a:t>
            </a:r>
            <a:r>
              <a:rPr lang="vi-VN" dirty="0" err="1"/>
              <a:t>đến</a:t>
            </a:r>
            <a:r>
              <a:rPr lang="vi-VN" dirty="0"/>
              <a:t> 255)</a:t>
            </a:r>
          </a:p>
          <a:p>
            <a:r>
              <a:rPr lang="vi-VN" sz="2100" b="1" dirty="0" err="1">
                <a:solidFill>
                  <a:srgbClr val="0070C0"/>
                </a:solidFill>
              </a:rPr>
              <a:t>short</a:t>
            </a:r>
            <a:r>
              <a:rPr lang="vi-VN" dirty="0"/>
              <a:t> </a:t>
            </a:r>
            <a:r>
              <a:rPr lang="vi-VN" b="1" dirty="0" err="1"/>
              <a:t>kiểu</a:t>
            </a:r>
            <a:r>
              <a:rPr lang="vi-VN" b="1" dirty="0"/>
              <a:t> </a:t>
            </a:r>
            <a:r>
              <a:rPr lang="vi-VN" b="1" dirty="0" err="1"/>
              <a:t>số</a:t>
            </a:r>
            <a:r>
              <a:rPr lang="vi-VN" b="1" dirty="0"/>
              <a:t> nguyên </a:t>
            </a:r>
            <a:r>
              <a:rPr lang="vi-VN" dirty="0"/>
              <a:t>(</a:t>
            </a:r>
            <a:r>
              <a:rPr lang="vi-VN" dirty="0" err="1"/>
              <a:t>có</a:t>
            </a:r>
            <a:r>
              <a:rPr lang="vi-VN" dirty="0"/>
              <a:t> </a:t>
            </a:r>
            <a:r>
              <a:rPr lang="vi-VN" dirty="0" err="1"/>
              <a:t>dấu</a:t>
            </a:r>
            <a:r>
              <a:rPr lang="vi-VN" dirty="0"/>
              <a:t>, </a:t>
            </a:r>
            <a:r>
              <a:rPr lang="vi-VN" dirty="0" err="1"/>
              <a:t>dùng</a:t>
            </a:r>
            <a:r>
              <a:rPr lang="vi-VN" dirty="0"/>
              <a:t> 16 </a:t>
            </a:r>
            <a:r>
              <a:rPr lang="vi-VN" dirty="0" err="1"/>
              <a:t>bit</a:t>
            </a:r>
            <a:r>
              <a:rPr lang="vi-VN" dirty="0"/>
              <a:t> </a:t>
            </a:r>
            <a:r>
              <a:rPr lang="vi-VN" dirty="0" err="1"/>
              <a:t>biểu</a:t>
            </a:r>
            <a:r>
              <a:rPr lang="vi-VN" dirty="0"/>
              <a:t> </a:t>
            </a:r>
            <a:r>
              <a:rPr lang="vi-VN" dirty="0" err="1"/>
              <a:t>diễn</a:t>
            </a:r>
            <a:r>
              <a:rPr lang="vi-VN" dirty="0"/>
              <a:t>, </a:t>
            </a:r>
            <a:r>
              <a:rPr lang="vi-VN" dirty="0" err="1"/>
              <a:t>từ</a:t>
            </a:r>
            <a:r>
              <a:rPr lang="vi-VN" dirty="0"/>
              <a:t> -32,768 </a:t>
            </a:r>
            <a:r>
              <a:rPr lang="vi-VN" dirty="0" err="1"/>
              <a:t>đến</a:t>
            </a:r>
            <a:r>
              <a:rPr lang="vi-VN" dirty="0"/>
              <a:t> 32,767)</a:t>
            </a:r>
          </a:p>
          <a:p>
            <a:r>
              <a:rPr lang="vi-VN" sz="2100" b="1" dirty="0" err="1">
                <a:solidFill>
                  <a:srgbClr val="0070C0"/>
                </a:solidFill>
              </a:rPr>
              <a:t>ushort</a:t>
            </a:r>
            <a:r>
              <a:rPr lang="vi-VN" dirty="0"/>
              <a:t> </a:t>
            </a:r>
            <a:r>
              <a:rPr lang="vi-VN" b="1" dirty="0" err="1"/>
              <a:t>kiểu</a:t>
            </a:r>
            <a:r>
              <a:rPr lang="vi-VN" b="1" dirty="0"/>
              <a:t> </a:t>
            </a:r>
            <a:r>
              <a:rPr lang="vi-VN" b="1" dirty="0" err="1"/>
              <a:t>số</a:t>
            </a:r>
            <a:r>
              <a:rPr lang="vi-VN" b="1" dirty="0"/>
              <a:t> nguyên </a:t>
            </a:r>
            <a:r>
              <a:rPr lang="vi-VN" dirty="0"/>
              <a:t>(không </a:t>
            </a:r>
            <a:r>
              <a:rPr lang="vi-VN" dirty="0" err="1"/>
              <a:t>dấu</a:t>
            </a:r>
            <a:r>
              <a:rPr lang="vi-VN" dirty="0"/>
              <a:t>, </a:t>
            </a:r>
            <a:r>
              <a:rPr lang="vi-VN" dirty="0" err="1"/>
              <a:t>dùng</a:t>
            </a:r>
            <a:r>
              <a:rPr lang="vi-VN" dirty="0"/>
              <a:t> 16 </a:t>
            </a:r>
            <a:r>
              <a:rPr lang="vi-VN" dirty="0" err="1"/>
              <a:t>bit</a:t>
            </a:r>
            <a:r>
              <a:rPr lang="vi-VN" dirty="0"/>
              <a:t> </a:t>
            </a:r>
            <a:r>
              <a:rPr lang="vi-VN" dirty="0" err="1"/>
              <a:t>biểu</a:t>
            </a:r>
            <a:r>
              <a:rPr lang="vi-VN" dirty="0"/>
              <a:t> </a:t>
            </a:r>
            <a:r>
              <a:rPr lang="vi-VN" dirty="0" err="1"/>
              <a:t>diễn</a:t>
            </a:r>
            <a:r>
              <a:rPr lang="vi-VN" dirty="0"/>
              <a:t>, </a:t>
            </a:r>
            <a:r>
              <a:rPr lang="vi-VN" dirty="0" err="1"/>
              <a:t>từ</a:t>
            </a:r>
            <a:r>
              <a:rPr lang="vi-VN" dirty="0"/>
              <a:t> 0 </a:t>
            </a:r>
            <a:r>
              <a:rPr lang="vi-VN" dirty="0" err="1"/>
              <a:t>đến</a:t>
            </a:r>
            <a:r>
              <a:rPr lang="vi-VN" dirty="0"/>
              <a:t> 65,535)</a:t>
            </a:r>
          </a:p>
          <a:p>
            <a:r>
              <a:rPr lang="vi-VN" sz="2100" b="1" dirty="0">
                <a:solidFill>
                  <a:srgbClr val="0070C0"/>
                </a:solidFill>
              </a:rPr>
              <a:t>long</a:t>
            </a:r>
            <a:r>
              <a:rPr lang="vi-VN" dirty="0"/>
              <a:t> </a:t>
            </a:r>
            <a:r>
              <a:rPr lang="vi-VN" b="1" dirty="0" err="1"/>
              <a:t>kiểu</a:t>
            </a:r>
            <a:r>
              <a:rPr lang="vi-VN" b="1" dirty="0"/>
              <a:t> </a:t>
            </a:r>
            <a:r>
              <a:rPr lang="vi-VN" b="1" dirty="0" err="1"/>
              <a:t>số</a:t>
            </a:r>
            <a:r>
              <a:rPr lang="vi-VN" b="1" dirty="0"/>
              <a:t> nguyên </a:t>
            </a:r>
            <a:r>
              <a:rPr lang="vi-VN" dirty="0"/>
              <a:t>(</a:t>
            </a:r>
            <a:r>
              <a:rPr lang="vi-VN" dirty="0" err="1"/>
              <a:t>có</a:t>
            </a:r>
            <a:r>
              <a:rPr lang="vi-VN" dirty="0"/>
              <a:t> </a:t>
            </a:r>
            <a:r>
              <a:rPr lang="vi-VN" dirty="0" err="1"/>
              <a:t>dấu</a:t>
            </a:r>
            <a:r>
              <a:rPr lang="vi-VN" dirty="0"/>
              <a:t>, </a:t>
            </a:r>
            <a:r>
              <a:rPr lang="vi-VN" dirty="0" err="1"/>
              <a:t>dùng</a:t>
            </a:r>
            <a:r>
              <a:rPr lang="vi-VN" dirty="0"/>
              <a:t> 64 </a:t>
            </a:r>
            <a:r>
              <a:rPr lang="vi-VN" dirty="0" err="1"/>
              <a:t>bit</a:t>
            </a:r>
            <a:r>
              <a:rPr lang="vi-VN" dirty="0"/>
              <a:t> </a:t>
            </a:r>
            <a:r>
              <a:rPr lang="vi-VN" dirty="0" err="1"/>
              <a:t>biểu</a:t>
            </a:r>
            <a:r>
              <a:rPr lang="vi-VN" dirty="0"/>
              <a:t> </a:t>
            </a:r>
            <a:r>
              <a:rPr lang="vi-VN" dirty="0" err="1"/>
              <a:t>diễn</a:t>
            </a:r>
            <a:r>
              <a:rPr lang="vi-VN" dirty="0"/>
              <a:t>, </a:t>
            </a:r>
            <a:r>
              <a:rPr lang="vi-VN" dirty="0" err="1"/>
              <a:t>từ</a:t>
            </a:r>
            <a:r>
              <a:rPr lang="vi-VN" dirty="0"/>
              <a:t> -9,223,372,036,854,775,808 </a:t>
            </a:r>
            <a:r>
              <a:rPr lang="vi-VN" dirty="0" err="1"/>
              <a:t>đến</a:t>
            </a:r>
            <a:r>
              <a:rPr lang="vi-VN" dirty="0"/>
              <a:t> 9,223,372,036,854,775,807)</a:t>
            </a:r>
          </a:p>
          <a:p>
            <a:r>
              <a:rPr lang="vi-VN" sz="2100" b="1" dirty="0" err="1">
                <a:solidFill>
                  <a:srgbClr val="0070C0"/>
                </a:solidFill>
              </a:rPr>
              <a:t>ulong</a:t>
            </a:r>
            <a:r>
              <a:rPr lang="vi-VN" dirty="0"/>
              <a:t> </a:t>
            </a:r>
            <a:r>
              <a:rPr lang="vi-VN" b="1" dirty="0" err="1"/>
              <a:t>kiểu</a:t>
            </a:r>
            <a:r>
              <a:rPr lang="vi-VN" b="1" dirty="0"/>
              <a:t> </a:t>
            </a:r>
            <a:r>
              <a:rPr lang="vi-VN" b="1" dirty="0" err="1"/>
              <a:t>số</a:t>
            </a:r>
            <a:r>
              <a:rPr lang="vi-VN" b="1" dirty="0"/>
              <a:t> nguyên </a:t>
            </a:r>
            <a:r>
              <a:rPr lang="vi-VN" dirty="0"/>
              <a:t>(không </a:t>
            </a:r>
            <a:r>
              <a:rPr lang="vi-VN" dirty="0" err="1"/>
              <a:t>dấu</a:t>
            </a:r>
            <a:r>
              <a:rPr lang="vi-VN" dirty="0"/>
              <a:t>, </a:t>
            </a:r>
            <a:r>
              <a:rPr lang="vi-VN" dirty="0" err="1"/>
              <a:t>dùng</a:t>
            </a:r>
            <a:r>
              <a:rPr lang="vi-VN" dirty="0"/>
              <a:t> 64 </a:t>
            </a:r>
            <a:r>
              <a:rPr lang="vi-VN" dirty="0" err="1"/>
              <a:t>bit</a:t>
            </a:r>
            <a:r>
              <a:rPr lang="vi-VN" dirty="0"/>
              <a:t> </a:t>
            </a:r>
            <a:r>
              <a:rPr lang="vi-VN" dirty="0" err="1"/>
              <a:t>biểu</a:t>
            </a:r>
            <a:r>
              <a:rPr lang="vi-VN" dirty="0"/>
              <a:t> </a:t>
            </a:r>
            <a:r>
              <a:rPr lang="vi-VN" dirty="0" err="1"/>
              <a:t>diễn</a:t>
            </a:r>
            <a:r>
              <a:rPr lang="vi-VN" dirty="0"/>
              <a:t>, </a:t>
            </a:r>
            <a:r>
              <a:rPr lang="vi-VN" dirty="0" err="1"/>
              <a:t>từ</a:t>
            </a:r>
            <a:r>
              <a:rPr lang="vi-VN" dirty="0"/>
              <a:t> 0 </a:t>
            </a:r>
            <a:r>
              <a:rPr lang="vi-VN" dirty="0" err="1"/>
              <a:t>đến</a:t>
            </a:r>
            <a:r>
              <a:rPr lang="vi-VN" dirty="0"/>
              <a:t> 18,446,744,073,709,551,615)</a:t>
            </a:r>
          </a:p>
          <a:p>
            <a:r>
              <a:rPr lang="vi-VN" sz="2100" b="1" dirty="0" err="1">
                <a:solidFill>
                  <a:srgbClr val="0070C0"/>
                </a:solidFill>
              </a:rPr>
              <a:t>float</a:t>
            </a:r>
            <a:r>
              <a:rPr lang="vi-VN" dirty="0"/>
              <a:t> </a:t>
            </a:r>
            <a:r>
              <a:rPr lang="vi-VN" b="1" dirty="0" err="1"/>
              <a:t>số</a:t>
            </a:r>
            <a:r>
              <a:rPr lang="vi-VN" b="1" dirty="0"/>
              <a:t> </a:t>
            </a:r>
            <a:r>
              <a:rPr lang="vi-VN" b="1" dirty="0" err="1"/>
              <a:t>thực</a:t>
            </a:r>
            <a:r>
              <a:rPr lang="vi-VN" b="1" dirty="0"/>
              <a:t> </a:t>
            </a:r>
            <a:r>
              <a:rPr lang="vi-VN" b="1" dirty="0" err="1"/>
              <a:t>chấm</a:t>
            </a:r>
            <a:r>
              <a:rPr lang="vi-VN" b="1" dirty="0"/>
              <a:t> </a:t>
            </a:r>
            <a:r>
              <a:rPr lang="vi-VN" b="1" dirty="0" err="1"/>
              <a:t>động</a:t>
            </a:r>
            <a:r>
              <a:rPr lang="vi-VN" b="1" dirty="0"/>
              <a:t> </a:t>
            </a:r>
            <a:r>
              <a:rPr lang="vi-VN" dirty="0"/>
              <a:t>(</a:t>
            </a:r>
            <a:r>
              <a:rPr lang="vi-VN" dirty="0" err="1"/>
              <a:t>dùng</a:t>
            </a:r>
            <a:r>
              <a:rPr lang="vi-VN" dirty="0"/>
              <a:t> 32 </a:t>
            </a:r>
            <a:r>
              <a:rPr lang="vi-VN" dirty="0" err="1"/>
              <a:t>bit</a:t>
            </a:r>
            <a:r>
              <a:rPr lang="vi-VN" dirty="0"/>
              <a:t> </a:t>
            </a:r>
            <a:r>
              <a:rPr lang="vi-VN" dirty="0" err="1"/>
              <a:t>biểu</a:t>
            </a:r>
            <a:r>
              <a:rPr lang="vi-VN" dirty="0"/>
              <a:t> </a:t>
            </a:r>
            <a:r>
              <a:rPr lang="vi-VN" dirty="0" err="1"/>
              <a:t>diễn</a:t>
            </a:r>
            <a:r>
              <a:rPr lang="vi-VN" dirty="0"/>
              <a:t> </a:t>
            </a:r>
            <a:r>
              <a:rPr lang="vi-VN" dirty="0" err="1"/>
              <a:t>phù</a:t>
            </a:r>
            <a:r>
              <a:rPr lang="vi-VN" dirty="0"/>
              <a:t> </a:t>
            </a:r>
            <a:r>
              <a:rPr lang="vi-VN" dirty="0" err="1"/>
              <a:t>hợp</a:t>
            </a:r>
            <a:r>
              <a:rPr lang="vi-VN" dirty="0"/>
              <a:t> </a:t>
            </a:r>
            <a:r>
              <a:rPr lang="vi-VN" dirty="0" err="1"/>
              <a:t>số</a:t>
            </a:r>
            <a:r>
              <a:rPr lang="vi-VN" dirty="0"/>
              <a:t> </a:t>
            </a:r>
            <a:r>
              <a:rPr lang="vi-VN" dirty="0" err="1"/>
              <a:t>có</a:t>
            </a:r>
            <a:r>
              <a:rPr lang="vi-VN" dirty="0"/>
              <a:t> </a:t>
            </a:r>
            <a:r>
              <a:rPr lang="vi-VN" dirty="0" err="1"/>
              <a:t>bảy</a:t>
            </a:r>
            <a:r>
              <a:rPr lang="vi-VN" dirty="0"/>
              <a:t> </a:t>
            </a:r>
            <a:r>
              <a:rPr lang="vi-VN" dirty="0" err="1"/>
              <a:t>chữ</a:t>
            </a:r>
            <a:r>
              <a:rPr lang="vi-VN" dirty="0"/>
              <a:t> </a:t>
            </a:r>
            <a:r>
              <a:rPr lang="vi-VN" dirty="0" err="1"/>
              <a:t>số</a:t>
            </a:r>
            <a:r>
              <a:rPr lang="vi-VN" dirty="0"/>
              <a:t>, </a:t>
            </a:r>
            <a:r>
              <a:rPr lang="vi-VN" dirty="0" err="1"/>
              <a:t>độ</a:t>
            </a:r>
            <a:r>
              <a:rPr lang="vi-VN" dirty="0"/>
              <a:t> </a:t>
            </a:r>
            <a:r>
              <a:rPr lang="vi-VN" dirty="0" err="1"/>
              <a:t>chính</a:t>
            </a:r>
            <a:r>
              <a:rPr lang="vi-VN" dirty="0"/>
              <a:t> </a:t>
            </a:r>
            <a:r>
              <a:rPr lang="vi-VN" dirty="0" err="1"/>
              <a:t>xác</a:t>
            </a:r>
            <a:r>
              <a:rPr lang="vi-VN" dirty="0"/>
              <a:t> </a:t>
            </a:r>
            <a:r>
              <a:rPr lang="vi-VN" dirty="0" err="1"/>
              <a:t>số</a:t>
            </a:r>
            <a:r>
              <a:rPr lang="vi-VN" dirty="0"/>
              <a:t> </a:t>
            </a:r>
            <a:r>
              <a:rPr lang="vi-VN" dirty="0" err="1"/>
              <a:t>dấu</a:t>
            </a:r>
            <a:r>
              <a:rPr lang="vi-VN" dirty="0"/>
              <a:t> </a:t>
            </a:r>
            <a:r>
              <a:rPr lang="vi-VN" dirty="0" err="1"/>
              <a:t>chấm</a:t>
            </a:r>
            <a:r>
              <a:rPr lang="vi-VN" dirty="0"/>
              <a:t> </a:t>
            </a:r>
            <a:r>
              <a:rPr lang="vi-VN" dirty="0" err="1"/>
              <a:t>động</a:t>
            </a:r>
            <a:r>
              <a:rPr lang="vi-VN" dirty="0"/>
              <a:t> 1.5 × 10−45 </a:t>
            </a:r>
            <a:r>
              <a:rPr lang="vi-VN" dirty="0" err="1"/>
              <a:t>đến</a:t>
            </a:r>
            <a:r>
              <a:rPr lang="vi-VN" dirty="0"/>
              <a:t> 3.4 × 1038)</a:t>
            </a:r>
          </a:p>
          <a:p>
            <a:r>
              <a:rPr lang="vi-VN" sz="2100" b="1" dirty="0" err="1">
                <a:solidFill>
                  <a:srgbClr val="0070C0"/>
                </a:solidFill>
              </a:rPr>
              <a:t>double</a:t>
            </a:r>
            <a:r>
              <a:rPr lang="vi-VN" dirty="0"/>
              <a:t> </a:t>
            </a:r>
            <a:r>
              <a:rPr lang="vi-VN" b="1" dirty="0" err="1"/>
              <a:t>số</a:t>
            </a:r>
            <a:r>
              <a:rPr lang="vi-VN" b="1" dirty="0"/>
              <a:t> </a:t>
            </a:r>
            <a:r>
              <a:rPr lang="vi-VN" b="1" dirty="0" err="1"/>
              <a:t>thực</a:t>
            </a:r>
            <a:r>
              <a:rPr lang="vi-VN" b="1" dirty="0"/>
              <a:t> </a:t>
            </a:r>
            <a:r>
              <a:rPr lang="vi-VN" b="1" dirty="0" err="1"/>
              <a:t>chấm</a:t>
            </a:r>
            <a:r>
              <a:rPr lang="vi-VN" b="1" dirty="0"/>
              <a:t> </a:t>
            </a:r>
            <a:r>
              <a:rPr lang="vi-VN" b="1" dirty="0" err="1"/>
              <a:t>động</a:t>
            </a:r>
            <a:r>
              <a:rPr lang="vi-VN" b="1" dirty="0"/>
              <a:t> </a:t>
            </a:r>
            <a:r>
              <a:rPr lang="vi-VN" dirty="0"/>
              <a:t>(</a:t>
            </a:r>
            <a:r>
              <a:rPr lang="vi-VN" dirty="0" err="1"/>
              <a:t>dùng</a:t>
            </a:r>
            <a:r>
              <a:rPr lang="vi-VN" dirty="0"/>
              <a:t> 64 </a:t>
            </a:r>
            <a:r>
              <a:rPr lang="vi-VN" dirty="0" err="1"/>
              <a:t>bit</a:t>
            </a:r>
            <a:r>
              <a:rPr lang="vi-VN" dirty="0"/>
              <a:t> </a:t>
            </a:r>
            <a:r>
              <a:rPr lang="vi-VN" dirty="0" err="1"/>
              <a:t>biểu</a:t>
            </a:r>
            <a:r>
              <a:rPr lang="vi-VN" dirty="0"/>
              <a:t> </a:t>
            </a:r>
            <a:r>
              <a:rPr lang="vi-VN" dirty="0" err="1"/>
              <a:t>diễn</a:t>
            </a:r>
            <a:r>
              <a:rPr lang="vi-VN" dirty="0"/>
              <a:t>)</a:t>
            </a:r>
          </a:p>
          <a:p>
            <a:r>
              <a:rPr lang="vi-VN" sz="2100" b="1" dirty="0" err="1">
                <a:solidFill>
                  <a:srgbClr val="0070C0"/>
                </a:solidFill>
              </a:rPr>
              <a:t>decimal</a:t>
            </a:r>
            <a:r>
              <a:rPr lang="vi-VN" dirty="0"/>
              <a:t> </a:t>
            </a:r>
            <a:r>
              <a:rPr lang="vi-VN" b="1" dirty="0" err="1"/>
              <a:t>số</a:t>
            </a:r>
            <a:r>
              <a:rPr lang="vi-VN" b="1" dirty="0"/>
              <a:t> </a:t>
            </a:r>
            <a:r>
              <a:rPr lang="vi-VN" b="1" dirty="0" err="1"/>
              <a:t>thực</a:t>
            </a:r>
            <a:r>
              <a:rPr lang="vi-VN" b="1" dirty="0"/>
              <a:t> </a:t>
            </a:r>
            <a:r>
              <a:rPr lang="vi-VN" b="1" dirty="0" err="1"/>
              <a:t>chấm</a:t>
            </a:r>
            <a:r>
              <a:rPr lang="vi-VN" b="1" dirty="0"/>
              <a:t> </a:t>
            </a:r>
            <a:r>
              <a:rPr lang="vi-VN" b="1" dirty="0" err="1"/>
              <a:t>động</a:t>
            </a:r>
            <a:r>
              <a:rPr lang="vi-VN" b="1" dirty="0"/>
              <a:t> </a:t>
            </a:r>
            <a:r>
              <a:rPr lang="vi-VN" dirty="0"/>
              <a:t>(</a:t>
            </a:r>
            <a:r>
              <a:rPr lang="vi-VN" dirty="0" err="1"/>
              <a:t>dùng</a:t>
            </a:r>
            <a:r>
              <a:rPr lang="vi-VN" dirty="0"/>
              <a:t> 128 </a:t>
            </a:r>
            <a:r>
              <a:rPr lang="vi-VN" dirty="0" err="1"/>
              <a:t>bit</a:t>
            </a:r>
            <a:r>
              <a:rPr lang="vi-VN" dirty="0"/>
              <a:t> </a:t>
            </a:r>
            <a:r>
              <a:rPr lang="vi-VN" dirty="0" err="1"/>
              <a:t>biểu</a:t>
            </a:r>
            <a:r>
              <a:rPr lang="vi-VN" dirty="0"/>
              <a:t> </a:t>
            </a:r>
            <a:r>
              <a:rPr lang="vi-VN" dirty="0" err="1"/>
              <a:t>diễn</a:t>
            </a:r>
            <a:r>
              <a:rPr lang="vi-VN" dirty="0"/>
              <a:t>)</a:t>
            </a:r>
          </a:p>
          <a:p>
            <a:r>
              <a:rPr lang="vi-VN" sz="2100" b="1" dirty="0" err="1">
                <a:solidFill>
                  <a:srgbClr val="0070C0"/>
                </a:solidFill>
              </a:rPr>
              <a:t>char</a:t>
            </a:r>
            <a:r>
              <a:rPr lang="vi-VN" dirty="0"/>
              <a:t> </a:t>
            </a:r>
            <a:r>
              <a:rPr lang="vi-VN" b="1" dirty="0" err="1"/>
              <a:t>một</a:t>
            </a:r>
            <a:r>
              <a:rPr lang="vi-VN" b="1" dirty="0"/>
              <a:t> </a:t>
            </a:r>
            <a:r>
              <a:rPr lang="vi-VN" b="1" dirty="0" err="1"/>
              <a:t>ký</a:t>
            </a:r>
            <a:r>
              <a:rPr lang="vi-VN" b="1" dirty="0"/>
              <a:t> </a:t>
            </a:r>
            <a:r>
              <a:rPr lang="vi-VN" b="1" dirty="0" err="1"/>
              <a:t>tự</a:t>
            </a:r>
            <a:r>
              <a:rPr lang="vi-VN" b="1" dirty="0"/>
              <a:t> </a:t>
            </a:r>
            <a:r>
              <a:rPr lang="vi-VN" dirty="0"/>
              <a:t>(</a:t>
            </a:r>
            <a:r>
              <a:rPr lang="vi-VN" dirty="0" err="1"/>
              <a:t>dùng</a:t>
            </a:r>
            <a:r>
              <a:rPr lang="vi-VN" dirty="0"/>
              <a:t> 16 </a:t>
            </a:r>
            <a:r>
              <a:rPr lang="vi-VN" dirty="0" err="1"/>
              <a:t>bit</a:t>
            </a:r>
            <a:r>
              <a:rPr lang="vi-VN" dirty="0"/>
              <a:t> </a:t>
            </a:r>
            <a:r>
              <a:rPr lang="vi-VN" dirty="0" err="1"/>
              <a:t>biểu</a:t>
            </a:r>
            <a:r>
              <a:rPr lang="vi-VN" dirty="0"/>
              <a:t> </a:t>
            </a:r>
            <a:r>
              <a:rPr lang="vi-VN" dirty="0" err="1"/>
              <a:t>diễn</a:t>
            </a:r>
            <a:r>
              <a:rPr lang="vi-VN" dirty="0"/>
              <a:t> </a:t>
            </a:r>
            <a:r>
              <a:rPr lang="vi-VN" dirty="0" err="1"/>
              <a:t>ký</a:t>
            </a:r>
            <a:r>
              <a:rPr lang="vi-VN" dirty="0"/>
              <a:t> </a:t>
            </a:r>
            <a:r>
              <a:rPr lang="vi-VN" dirty="0" err="1"/>
              <a:t>tự</a:t>
            </a:r>
            <a:r>
              <a:rPr lang="vi-VN" dirty="0"/>
              <a:t> </a:t>
            </a:r>
            <a:r>
              <a:rPr lang="vi-VN" dirty="0" err="1"/>
              <a:t>Unicode</a:t>
            </a:r>
            <a:r>
              <a:rPr lang="vi-VN" dirty="0"/>
              <a:t>)</a:t>
            </a:r>
          </a:p>
          <a:p>
            <a:r>
              <a:rPr lang="vi-VN" sz="2100" b="1" dirty="0" err="1">
                <a:solidFill>
                  <a:srgbClr val="0070C0"/>
                </a:solidFill>
              </a:rPr>
              <a:t>bool</a:t>
            </a:r>
            <a:r>
              <a:rPr lang="vi-VN" dirty="0"/>
              <a:t> </a:t>
            </a:r>
            <a:r>
              <a:rPr lang="vi-VN" b="1" dirty="0" err="1"/>
              <a:t>kiểu</a:t>
            </a:r>
            <a:r>
              <a:rPr lang="vi-VN" b="1" dirty="0"/>
              <a:t> </a:t>
            </a:r>
            <a:r>
              <a:rPr lang="vi-VN" b="1" dirty="0" err="1"/>
              <a:t>logic</a:t>
            </a:r>
            <a:r>
              <a:rPr lang="vi-VN" b="1" dirty="0"/>
              <a:t> </a:t>
            </a:r>
            <a:r>
              <a:rPr lang="vi-VN" dirty="0"/>
              <a:t>(</a:t>
            </a:r>
            <a:r>
              <a:rPr lang="vi-VN" dirty="0" err="1"/>
              <a:t>chỉ</a:t>
            </a:r>
            <a:r>
              <a:rPr lang="vi-VN" dirty="0"/>
              <a:t> </a:t>
            </a:r>
            <a:r>
              <a:rPr lang="vi-VN" dirty="0" err="1"/>
              <a:t>nhận</a:t>
            </a:r>
            <a:r>
              <a:rPr lang="vi-VN" dirty="0"/>
              <a:t> </a:t>
            </a:r>
            <a:r>
              <a:rPr lang="vi-VN" dirty="0" err="1"/>
              <a:t>giá</a:t>
            </a:r>
            <a:r>
              <a:rPr lang="vi-VN" dirty="0"/>
              <a:t> </a:t>
            </a:r>
            <a:r>
              <a:rPr lang="vi-VN" dirty="0" err="1"/>
              <a:t>trị</a:t>
            </a:r>
            <a:r>
              <a:rPr lang="vi-VN" dirty="0"/>
              <a:t> </a:t>
            </a:r>
            <a:r>
              <a:rPr lang="vi-VN" dirty="0" err="1"/>
              <a:t>false</a:t>
            </a:r>
            <a:r>
              <a:rPr lang="vi-VN" dirty="0"/>
              <a:t> </a:t>
            </a:r>
            <a:r>
              <a:rPr lang="vi-VN" dirty="0" err="1"/>
              <a:t>hoặc</a:t>
            </a:r>
            <a:r>
              <a:rPr lang="vi-VN" dirty="0"/>
              <a:t> </a:t>
            </a:r>
            <a:r>
              <a:rPr lang="vi-VN" dirty="0" err="1"/>
              <a:t>true</a:t>
            </a:r>
            <a:r>
              <a:rPr lang="vi-VN" dirty="0"/>
              <a:t>)</a:t>
            </a:r>
          </a:p>
          <a:p>
            <a:r>
              <a:rPr lang="vi-VN" sz="2100" b="1" dirty="0" err="1">
                <a:solidFill>
                  <a:srgbClr val="0070C0"/>
                </a:solidFill>
              </a:rPr>
              <a:t>string</a:t>
            </a:r>
            <a:r>
              <a:rPr lang="vi-VN" dirty="0"/>
              <a:t> </a:t>
            </a:r>
            <a:r>
              <a:rPr lang="vi-VN" b="1" dirty="0" err="1"/>
              <a:t>chuỗi</a:t>
            </a:r>
            <a:r>
              <a:rPr lang="vi-VN" dirty="0"/>
              <a:t> (xâu) </a:t>
            </a:r>
            <a:r>
              <a:rPr lang="vi-VN" dirty="0" err="1"/>
              <a:t>ký</a:t>
            </a:r>
            <a:r>
              <a:rPr lang="vi-VN" dirty="0"/>
              <a:t> </a:t>
            </a:r>
            <a:r>
              <a:rPr lang="vi-VN" dirty="0" err="1"/>
              <a:t>tự</a:t>
            </a:r>
            <a:r>
              <a:rPr lang="vi-VN" dirty="0"/>
              <a:t> (</a:t>
            </a:r>
            <a:r>
              <a:rPr lang="vi-VN" dirty="0" err="1"/>
              <a:t>tập</a:t>
            </a:r>
            <a:r>
              <a:rPr lang="vi-VN" dirty="0"/>
              <a:t> </a:t>
            </a:r>
            <a:r>
              <a:rPr lang="vi-VN" dirty="0" err="1"/>
              <a:t>hợp</a:t>
            </a:r>
            <a:r>
              <a:rPr lang="vi-VN" dirty="0"/>
              <a:t> </a:t>
            </a:r>
            <a:r>
              <a:rPr lang="vi-VN" dirty="0" err="1"/>
              <a:t>các</a:t>
            </a:r>
            <a:r>
              <a:rPr lang="vi-VN" dirty="0"/>
              <a:t> </a:t>
            </a:r>
            <a:r>
              <a:rPr lang="vi-VN" dirty="0" err="1"/>
              <a:t>ký</a:t>
            </a:r>
            <a:r>
              <a:rPr lang="vi-VN" dirty="0"/>
              <a:t> </a:t>
            </a:r>
            <a:r>
              <a:rPr lang="vi-VN" dirty="0" err="1"/>
              <a:t>tự</a:t>
            </a:r>
            <a:r>
              <a:rPr lang="vi-VN" dirty="0"/>
              <a:t> theo </a:t>
            </a:r>
            <a:r>
              <a:rPr lang="vi-VN" dirty="0" err="1"/>
              <a:t>thứ</a:t>
            </a:r>
            <a:r>
              <a:rPr lang="vi-VN" dirty="0"/>
              <a:t> </a:t>
            </a:r>
            <a:r>
              <a:rPr lang="vi-VN" dirty="0" err="1"/>
              <a:t>tự</a:t>
            </a:r>
            <a:r>
              <a:rPr lang="vi-VN" dirty="0"/>
              <a:t> - </a:t>
            </a:r>
            <a:r>
              <a:rPr lang="vi-VN" dirty="0" err="1"/>
              <a:t>một</a:t>
            </a:r>
            <a:r>
              <a:rPr lang="vi-VN" dirty="0"/>
              <a:t> văn </a:t>
            </a:r>
            <a:r>
              <a:rPr lang="vi-VN" dirty="0" err="1"/>
              <a:t>bản</a:t>
            </a:r>
            <a:r>
              <a:rPr lang="vi-VN" dirty="0"/>
              <a:t> </a:t>
            </a:r>
            <a:r>
              <a:rPr lang="vi-VN" dirty="0" err="1"/>
              <a:t>text</a:t>
            </a:r>
            <a:r>
              <a:rPr lang="vi-VN" dirty="0"/>
              <a:t>)</a:t>
            </a:r>
          </a:p>
          <a:p>
            <a:r>
              <a:rPr lang="vi-VN" sz="2100" b="1" dirty="0" err="1">
                <a:solidFill>
                  <a:srgbClr val="0070C0"/>
                </a:solidFill>
              </a:rPr>
              <a:t>object</a:t>
            </a:r>
            <a:r>
              <a:rPr lang="vi-VN" dirty="0"/>
              <a:t> </a:t>
            </a:r>
            <a:r>
              <a:rPr lang="vi-VN" b="1" dirty="0" err="1"/>
              <a:t>đối</a:t>
            </a:r>
            <a:r>
              <a:rPr lang="vi-VN" b="1" dirty="0"/>
              <a:t> </a:t>
            </a:r>
            <a:r>
              <a:rPr lang="vi-VN" b="1" dirty="0" err="1"/>
              <a:t>tượng</a:t>
            </a:r>
            <a:r>
              <a:rPr lang="vi-VN" dirty="0"/>
              <a:t>, </a:t>
            </a:r>
            <a:r>
              <a:rPr lang="vi-VN" dirty="0" err="1"/>
              <a:t>biểu</a:t>
            </a:r>
            <a:r>
              <a:rPr lang="vi-VN" dirty="0"/>
              <a:t> </a:t>
            </a:r>
            <a:r>
              <a:rPr lang="vi-VN" dirty="0" err="1"/>
              <a:t>diễn</a:t>
            </a:r>
            <a:r>
              <a:rPr lang="vi-VN" dirty="0"/>
              <a:t> </a:t>
            </a:r>
            <a:r>
              <a:rPr lang="vi-VN" dirty="0" err="1"/>
              <a:t>các</a:t>
            </a:r>
            <a:r>
              <a:rPr lang="vi-VN" dirty="0"/>
              <a:t> </a:t>
            </a:r>
            <a:r>
              <a:rPr lang="vi-VN" dirty="0" err="1"/>
              <a:t>đối</a:t>
            </a:r>
            <a:r>
              <a:rPr lang="vi-VN" dirty="0"/>
              <a:t> </a:t>
            </a:r>
            <a:r>
              <a:rPr lang="vi-VN" dirty="0" err="1"/>
              <a:t>tượng</a:t>
            </a:r>
            <a:r>
              <a:rPr lang="vi-VN" dirty="0"/>
              <a:t> C#, </a:t>
            </a:r>
            <a:r>
              <a:rPr lang="vi-VN" dirty="0" err="1"/>
              <a:t>nó</a:t>
            </a:r>
            <a:r>
              <a:rPr lang="vi-VN" dirty="0"/>
              <a:t> </a:t>
            </a:r>
            <a:r>
              <a:rPr lang="vi-VN" dirty="0" err="1"/>
              <a:t>là</a:t>
            </a:r>
            <a:r>
              <a:rPr lang="vi-VN" dirty="0"/>
              <a:t> </a:t>
            </a:r>
            <a:r>
              <a:rPr lang="vi-VN" dirty="0" err="1"/>
              <a:t>kiểu</a:t>
            </a:r>
            <a:r>
              <a:rPr lang="vi-VN" dirty="0"/>
              <a:t> cơ </a:t>
            </a:r>
            <a:r>
              <a:rPr lang="vi-VN" dirty="0" err="1"/>
              <a:t>sở</a:t>
            </a:r>
            <a:r>
              <a:rPr lang="vi-VN" dirty="0"/>
              <a:t> - </a:t>
            </a:r>
            <a:r>
              <a:rPr lang="vi-VN" dirty="0" err="1"/>
              <a:t>mọi</a:t>
            </a:r>
            <a:r>
              <a:rPr lang="vi-VN" dirty="0"/>
              <a:t> </a:t>
            </a:r>
            <a:r>
              <a:rPr lang="vi-VN" dirty="0" err="1"/>
              <a:t>đối</a:t>
            </a:r>
            <a:r>
              <a:rPr lang="vi-VN" dirty="0"/>
              <a:t> </a:t>
            </a:r>
            <a:r>
              <a:rPr lang="vi-VN" dirty="0" err="1"/>
              <a:t>tượng</a:t>
            </a:r>
            <a:r>
              <a:rPr lang="vi-VN" dirty="0"/>
              <a:t> C# </a:t>
            </a:r>
            <a:r>
              <a:rPr lang="vi-VN" dirty="0" err="1"/>
              <a:t>đều</a:t>
            </a:r>
            <a:r>
              <a:rPr lang="vi-VN" dirty="0"/>
              <a:t> </a:t>
            </a:r>
            <a:r>
              <a:rPr lang="vi-VN" dirty="0" err="1"/>
              <a:t>kế</a:t>
            </a:r>
            <a:r>
              <a:rPr lang="vi-VN" dirty="0"/>
              <a:t> </a:t>
            </a:r>
            <a:r>
              <a:rPr lang="vi-VN" dirty="0" err="1"/>
              <a:t>thừa</a:t>
            </a:r>
            <a:r>
              <a:rPr lang="vi-VN" dirty="0"/>
              <a:t> </a:t>
            </a:r>
            <a:r>
              <a:rPr lang="vi-VN" dirty="0" err="1"/>
              <a:t>từ</a:t>
            </a:r>
            <a:r>
              <a:rPr lang="vi-VN" dirty="0"/>
              <a:t> </a:t>
            </a:r>
            <a:r>
              <a:rPr lang="vi-VN" dirty="0" err="1"/>
              <a:t>kiểu</a:t>
            </a:r>
            <a:r>
              <a:rPr lang="vi-VN" dirty="0"/>
              <a:t> </a:t>
            </a:r>
            <a:r>
              <a:rPr lang="vi-VN" dirty="0" err="1"/>
              <a:t>này</a:t>
            </a:r>
            <a:r>
              <a:rPr lang="vi-VN" dirty="0"/>
              <a:t>.</a:t>
            </a:r>
            <a:endParaRPr lang="en-US" dirty="0"/>
          </a:p>
        </p:txBody>
      </p:sp>
    </p:spTree>
    <p:extLst>
      <p:ext uri="{BB962C8B-B14F-4D97-AF65-F5344CB8AC3E}">
        <p14:creationId xmlns:p14="http://schemas.microsoft.com/office/powerpoint/2010/main" val="3543072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0C705-24CD-5B91-E4CC-CC78989F165D}"/>
              </a:ext>
            </a:extLst>
          </p:cNvPr>
          <p:cNvSpPr>
            <a:spLocks noGrp="1"/>
          </p:cNvSpPr>
          <p:nvPr>
            <p:ph type="title"/>
          </p:nvPr>
        </p:nvSpPr>
        <p:spPr/>
        <p:txBody>
          <a:bodyPr/>
          <a:lstStyle/>
          <a:p>
            <a:r>
              <a:rPr lang="en-US" b="0" i="0" dirty="0">
                <a:solidFill>
                  <a:srgbClr val="17A2B8"/>
                </a:solidFill>
                <a:effectLst/>
                <a:latin typeface="-apple-system"/>
              </a:rPr>
              <a:t>d. </a:t>
            </a:r>
            <a:r>
              <a:rPr lang="en-US" b="0" i="0" dirty="0" err="1">
                <a:solidFill>
                  <a:srgbClr val="17A2B8"/>
                </a:solidFill>
                <a:effectLst/>
                <a:latin typeface="-apple-system"/>
              </a:rPr>
              <a:t>Xuất</a:t>
            </a:r>
            <a:r>
              <a:rPr lang="en-US" b="0" i="0" dirty="0">
                <a:solidFill>
                  <a:srgbClr val="17A2B8"/>
                </a:solidFill>
                <a:effectLst/>
                <a:latin typeface="-apple-system"/>
              </a:rPr>
              <a:t> </a:t>
            </a:r>
            <a:r>
              <a:rPr lang="en-US" b="0" i="0" dirty="0" err="1">
                <a:solidFill>
                  <a:srgbClr val="17A2B8"/>
                </a:solidFill>
                <a:effectLst/>
                <a:latin typeface="-apple-system"/>
              </a:rPr>
              <a:t>dữ</a:t>
            </a:r>
            <a:r>
              <a:rPr lang="en-US" b="0" i="0" dirty="0">
                <a:solidFill>
                  <a:srgbClr val="17A2B8"/>
                </a:solidFill>
                <a:effectLst/>
                <a:latin typeface="-apple-system"/>
              </a:rPr>
              <a:t> </a:t>
            </a:r>
            <a:r>
              <a:rPr lang="en-US" b="0" i="0" dirty="0" err="1">
                <a:solidFill>
                  <a:srgbClr val="17A2B8"/>
                </a:solidFill>
                <a:effectLst/>
                <a:latin typeface="-apple-system"/>
              </a:rPr>
              <a:t>liệu</a:t>
            </a:r>
            <a:r>
              <a:rPr lang="en-US" b="0" i="0" dirty="0">
                <a:solidFill>
                  <a:srgbClr val="17A2B8"/>
                </a:solidFill>
                <a:effectLst/>
                <a:latin typeface="-apple-system"/>
              </a:rPr>
              <a:t> </a:t>
            </a:r>
            <a:r>
              <a:rPr lang="en-US" b="0" i="0" dirty="0" err="1">
                <a:solidFill>
                  <a:srgbClr val="17A2B8"/>
                </a:solidFill>
                <a:effectLst/>
                <a:latin typeface="-apple-system"/>
              </a:rPr>
              <a:t>ra</a:t>
            </a:r>
            <a:r>
              <a:rPr lang="en-US" b="0" i="0" dirty="0">
                <a:solidFill>
                  <a:srgbClr val="17A2B8"/>
                </a:solidFill>
                <a:effectLst/>
                <a:latin typeface="-apple-system"/>
              </a:rPr>
              <a:t> </a:t>
            </a:r>
            <a:r>
              <a:rPr lang="en-US" b="0" i="0" dirty="0" err="1">
                <a:solidFill>
                  <a:srgbClr val="17A2B8"/>
                </a:solidFill>
                <a:effectLst/>
                <a:latin typeface="-apple-system"/>
              </a:rPr>
              <a:t>màn</a:t>
            </a:r>
            <a:r>
              <a:rPr lang="en-US" b="0" i="0" dirty="0">
                <a:solidFill>
                  <a:srgbClr val="17A2B8"/>
                </a:solidFill>
                <a:effectLst/>
                <a:latin typeface="-apple-system"/>
              </a:rPr>
              <a:t> </a:t>
            </a:r>
            <a:r>
              <a:rPr lang="en-US" b="0" i="0" dirty="0" err="1">
                <a:solidFill>
                  <a:srgbClr val="17A2B8"/>
                </a:solidFill>
                <a:effectLst/>
                <a:latin typeface="-apple-system"/>
              </a:rPr>
              <a:t>hình</a:t>
            </a:r>
            <a:r>
              <a:rPr lang="en-US" b="0" i="0" dirty="0">
                <a:solidFill>
                  <a:srgbClr val="17A2B8"/>
                </a:solidFill>
                <a:effectLst/>
                <a:latin typeface="-apple-system"/>
              </a:rPr>
              <a:t> Console</a:t>
            </a:r>
            <a:endParaRPr lang="en-US" dirty="0"/>
          </a:p>
        </p:txBody>
      </p:sp>
      <p:sp>
        <p:nvSpPr>
          <p:cNvPr id="3" name="Content Placeholder 2">
            <a:extLst>
              <a:ext uri="{FF2B5EF4-FFF2-40B4-BE49-F238E27FC236}">
                <a16:creationId xmlns:a16="http://schemas.microsoft.com/office/drawing/2014/main" id="{89BA476D-20B7-D4E8-CE13-F2A7884EBE2D}"/>
              </a:ext>
            </a:extLst>
          </p:cNvPr>
          <p:cNvSpPr>
            <a:spLocks noGrp="1"/>
          </p:cNvSpPr>
          <p:nvPr>
            <p:ph idx="1"/>
          </p:nvPr>
        </p:nvSpPr>
        <p:spPr/>
        <p:txBody>
          <a:bodyPr/>
          <a:lstStyle/>
          <a:p>
            <a:r>
              <a:rPr lang="vi-VN" dirty="0"/>
              <a:t>Thư </a:t>
            </a:r>
            <a:r>
              <a:rPr lang="vi-VN" dirty="0" err="1"/>
              <a:t>viện</a:t>
            </a:r>
            <a:r>
              <a:rPr lang="vi-VN" dirty="0"/>
              <a:t> </a:t>
            </a:r>
            <a:r>
              <a:rPr lang="vi-VN" dirty="0" err="1"/>
              <a:t>lớp</a:t>
            </a:r>
            <a:r>
              <a:rPr lang="vi-VN" dirty="0"/>
              <a:t> C# cung </a:t>
            </a:r>
            <a:r>
              <a:rPr lang="vi-VN" dirty="0" err="1"/>
              <a:t>cấp</a:t>
            </a:r>
            <a:r>
              <a:rPr lang="vi-VN" dirty="0"/>
              <a:t> </a:t>
            </a:r>
            <a:r>
              <a:rPr lang="vi-VN" dirty="0" err="1"/>
              <a:t>sẵn</a:t>
            </a:r>
            <a:r>
              <a:rPr lang="vi-VN" dirty="0"/>
              <a:t> </a:t>
            </a:r>
            <a:r>
              <a:rPr lang="vi-VN" dirty="0" err="1"/>
              <a:t>một</a:t>
            </a:r>
            <a:r>
              <a:rPr lang="vi-VN" dirty="0"/>
              <a:t> </a:t>
            </a:r>
            <a:r>
              <a:rPr lang="vi-VN" dirty="0" err="1"/>
              <a:t>lớp</a:t>
            </a:r>
            <a:r>
              <a:rPr lang="vi-VN" dirty="0"/>
              <a:t> tên </a:t>
            </a:r>
            <a:r>
              <a:rPr lang="vi-VN" err="1"/>
              <a:t>là</a:t>
            </a:r>
            <a:r>
              <a:rPr lang="vi-VN"/>
              <a:t> Console (System.Console) trong đó có chữa một số phương thức tĩnh để nhập / xuất dữ liệu với màn hình </a:t>
            </a:r>
            <a:r>
              <a:rPr lang="vi-VN" dirty="0" err="1"/>
              <a:t>dòng</a:t>
            </a:r>
            <a:r>
              <a:rPr lang="vi-VN" dirty="0"/>
              <a:t> </a:t>
            </a:r>
            <a:r>
              <a:rPr lang="vi-VN" dirty="0" err="1"/>
              <a:t>lệnh</a:t>
            </a:r>
            <a:r>
              <a:rPr lang="vi-VN" dirty="0"/>
              <a:t> Terminal</a:t>
            </a:r>
            <a:endParaRPr lang="en-US" dirty="0"/>
          </a:p>
          <a:p>
            <a:pPr>
              <a:buFont typeface="Arial" panose="020B0604020202020204" pitchFamily="34" charset="0"/>
              <a:buChar char="•"/>
            </a:pPr>
            <a:r>
              <a:rPr lang="vi-VN" dirty="0" err="1">
                <a:solidFill>
                  <a:srgbClr val="0070C0"/>
                </a:solidFill>
              </a:rPr>
              <a:t>Console.Write</a:t>
            </a:r>
            <a:r>
              <a:rPr lang="vi-VN" dirty="0">
                <a:solidFill>
                  <a:srgbClr val="0070C0"/>
                </a:solidFill>
              </a:rPr>
              <a:t>(</a:t>
            </a:r>
            <a:r>
              <a:rPr lang="vi-VN" dirty="0" err="1">
                <a:solidFill>
                  <a:srgbClr val="0070C0"/>
                </a:solidFill>
              </a:rPr>
              <a:t>value</a:t>
            </a:r>
            <a:r>
              <a:rPr lang="vi-VN" dirty="0">
                <a:solidFill>
                  <a:srgbClr val="0070C0"/>
                </a:solidFill>
              </a:rPr>
              <a:t>) </a:t>
            </a:r>
            <a:r>
              <a:rPr lang="vi-VN" dirty="0"/>
              <a:t>- in </a:t>
            </a:r>
            <a:r>
              <a:rPr lang="vi-VN" dirty="0" err="1"/>
              <a:t>value</a:t>
            </a:r>
            <a:r>
              <a:rPr lang="vi-VN" dirty="0"/>
              <a:t> ra </a:t>
            </a:r>
            <a:r>
              <a:rPr lang="vi-VN" dirty="0" err="1"/>
              <a:t>màn</a:t>
            </a:r>
            <a:r>
              <a:rPr lang="vi-VN" dirty="0"/>
              <a:t> </a:t>
            </a:r>
            <a:r>
              <a:rPr lang="vi-VN" dirty="0" err="1"/>
              <a:t>hình</a:t>
            </a:r>
            <a:r>
              <a:rPr lang="vi-VN" dirty="0"/>
              <a:t>, nhưng </a:t>
            </a:r>
            <a:r>
              <a:rPr lang="vi-VN"/>
              <a:t>không xuống </a:t>
            </a:r>
            <a:r>
              <a:rPr lang="vi-VN" dirty="0" err="1"/>
              <a:t>dòng</a:t>
            </a:r>
            <a:r>
              <a:rPr lang="vi-VN" dirty="0"/>
              <a:t> </a:t>
            </a:r>
            <a:r>
              <a:rPr lang="vi-VN" dirty="0" err="1"/>
              <a:t>mới</a:t>
            </a:r>
            <a:r>
              <a:rPr lang="vi-VN" dirty="0"/>
              <a:t> - </a:t>
            </a:r>
            <a:r>
              <a:rPr lang="vi-VN" dirty="0" err="1"/>
              <a:t>value</a:t>
            </a:r>
            <a:r>
              <a:rPr lang="vi-VN" dirty="0"/>
              <a:t> </a:t>
            </a:r>
            <a:r>
              <a:rPr lang="vi-VN" dirty="0" err="1"/>
              <a:t>có</a:t>
            </a:r>
            <a:r>
              <a:rPr lang="vi-VN" dirty="0"/>
              <a:t> </a:t>
            </a:r>
            <a:r>
              <a:rPr lang="vi-VN" dirty="0" err="1"/>
              <a:t>thể</a:t>
            </a:r>
            <a:r>
              <a:rPr lang="vi-VN" dirty="0"/>
              <a:t> </a:t>
            </a:r>
            <a:r>
              <a:rPr lang="vi-VN" dirty="0" err="1"/>
              <a:t>là</a:t>
            </a:r>
            <a:r>
              <a:rPr lang="vi-VN" dirty="0"/>
              <a:t> </a:t>
            </a:r>
            <a:r>
              <a:rPr lang="vi-VN" dirty="0" err="1"/>
              <a:t>một</a:t>
            </a:r>
            <a:r>
              <a:rPr lang="vi-VN" dirty="0"/>
              <a:t> </a:t>
            </a:r>
            <a:r>
              <a:rPr lang="vi-VN" dirty="0" err="1"/>
              <a:t>số</a:t>
            </a:r>
            <a:r>
              <a:rPr lang="vi-VN" dirty="0"/>
              <a:t>, </a:t>
            </a:r>
            <a:r>
              <a:rPr lang="vi-VN" dirty="0" err="1"/>
              <a:t>chữ</a:t>
            </a:r>
            <a:r>
              <a:rPr lang="vi-VN" dirty="0"/>
              <a:t>, </a:t>
            </a:r>
            <a:r>
              <a:rPr lang="vi-VN" dirty="0" err="1"/>
              <a:t>chuỗi</a:t>
            </a:r>
            <a:r>
              <a:rPr lang="vi-VN" dirty="0"/>
              <a:t> ...</a:t>
            </a:r>
          </a:p>
          <a:p>
            <a:pPr>
              <a:buFont typeface="Arial" panose="020B0604020202020204" pitchFamily="34" charset="0"/>
              <a:buChar char="•"/>
            </a:pPr>
            <a:r>
              <a:rPr lang="vi-VN" dirty="0" err="1">
                <a:solidFill>
                  <a:srgbClr val="0070C0"/>
                </a:solidFill>
              </a:rPr>
              <a:t>Console.WriteLine</a:t>
            </a:r>
            <a:r>
              <a:rPr lang="vi-VN" dirty="0">
                <a:solidFill>
                  <a:srgbClr val="0070C0"/>
                </a:solidFill>
              </a:rPr>
              <a:t>(</a:t>
            </a:r>
            <a:r>
              <a:rPr lang="vi-VN" dirty="0" err="1">
                <a:solidFill>
                  <a:srgbClr val="0070C0"/>
                </a:solidFill>
              </a:rPr>
              <a:t>value</a:t>
            </a:r>
            <a:r>
              <a:rPr lang="vi-VN" dirty="0">
                <a:solidFill>
                  <a:srgbClr val="0070C0"/>
                </a:solidFill>
              </a:rPr>
              <a:t>) </a:t>
            </a:r>
            <a:r>
              <a:rPr lang="vi-VN" dirty="0"/>
              <a:t>- in </a:t>
            </a:r>
            <a:r>
              <a:rPr lang="vi-VN" dirty="0" err="1"/>
              <a:t>value</a:t>
            </a:r>
            <a:r>
              <a:rPr lang="vi-VN" dirty="0"/>
              <a:t> ra </a:t>
            </a:r>
            <a:r>
              <a:rPr lang="vi-VN" dirty="0" err="1"/>
              <a:t>màn</a:t>
            </a:r>
            <a:r>
              <a:rPr lang="vi-VN" dirty="0"/>
              <a:t> </a:t>
            </a:r>
            <a:r>
              <a:rPr lang="vi-VN" dirty="0" err="1"/>
              <a:t>hình</a:t>
            </a:r>
            <a:r>
              <a:rPr lang="vi-VN" dirty="0"/>
              <a:t>, sau </a:t>
            </a:r>
            <a:r>
              <a:rPr lang="vi-VN" dirty="0" err="1"/>
              <a:t>đó</a:t>
            </a:r>
            <a:r>
              <a:rPr lang="vi-VN" dirty="0"/>
              <a:t> </a:t>
            </a:r>
            <a:r>
              <a:rPr lang="vi-VN" dirty="0" err="1"/>
              <a:t>xuống</a:t>
            </a:r>
            <a:r>
              <a:rPr lang="vi-VN" dirty="0"/>
              <a:t> </a:t>
            </a:r>
            <a:r>
              <a:rPr lang="vi-VN" dirty="0" err="1"/>
              <a:t>dòng</a:t>
            </a:r>
            <a:endParaRPr lang="vi-VN" dirty="0"/>
          </a:p>
        </p:txBody>
      </p:sp>
    </p:spTree>
    <p:extLst>
      <p:ext uri="{BB962C8B-B14F-4D97-AF65-F5344CB8AC3E}">
        <p14:creationId xmlns:p14="http://schemas.microsoft.com/office/powerpoint/2010/main" val="1570965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B3D3-455B-539C-8905-634EB283248F}"/>
              </a:ext>
            </a:extLst>
          </p:cNvPr>
          <p:cNvSpPr>
            <a:spLocks noGrp="1"/>
          </p:cNvSpPr>
          <p:nvPr>
            <p:ph type="title"/>
          </p:nvPr>
        </p:nvSpPr>
        <p:spPr/>
        <p:txBody>
          <a:bodyPr/>
          <a:lstStyle/>
          <a:p>
            <a:r>
              <a:rPr lang="en-US" b="0" i="0" dirty="0">
                <a:solidFill>
                  <a:srgbClr val="17A2B8"/>
                </a:solidFill>
                <a:effectLst/>
                <a:latin typeface="-apple-system"/>
              </a:rPr>
              <a:t>d. </a:t>
            </a:r>
            <a:r>
              <a:rPr lang="en-US" b="0" i="0" dirty="0" err="1">
                <a:solidFill>
                  <a:srgbClr val="17A2B8"/>
                </a:solidFill>
                <a:effectLst/>
                <a:latin typeface="-apple-system"/>
              </a:rPr>
              <a:t>Xuất</a:t>
            </a:r>
            <a:r>
              <a:rPr lang="en-US" b="0" i="0" dirty="0">
                <a:solidFill>
                  <a:srgbClr val="17A2B8"/>
                </a:solidFill>
                <a:effectLst/>
                <a:latin typeface="-apple-system"/>
              </a:rPr>
              <a:t> </a:t>
            </a:r>
            <a:r>
              <a:rPr lang="en-US" b="0" i="0" dirty="0" err="1">
                <a:solidFill>
                  <a:srgbClr val="17A2B8"/>
                </a:solidFill>
                <a:effectLst/>
                <a:latin typeface="-apple-system"/>
              </a:rPr>
              <a:t>dữ</a:t>
            </a:r>
            <a:r>
              <a:rPr lang="en-US" b="0" i="0" dirty="0">
                <a:solidFill>
                  <a:srgbClr val="17A2B8"/>
                </a:solidFill>
                <a:effectLst/>
                <a:latin typeface="-apple-system"/>
              </a:rPr>
              <a:t> </a:t>
            </a:r>
            <a:r>
              <a:rPr lang="en-US" b="0" i="0" dirty="0" err="1">
                <a:solidFill>
                  <a:srgbClr val="17A2B8"/>
                </a:solidFill>
                <a:effectLst/>
                <a:latin typeface="-apple-system"/>
              </a:rPr>
              <a:t>liệu</a:t>
            </a:r>
            <a:r>
              <a:rPr lang="en-US" b="0" i="0" dirty="0">
                <a:solidFill>
                  <a:srgbClr val="17A2B8"/>
                </a:solidFill>
                <a:effectLst/>
                <a:latin typeface="-apple-system"/>
              </a:rPr>
              <a:t> </a:t>
            </a:r>
            <a:r>
              <a:rPr lang="en-US" b="0" i="0" dirty="0" err="1">
                <a:solidFill>
                  <a:srgbClr val="17A2B8"/>
                </a:solidFill>
                <a:effectLst/>
                <a:latin typeface="-apple-system"/>
              </a:rPr>
              <a:t>ra</a:t>
            </a:r>
            <a:r>
              <a:rPr lang="en-US" b="0" i="0" dirty="0">
                <a:solidFill>
                  <a:srgbClr val="17A2B8"/>
                </a:solidFill>
                <a:effectLst/>
                <a:latin typeface="-apple-system"/>
              </a:rPr>
              <a:t> </a:t>
            </a:r>
            <a:r>
              <a:rPr lang="en-US" b="0" i="0" dirty="0" err="1">
                <a:solidFill>
                  <a:srgbClr val="17A2B8"/>
                </a:solidFill>
                <a:effectLst/>
                <a:latin typeface="-apple-system"/>
              </a:rPr>
              <a:t>màn</a:t>
            </a:r>
            <a:r>
              <a:rPr lang="en-US" b="0" i="0" dirty="0">
                <a:solidFill>
                  <a:srgbClr val="17A2B8"/>
                </a:solidFill>
                <a:effectLst/>
                <a:latin typeface="-apple-system"/>
              </a:rPr>
              <a:t> </a:t>
            </a:r>
            <a:r>
              <a:rPr lang="en-US" b="0" i="0" dirty="0" err="1">
                <a:solidFill>
                  <a:srgbClr val="17A2B8"/>
                </a:solidFill>
                <a:effectLst/>
                <a:latin typeface="-apple-system"/>
              </a:rPr>
              <a:t>hình</a:t>
            </a:r>
            <a:r>
              <a:rPr lang="en-US" b="0" i="0" dirty="0">
                <a:solidFill>
                  <a:srgbClr val="17A2B8"/>
                </a:solidFill>
                <a:effectLst/>
                <a:latin typeface="-apple-system"/>
              </a:rPr>
              <a:t> Console</a:t>
            </a:r>
            <a:endParaRPr lang="en-US" dirty="0"/>
          </a:p>
        </p:txBody>
      </p:sp>
      <p:sp>
        <p:nvSpPr>
          <p:cNvPr id="3" name="Content Placeholder 2">
            <a:extLst>
              <a:ext uri="{FF2B5EF4-FFF2-40B4-BE49-F238E27FC236}">
                <a16:creationId xmlns:a16="http://schemas.microsoft.com/office/drawing/2014/main" id="{2BE6541D-89AB-EFEE-F722-327001874CDC}"/>
              </a:ext>
            </a:extLst>
          </p:cNvPr>
          <p:cNvSpPr>
            <a:spLocks noGrp="1"/>
          </p:cNvSpPr>
          <p:nvPr>
            <p:ph idx="1"/>
          </p:nvPr>
        </p:nvSpPr>
        <p:spPr/>
        <p:txBody>
          <a:bodyPr>
            <a:normAutofit fontScale="92500" lnSpcReduction="10000"/>
          </a:bodyPr>
          <a:lstStyle/>
          <a:p>
            <a:r>
              <a:rPr lang="en-US" sz="4600" b="1" i="0" dirty="0" err="1">
                <a:solidFill>
                  <a:srgbClr val="0070C0"/>
                </a:solidFill>
                <a:effectLst/>
                <a:latin typeface="-apple-system"/>
              </a:rPr>
              <a:t>Ví</a:t>
            </a:r>
            <a:r>
              <a:rPr lang="en-US" sz="4600" b="1" i="0" dirty="0">
                <a:solidFill>
                  <a:srgbClr val="0070C0"/>
                </a:solidFill>
                <a:effectLst/>
                <a:latin typeface="-apple-system"/>
              </a:rPr>
              <a:t> </a:t>
            </a:r>
            <a:r>
              <a:rPr lang="en-US" sz="4600" b="1" i="0" dirty="0" err="1">
                <a:solidFill>
                  <a:srgbClr val="0070C0"/>
                </a:solidFill>
                <a:effectLst/>
                <a:latin typeface="-apple-system"/>
              </a:rPr>
              <a:t>dụ</a:t>
            </a:r>
            <a:r>
              <a:rPr lang="en-US" sz="4600" b="1" i="0" dirty="0">
                <a:solidFill>
                  <a:srgbClr val="0070C0"/>
                </a:solidFill>
                <a:effectLst/>
                <a:latin typeface="-apple-system"/>
              </a:rPr>
              <a:t>:</a:t>
            </a:r>
          </a:p>
          <a:p>
            <a:r>
              <a:rPr lang="vi-VN" dirty="0" err="1"/>
              <a:t>Console.WriteLine</a:t>
            </a:r>
            <a:r>
              <a:rPr lang="vi-VN" dirty="0"/>
              <a:t>();                                                //</a:t>
            </a:r>
            <a:r>
              <a:rPr lang="vi-VN" dirty="0" err="1"/>
              <a:t>Xuống</a:t>
            </a:r>
            <a:r>
              <a:rPr lang="vi-VN" dirty="0"/>
              <a:t> </a:t>
            </a:r>
            <a:r>
              <a:rPr lang="vi-VN" dirty="0" err="1"/>
              <a:t>dòng</a:t>
            </a:r>
            <a:endParaRPr lang="vi-VN" dirty="0"/>
          </a:p>
          <a:p>
            <a:r>
              <a:rPr lang="vi-VN" dirty="0" err="1"/>
              <a:t>Console.WriteLine</a:t>
            </a:r>
            <a:r>
              <a:rPr lang="vi-VN" dirty="0"/>
              <a:t>();                                                //</a:t>
            </a:r>
            <a:r>
              <a:rPr lang="vi-VN" dirty="0" err="1"/>
              <a:t>Xuống</a:t>
            </a:r>
            <a:r>
              <a:rPr lang="vi-VN" dirty="0"/>
              <a:t> </a:t>
            </a:r>
            <a:r>
              <a:rPr lang="vi-VN" dirty="0" err="1"/>
              <a:t>dòng</a:t>
            </a:r>
            <a:endParaRPr lang="vi-VN" dirty="0"/>
          </a:p>
          <a:p>
            <a:endParaRPr lang="vi-VN" dirty="0"/>
          </a:p>
          <a:p>
            <a:r>
              <a:rPr lang="vi-VN" dirty="0" err="1"/>
              <a:t>Console.WriteLine</a:t>
            </a:r>
            <a:r>
              <a:rPr lang="vi-VN" dirty="0"/>
              <a:t>("XIN CHÀO - CHƯƠNG TRÌNH NHẬP XUẤT DỮ LIỆU");     //In </a:t>
            </a:r>
            <a:r>
              <a:rPr lang="vi-VN" dirty="0" err="1"/>
              <a:t>dòng</a:t>
            </a:r>
            <a:r>
              <a:rPr lang="vi-VN" dirty="0"/>
              <a:t> </a:t>
            </a:r>
            <a:r>
              <a:rPr lang="vi-VN" dirty="0" err="1"/>
              <a:t>chữ</a:t>
            </a:r>
            <a:endParaRPr lang="vi-VN" dirty="0"/>
          </a:p>
          <a:p>
            <a:endParaRPr lang="vi-VN" dirty="0"/>
          </a:p>
          <a:p>
            <a:r>
              <a:rPr lang="vi-VN" dirty="0" err="1"/>
              <a:t>Console.Write</a:t>
            </a:r>
            <a:r>
              <a:rPr lang="vi-VN" dirty="0"/>
              <a:t>("</a:t>
            </a:r>
            <a:r>
              <a:rPr lang="vi-VN" dirty="0" err="1"/>
              <a:t>Giá</a:t>
            </a:r>
            <a:r>
              <a:rPr lang="vi-VN" dirty="0"/>
              <a:t> </a:t>
            </a:r>
            <a:r>
              <a:rPr lang="vi-VN" dirty="0" err="1"/>
              <a:t>trị</a:t>
            </a:r>
            <a:r>
              <a:rPr lang="vi-VN" dirty="0"/>
              <a:t> </a:t>
            </a:r>
            <a:r>
              <a:rPr lang="vi-VN" dirty="0" err="1"/>
              <a:t>biến</a:t>
            </a:r>
            <a:r>
              <a:rPr lang="vi-VN" dirty="0"/>
              <a:t> </a:t>
            </a:r>
            <a:r>
              <a:rPr lang="vi-VN" dirty="0" err="1"/>
              <a:t>so_pi</a:t>
            </a:r>
            <a:r>
              <a:rPr lang="vi-VN" dirty="0"/>
              <a:t> </a:t>
            </a:r>
            <a:r>
              <a:rPr lang="vi-VN" dirty="0" err="1"/>
              <a:t>là</a:t>
            </a:r>
            <a:r>
              <a:rPr lang="vi-VN" dirty="0"/>
              <a:t> : ");                          //In </a:t>
            </a:r>
            <a:r>
              <a:rPr lang="vi-VN" dirty="0" err="1"/>
              <a:t>dòng</a:t>
            </a:r>
            <a:r>
              <a:rPr lang="vi-VN" dirty="0"/>
              <a:t> </a:t>
            </a:r>
            <a:r>
              <a:rPr lang="vi-VN" dirty="0" err="1"/>
              <a:t>chữ</a:t>
            </a:r>
            <a:endParaRPr lang="vi-VN" dirty="0"/>
          </a:p>
          <a:p>
            <a:r>
              <a:rPr lang="vi-VN" dirty="0" err="1"/>
              <a:t>Console.WriteLine</a:t>
            </a:r>
            <a:r>
              <a:rPr lang="vi-VN" dirty="0"/>
              <a:t>(</a:t>
            </a:r>
            <a:r>
              <a:rPr lang="vi-VN" dirty="0" err="1"/>
              <a:t>so_pi</a:t>
            </a:r>
            <a:r>
              <a:rPr lang="vi-VN" dirty="0"/>
              <a:t>);                                           //In </a:t>
            </a:r>
            <a:r>
              <a:rPr lang="vi-VN" dirty="0" err="1"/>
              <a:t>giá</a:t>
            </a:r>
            <a:r>
              <a:rPr lang="vi-VN" dirty="0"/>
              <a:t> </a:t>
            </a:r>
            <a:r>
              <a:rPr lang="vi-VN" dirty="0" err="1"/>
              <a:t>trị</a:t>
            </a:r>
            <a:r>
              <a:rPr lang="vi-VN" dirty="0"/>
              <a:t> </a:t>
            </a:r>
            <a:r>
              <a:rPr lang="vi-VN" dirty="0" err="1"/>
              <a:t>biến</a:t>
            </a:r>
            <a:endParaRPr lang="vi-VN" dirty="0"/>
          </a:p>
          <a:p>
            <a:r>
              <a:rPr lang="vi-VN" dirty="0" err="1"/>
              <a:t>Console.WriteLine</a:t>
            </a:r>
            <a:r>
              <a:rPr lang="vi-VN" dirty="0"/>
              <a:t>();                                                //</a:t>
            </a:r>
            <a:r>
              <a:rPr lang="vi-VN" dirty="0" err="1"/>
              <a:t>Xuống</a:t>
            </a:r>
            <a:r>
              <a:rPr lang="vi-VN" dirty="0"/>
              <a:t> </a:t>
            </a:r>
            <a:r>
              <a:rPr lang="vi-VN" dirty="0" err="1"/>
              <a:t>dòng</a:t>
            </a:r>
            <a:endParaRPr lang="en-US" dirty="0"/>
          </a:p>
        </p:txBody>
      </p:sp>
      <p:sp>
        <p:nvSpPr>
          <p:cNvPr id="4" name="Rectangle 3">
            <a:extLst>
              <a:ext uri="{FF2B5EF4-FFF2-40B4-BE49-F238E27FC236}">
                <a16:creationId xmlns:a16="http://schemas.microsoft.com/office/drawing/2014/main" id="{03DEE085-6162-11B0-BF82-1D0A879A2A0D}"/>
              </a:ext>
            </a:extLst>
          </p:cNvPr>
          <p:cNvSpPr/>
          <p:nvPr/>
        </p:nvSpPr>
        <p:spPr>
          <a:xfrm>
            <a:off x="1013460" y="2247900"/>
            <a:ext cx="9342120" cy="37295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304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B3054-8552-BFE7-7105-B26EFB57D574}"/>
              </a:ext>
            </a:extLst>
          </p:cNvPr>
          <p:cNvSpPr>
            <a:spLocks noGrp="1"/>
          </p:cNvSpPr>
          <p:nvPr>
            <p:ph type="title"/>
          </p:nvPr>
        </p:nvSpPr>
        <p:spPr/>
        <p:txBody>
          <a:bodyPr/>
          <a:lstStyle/>
          <a:p>
            <a:r>
              <a:rPr lang="en-US" b="0" i="0" dirty="0">
                <a:solidFill>
                  <a:srgbClr val="17A2B8"/>
                </a:solidFill>
                <a:effectLst/>
                <a:latin typeface="-apple-system"/>
              </a:rPr>
              <a:t>d. </a:t>
            </a:r>
            <a:r>
              <a:rPr lang="en-US" b="0" i="0" dirty="0" err="1">
                <a:solidFill>
                  <a:srgbClr val="17A2B8"/>
                </a:solidFill>
                <a:effectLst/>
                <a:latin typeface="-apple-system"/>
              </a:rPr>
              <a:t>Xuất</a:t>
            </a:r>
            <a:r>
              <a:rPr lang="en-US" b="0" i="0" dirty="0">
                <a:solidFill>
                  <a:srgbClr val="17A2B8"/>
                </a:solidFill>
                <a:effectLst/>
                <a:latin typeface="-apple-system"/>
              </a:rPr>
              <a:t> </a:t>
            </a:r>
            <a:r>
              <a:rPr lang="en-US" b="0" i="0" dirty="0" err="1">
                <a:solidFill>
                  <a:srgbClr val="17A2B8"/>
                </a:solidFill>
                <a:effectLst/>
                <a:latin typeface="-apple-system"/>
              </a:rPr>
              <a:t>dữ</a:t>
            </a:r>
            <a:r>
              <a:rPr lang="en-US" b="0" i="0" dirty="0">
                <a:solidFill>
                  <a:srgbClr val="17A2B8"/>
                </a:solidFill>
                <a:effectLst/>
                <a:latin typeface="-apple-system"/>
              </a:rPr>
              <a:t> </a:t>
            </a:r>
            <a:r>
              <a:rPr lang="en-US" b="0" i="0" dirty="0" err="1">
                <a:solidFill>
                  <a:srgbClr val="17A2B8"/>
                </a:solidFill>
                <a:effectLst/>
                <a:latin typeface="-apple-system"/>
              </a:rPr>
              <a:t>liệu</a:t>
            </a:r>
            <a:r>
              <a:rPr lang="en-US" b="0" i="0" dirty="0">
                <a:solidFill>
                  <a:srgbClr val="17A2B8"/>
                </a:solidFill>
                <a:effectLst/>
                <a:latin typeface="-apple-system"/>
              </a:rPr>
              <a:t> </a:t>
            </a:r>
            <a:r>
              <a:rPr lang="en-US" b="0" i="0" dirty="0" err="1">
                <a:solidFill>
                  <a:srgbClr val="17A2B8"/>
                </a:solidFill>
                <a:effectLst/>
                <a:latin typeface="-apple-system"/>
              </a:rPr>
              <a:t>ra</a:t>
            </a:r>
            <a:r>
              <a:rPr lang="en-US" b="0" i="0" dirty="0">
                <a:solidFill>
                  <a:srgbClr val="17A2B8"/>
                </a:solidFill>
                <a:effectLst/>
                <a:latin typeface="-apple-system"/>
              </a:rPr>
              <a:t> </a:t>
            </a:r>
            <a:r>
              <a:rPr lang="en-US" b="0" i="0" dirty="0" err="1">
                <a:solidFill>
                  <a:srgbClr val="17A2B8"/>
                </a:solidFill>
                <a:effectLst/>
                <a:latin typeface="-apple-system"/>
              </a:rPr>
              <a:t>màn</a:t>
            </a:r>
            <a:r>
              <a:rPr lang="en-US" b="0" i="0" dirty="0">
                <a:solidFill>
                  <a:srgbClr val="17A2B8"/>
                </a:solidFill>
                <a:effectLst/>
                <a:latin typeface="-apple-system"/>
              </a:rPr>
              <a:t> </a:t>
            </a:r>
            <a:r>
              <a:rPr lang="en-US" b="0" i="0" dirty="0" err="1">
                <a:solidFill>
                  <a:srgbClr val="17A2B8"/>
                </a:solidFill>
                <a:effectLst/>
                <a:latin typeface="-apple-system"/>
              </a:rPr>
              <a:t>hình</a:t>
            </a:r>
            <a:r>
              <a:rPr lang="en-US" b="0" i="0" dirty="0">
                <a:solidFill>
                  <a:srgbClr val="17A2B8"/>
                </a:solidFill>
                <a:effectLst/>
                <a:latin typeface="-apple-system"/>
              </a:rPr>
              <a:t> Console</a:t>
            </a:r>
            <a:endParaRPr lang="en-US" dirty="0"/>
          </a:p>
        </p:txBody>
      </p:sp>
      <p:sp>
        <p:nvSpPr>
          <p:cNvPr id="3" name="Content Placeholder 2">
            <a:extLst>
              <a:ext uri="{FF2B5EF4-FFF2-40B4-BE49-F238E27FC236}">
                <a16:creationId xmlns:a16="http://schemas.microsoft.com/office/drawing/2014/main" id="{817A2823-082A-8E4E-B05A-1104BD05182E}"/>
              </a:ext>
            </a:extLst>
          </p:cNvPr>
          <p:cNvSpPr>
            <a:spLocks noGrp="1"/>
          </p:cNvSpPr>
          <p:nvPr>
            <p:ph idx="1"/>
          </p:nvPr>
        </p:nvSpPr>
        <p:spPr>
          <a:xfrm>
            <a:off x="1036320" y="1775460"/>
            <a:ext cx="10058400" cy="4023360"/>
          </a:xfrm>
        </p:spPr>
        <p:txBody>
          <a:bodyPr>
            <a:normAutofit fontScale="92500" lnSpcReduction="10000"/>
          </a:bodyPr>
          <a:lstStyle/>
          <a:p>
            <a:r>
              <a:rPr lang="en-US" dirty="0" err="1">
                <a:solidFill>
                  <a:srgbClr val="212529"/>
                </a:solidFill>
                <a:latin typeface="-apple-system"/>
              </a:rPr>
              <a:t>D</a:t>
            </a:r>
            <a:r>
              <a:rPr lang="en-US" b="0" i="0" dirty="0" err="1">
                <a:solidFill>
                  <a:srgbClr val="212529"/>
                </a:solidFill>
                <a:effectLst/>
                <a:latin typeface="-apple-system"/>
              </a:rPr>
              <a:t>ùng</a:t>
            </a:r>
            <a:r>
              <a:rPr lang="en-US" b="0" i="0" dirty="0">
                <a:solidFill>
                  <a:srgbClr val="212529"/>
                </a:solidFill>
                <a:effectLst/>
                <a:latin typeface="-apple-system"/>
              </a:rPr>
              <a:t> </a:t>
            </a:r>
            <a:r>
              <a:rPr lang="en-US" b="1" i="0" dirty="0">
                <a:solidFill>
                  <a:srgbClr val="212529"/>
                </a:solidFill>
                <a:effectLst/>
                <a:latin typeface="-apple-system"/>
              </a:rPr>
              <a:t>format string</a:t>
            </a:r>
            <a:r>
              <a:rPr lang="en-US" b="0" i="0" dirty="0">
                <a:solidFill>
                  <a:srgbClr val="212529"/>
                </a:solidFill>
                <a:effectLst/>
                <a:latin typeface="-apple-system"/>
              </a:rPr>
              <a:t> </a:t>
            </a:r>
            <a:r>
              <a:rPr lang="en-US" b="0" i="0" dirty="0" err="1">
                <a:solidFill>
                  <a:srgbClr val="212529"/>
                </a:solidFill>
                <a:effectLst/>
                <a:latin typeface="-apple-system"/>
              </a:rPr>
              <a:t>để</a:t>
            </a:r>
            <a:r>
              <a:rPr lang="en-US" b="0" i="0" dirty="0">
                <a:solidFill>
                  <a:srgbClr val="212529"/>
                </a:solidFill>
                <a:effectLst/>
                <a:latin typeface="-apple-system"/>
              </a:rPr>
              <a:t> </a:t>
            </a:r>
            <a:r>
              <a:rPr lang="en-US" b="0" i="0" dirty="0" err="1">
                <a:solidFill>
                  <a:srgbClr val="212529"/>
                </a:solidFill>
                <a:effectLst/>
                <a:latin typeface="-apple-system"/>
              </a:rPr>
              <a:t>tạo</a:t>
            </a:r>
            <a:r>
              <a:rPr lang="en-US" b="0" i="0" dirty="0">
                <a:solidFill>
                  <a:srgbClr val="212529"/>
                </a:solidFill>
                <a:effectLst/>
                <a:latin typeface="-apple-system"/>
              </a:rPr>
              <a:t> </a:t>
            </a:r>
            <a:r>
              <a:rPr lang="en-US" b="0" i="0" dirty="0" err="1">
                <a:solidFill>
                  <a:srgbClr val="212529"/>
                </a:solidFill>
                <a:effectLst/>
                <a:latin typeface="-apple-system"/>
              </a:rPr>
              <a:t>ra</a:t>
            </a:r>
            <a:r>
              <a:rPr lang="en-US" b="0" i="0" dirty="0">
                <a:solidFill>
                  <a:srgbClr val="212529"/>
                </a:solidFill>
                <a:effectLst/>
                <a:latin typeface="-apple-system"/>
              </a:rPr>
              <a:t> </a:t>
            </a:r>
            <a:r>
              <a:rPr lang="en-US" b="0" i="0" dirty="0" err="1">
                <a:solidFill>
                  <a:srgbClr val="212529"/>
                </a:solidFill>
                <a:effectLst/>
                <a:latin typeface="-apple-system"/>
              </a:rPr>
              <a:t>chuỗi</a:t>
            </a:r>
            <a:r>
              <a:rPr lang="en-US" b="0" i="0" dirty="0">
                <a:solidFill>
                  <a:srgbClr val="212529"/>
                </a:solidFill>
                <a:effectLst/>
                <a:latin typeface="-apple-system"/>
              </a:rPr>
              <a:t> in </a:t>
            </a:r>
            <a:r>
              <a:rPr lang="en-US" b="0" i="0" dirty="0" err="1">
                <a:solidFill>
                  <a:srgbClr val="212529"/>
                </a:solidFill>
                <a:effectLst/>
                <a:latin typeface="-apple-system"/>
              </a:rPr>
              <a:t>ra</a:t>
            </a:r>
            <a:r>
              <a:rPr lang="en-US" b="0" i="0" dirty="0">
                <a:solidFill>
                  <a:srgbClr val="212529"/>
                </a:solidFill>
                <a:effectLst/>
                <a:latin typeface="-apple-system"/>
              </a:rPr>
              <a:t> </a:t>
            </a:r>
            <a:r>
              <a:rPr lang="en-US" b="0" i="0" dirty="0" err="1">
                <a:solidFill>
                  <a:srgbClr val="212529"/>
                </a:solidFill>
                <a:effectLst/>
                <a:latin typeface="-apple-system"/>
              </a:rPr>
              <a:t>nhằm</a:t>
            </a:r>
            <a:r>
              <a:rPr lang="en-US" b="0" i="0" dirty="0">
                <a:solidFill>
                  <a:srgbClr val="212529"/>
                </a:solidFill>
                <a:effectLst/>
                <a:latin typeface="-apple-system"/>
              </a:rPr>
              <a:t> </a:t>
            </a:r>
            <a:r>
              <a:rPr lang="en-US" b="0" i="0" dirty="0" err="1">
                <a:solidFill>
                  <a:srgbClr val="212529"/>
                </a:solidFill>
                <a:effectLst/>
                <a:latin typeface="-apple-system"/>
              </a:rPr>
              <a:t>giảm</a:t>
            </a:r>
            <a:r>
              <a:rPr lang="en-US" b="0" i="0" dirty="0">
                <a:solidFill>
                  <a:srgbClr val="212529"/>
                </a:solidFill>
                <a:effectLst/>
                <a:latin typeface="-apple-system"/>
              </a:rPr>
              <a:t> </a:t>
            </a:r>
            <a:r>
              <a:rPr lang="en-US" b="0" i="0" dirty="0" err="1">
                <a:solidFill>
                  <a:srgbClr val="212529"/>
                </a:solidFill>
                <a:effectLst/>
                <a:latin typeface="-apple-system"/>
              </a:rPr>
              <a:t>thiểu</a:t>
            </a:r>
            <a:r>
              <a:rPr lang="en-US" b="0" i="0" dirty="0">
                <a:solidFill>
                  <a:srgbClr val="212529"/>
                </a:solidFill>
                <a:effectLst/>
                <a:latin typeface="-apple-system"/>
              </a:rPr>
              <a:t> </a:t>
            </a:r>
            <a:r>
              <a:rPr lang="en-US" b="0" i="0" dirty="0" err="1">
                <a:solidFill>
                  <a:srgbClr val="212529"/>
                </a:solidFill>
                <a:effectLst/>
                <a:latin typeface="-apple-system"/>
              </a:rPr>
              <a:t>dòng</a:t>
            </a:r>
            <a:r>
              <a:rPr lang="en-US" b="0" i="0" dirty="0">
                <a:solidFill>
                  <a:srgbClr val="212529"/>
                </a:solidFill>
                <a:effectLst/>
                <a:latin typeface="-apple-system"/>
              </a:rPr>
              <a:t> code:</a:t>
            </a:r>
          </a:p>
          <a:p>
            <a:r>
              <a:rPr lang="en-US" dirty="0"/>
              <a:t>int a = 123;</a:t>
            </a:r>
          </a:p>
          <a:p>
            <a:r>
              <a:rPr lang="en-US" dirty="0"/>
              <a:t>double b = 567.123;</a:t>
            </a:r>
          </a:p>
          <a:p>
            <a:r>
              <a:rPr lang="en-US" dirty="0" err="1"/>
              <a:t>Console.WriteLine</a:t>
            </a:r>
            <a:r>
              <a:rPr lang="en-US" dirty="0"/>
              <a:t>("</a:t>
            </a:r>
            <a:r>
              <a:rPr lang="en-US" dirty="0" err="1"/>
              <a:t>Biến</a:t>
            </a:r>
            <a:r>
              <a:rPr lang="en-US" dirty="0"/>
              <a:t> a = {0}, </a:t>
            </a:r>
            <a:r>
              <a:rPr lang="en-US" dirty="0" err="1"/>
              <a:t>biến</a:t>
            </a:r>
            <a:r>
              <a:rPr lang="en-US" dirty="0"/>
              <a:t> b = {1}", a, b);</a:t>
            </a:r>
          </a:p>
          <a:p>
            <a:r>
              <a:rPr lang="en-US" dirty="0"/>
              <a:t>//</a:t>
            </a:r>
            <a:r>
              <a:rPr lang="en-US" dirty="0" err="1"/>
              <a:t>Xuất</a:t>
            </a:r>
            <a:r>
              <a:rPr lang="en-US" dirty="0"/>
              <a:t> </a:t>
            </a:r>
            <a:r>
              <a:rPr lang="en-US" dirty="0" err="1"/>
              <a:t>ra</a:t>
            </a:r>
            <a:r>
              <a:rPr lang="en-US" dirty="0"/>
              <a:t>: </a:t>
            </a:r>
            <a:r>
              <a:rPr lang="en-US" dirty="0" err="1">
                <a:solidFill>
                  <a:srgbClr val="FF0000"/>
                </a:solidFill>
              </a:rPr>
              <a:t>Biến</a:t>
            </a:r>
            <a:r>
              <a:rPr lang="en-US" dirty="0">
                <a:solidFill>
                  <a:srgbClr val="FF0000"/>
                </a:solidFill>
              </a:rPr>
              <a:t> a = 123, </a:t>
            </a:r>
            <a:r>
              <a:rPr lang="en-US" dirty="0" err="1">
                <a:solidFill>
                  <a:srgbClr val="FF0000"/>
                </a:solidFill>
              </a:rPr>
              <a:t>biến</a:t>
            </a:r>
            <a:r>
              <a:rPr lang="en-US" dirty="0">
                <a:solidFill>
                  <a:srgbClr val="FF0000"/>
                </a:solidFill>
              </a:rPr>
              <a:t> b = 567.123</a:t>
            </a:r>
          </a:p>
          <a:p>
            <a:r>
              <a:rPr lang="en-US" dirty="0"/>
              <a:t>C</a:t>
            </a:r>
            <a:r>
              <a:rPr lang="vi-VN" dirty="0" err="1"/>
              <a:t>hèn</a:t>
            </a:r>
            <a:r>
              <a:rPr lang="vi-VN" dirty="0"/>
              <a:t> </a:t>
            </a:r>
            <a:r>
              <a:rPr lang="vi-VN" dirty="0" err="1"/>
              <a:t>cả</a:t>
            </a:r>
            <a:r>
              <a:rPr lang="vi-VN" dirty="0"/>
              <a:t> </a:t>
            </a:r>
            <a:r>
              <a:rPr lang="vi-VN" dirty="0" err="1"/>
              <a:t>một</a:t>
            </a:r>
            <a:r>
              <a:rPr lang="vi-VN" dirty="0"/>
              <a:t> </a:t>
            </a:r>
            <a:r>
              <a:rPr lang="vi-VN" dirty="0" err="1"/>
              <a:t>biểu</a:t>
            </a:r>
            <a:r>
              <a:rPr lang="vi-VN" dirty="0"/>
              <a:t> </a:t>
            </a:r>
            <a:r>
              <a:rPr lang="vi-VN" dirty="0" err="1"/>
              <a:t>thức</a:t>
            </a:r>
            <a:r>
              <a:rPr lang="vi-VN" dirty="0"/>
              <a:t> </a:t>
            </a:r>
            <a:r>
              <a:rPr lang="vi-VN" dirty="0" err="1"/>
              <a:t>vào</a:t>
            </a:r>
            <a:r>
              <a:rPr lang="vi-VN" dirty="0"/>
              <a:t> </a:t>
            </a:r>
            <a:r>
              <a:rPr lang="vi-VN" dirty="0" err="1"/>
              <a:t>vị</a:t>
            </a:r>
            <a:r>
              <a:rPr lang="vi-VN" dirty="0"/>
              <a:t> </a:t>
            </a:r>
            <a:r>
              <a:rPr lang="vi-VN" dirty="0" err="1"/>
              <a:t>trí</a:t>
            </a:r>
            <a:r>
              <a:rPr lang="vi-VN" dirty="0"/>
              <a:t> </a:t>
            </a:r>
            <a:r>
              <a:rPr lang="vi-VN" dirty="0" err="1"/>
              <a:t>ấn</a:t>
            </a:r>
            <a:r>
              <a:rPr lang="vi-VN" dirty="0"/>
              <a:t> </a:t>
            </a:r>
            <a:r>
              <a:rPr lang="vi-VN" dirty="0" err="1"/>
              <a:t>định</a:t>
            </a:r>
            <a:r>
              <a:rPr lang="vi-VN" dirty="0"/>
              <a:t> trong </a:t>
            </a:r>
            <a:r>
              <a:rPr lang="vi-VN" dirty="0" err="1"/>
              <a:t>chuỗi</a:t>
            </a:r>
            <a:r>
              <a:rPr lang="vi-VN" dirty="0"/>
              <a:t>, </a:t>
            </a:r>
            <a:r>
              <a:rPr lang="vi-VN" dirty="0" err="1"/>
              <a:t>nếu</a:t>
            </a:r>
            <a:r>
              <a:rPr lang="vi-VN" dirty="0"/>
              <a:t> </a:t>
            </a:r>
            <a:r>
              <a:rPr lang="vi-VN" dirty="0" err="1"/>
              <a:t>trước</a:t>
            </a:r>
            <a:r>
              <a:rPr lang="vi-VN" dirty="0"/>
              <a:t> </a:t>
            </a:r>
            <a:r>
              <a:rPr lang="vi-VN" dirty="0" err="1"/>
              <a:t>ký</a:t>
            </a:r>
            <a:r>
              <a:rPr lang="vi-VN" dirty="0"/>
              <a:t> </a:t>
            </a:r>
            <a:r>
              <a:rPr lang="vi-VN" dirty="0" err="1"/>
              <a:t>hiệu</a:t>
            </a:r>
            <a:r>
              <a:rPr lang="vi-VN" dirty="0"/>
              <a:t> chu</a:t>
            </a:r>
            <a:r>
              <a:rPr lang="en-US" dirty="0"/>
              <a:t>ỗ</a:t>
            </a:r>
            <a:r>
              <a:rPr lang="vi-VN" dirty="0"/>
              <a:t>i </a:t>
            </a:r>
            <a:r>
              <a:rPr lang="vi-VN" dirty="0" err="1"/>
              <a:t>điền</a:t>
            </a:r>
            <a:r>
              <a:rPr lang="vi-VN" dirty="0"/>
              <a:t> </a:t>
            </a:r>
            <a:r>
              <a:rPr lang="vi-VN" dirty="0" err="1"/>
              <a:t>ký</a:t>
            </a:r>
            <a:r>
              <a:rPr lang="vi-VN" dirty="0"/>
              <a:t> </a:t>
            </a:r>
            <a:r>
              <a:rPr lang="vi-VN" dirty="0" err="1"/>
              <a:t>tự</a:t>
            </a:r>
            <a:r>
              <a:rPr lang="vi-VN" dirty="0"/>
              <a:t> $</a:t>
            </a:r>
            <a:endParaRPr lang="en-US" dirty="0"/>
          </a:p>
          <a:p>
            <a:r>
              <a:rPr lang="en-US" dirty="0"/>
              <a:t>int a = 123;</a:t>
            </a:r>
          </a:p>
          <a:p>
            <a:r>
              <a:rPr lang="en-US" dirty="0"/>
              <a:t>double b = 567.123;</a:t>
            </a:r>
          </a:p>
          <a:p>
            <a:r>
              <a:rPr lang="en-US" dirty="0" err="1"/>
              <a:t>Console.WriteLine</a:t>
            </a:r>
            <a:r>
              <a:rPr lang="en-US" dirty="0"/>
              <a:t>($"</a:t>
            </a:r>
            <a:r>
              <a:rPr lang="en-US" dirty="0" err="1"/>
              <a:t>Biến</a:t>
            </a:r>
            <a:r>
              <a:rPr lang="en-US" dirty="0"/>
              <a:t> a = {a}, </a:t>
            </a:r>
            <a:r>
              <a:rPr lang="en-US" dirty="0" err="1"/>
              <a:t>biến</a:t>
            </a:r>
            <a:r>
              <a:rPr lang="en-US" dirty="0"/>
              <a:t> b = {b} - </a:t>
            </a:r>
            <a:r>
              <a:rPr lang="en-US" dirty="0" err="1"/>
              <a:t>tích</a:t>
            </a:r>
            <a:r>
              <a:rPr lang="en-US" dirty="0"/>
              <a:t> </a:t>
            </a:r>
            <a:r>
              <a:rPr lang="en-US" dirty="0" err="1"/>
              <a:t>là</a:t>
            </a:r>
            <a:r>
              <a:rPr lang="en-US" dirty="0"/>
              <a:t> {a * b}");</a:t>
            </a:r>
          </a:p>
          <a:p>
            <a:r>
              <a:rPr lang="en-US" dirty="0"/>
              <a:t>//</a:t>
            </a:r>
            <a:r>
              <a:rPr lang="en-US" dirty="0" err="1"/>
              <a:t>Xuất</a:t>
            </a:r>
            <a:r>
              <a:rPr lang="en-US" dirty="0"/>
              <a:t> </a:t>
            </a:r>
            <a:r>
              <a:rPr lang="en-US" dirty="0" err="1"/>
              <a:t>ra</a:t>
            </a:r>
            <a:r>
              <a:rPr lang="en-US" dirty="0"/>
              <a:t>: </a:t>
            </a:r>
            <a:r>
              <a:rPr lang="en-US" dirty="0" err="1"/>
              <a:t>Biến</a:t>
            </a:r>
            <a:r>
              <a:rPr lang="en-US" dirty="0"/>
              <a:t> a = 123, </a:t>
            </a:r>
            <a:r>
              <a:rPr lang="en-US" dirty="0" err="1"/>
              <a:t>biến</a:t>
            </a:r>
            <a:r>
              <a:rPr lang="en-US" dirty="0"/>
              <a:t> b = 567.123 - </a:t>
            </a:r>
            <a:r>
              <a:rPr lang="en-US" dirty="0" err="1"/>
              <a:t>tích</a:t>
            </a:r>
            <a:r>
              <a:rPr lang="en-US" dirty="0"/>
              <a:t> </a:t>
            </a:r>
            <a:r>
              <a:rPr lang="en-US" dirty="0" err="1"/>
              <a:t>là</a:t>
            </a:r>
            <a:r>
              <a:rPr lang="en-US" dirty="0"/>
              <a:t> 69756.129</a:t>
            </a:r>
          </a:p>
        </p:txBody>
      </p:sp>
      <p:sp>
        <p:nvSpPr>
          <p:cNvPr id="4" name="Rectangle 3">
            <a:extLst>
              <a:ext uri="{FF2B5EF4-FFF2-40B4-BE49-F238E27FC236}">
                <a16:creationId xmlns:a16="http://schemas.microsoft.com/office/drawing/2014/main" id="{91AD8319-62A6-F4D3-073F-E43FE476ECA3}"/>
              </a:ext>
            </a:extLst>
          </p:cNvPr>
          <p:cNvSpPr/>
          <p:nvPr/>
        </p:nvSpPr>
        <p:spPr>
          <a:xfrm>
            <a:off x="1036320" y="2076872"/>
            <a:ext cx="8382000" cy="17102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71FA06-4F8B-98CB-74A3-4805631A7597}"/>
              </a:ext>
            </a:extLst>
          </p:cNvPr>
          <p:cNvSpPr/>
          <p:nvPr/>
        </p:nvSpPr>
        <p:spPr>
          <a:xfrm>
            <a:off x="1097280" y="4267200"/>
            <a:ext cx="6537960" cy="17102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0697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708512"/>
          </a:xfrm>
        </p:spPr>
        <p:txBody>
          <a:bodyPr>
            <a:normAutofit fontScale="90000"/>
          </a:bodyPr>
          <a:lstStyle/>
          <a:p>
            <a:r>
              <a:rPr lang="en-US" b="0" i="0" dirty="0">
                <a:solidFill>
                  <a:srgbClr val="17A2B8"/>
                </a:solidFill>
                <a:effectLst/>
                <a:latin typeface="-apple-system"/>
              </a:rPr>
              <a:t>e. </a:t>
            </a:r>
            <a:r>
              <a:rPr lang="en-US" b="0" i="0" dirty="0" err="1">
                <a:solidFill>
                  <a:srgbClr val="17A2B8"/>
                </a:solidFill>
                <a:effectLst/>
                <a:latin typeface="-apple-system"/>
              </a:rPr>
              <a:t>Nhập</a:t>
            </a:r>
            <a:r>
              <a:rPr lang="en-US" b="0" i="0" dirty="0">
                <a:solidFill>
                  <a:srgbClr val="17A2B8"/>
                </a:solidFill>
                <a:effectLst/>
                <a:latin typeface="-apple-system"/>
              </a:rPr>
              <a:t> </a:t>
            </a:r>
            <a:r>
              <a:rPr lang="en-US" b="0" i="0" dirty="0" err="1">
                <a:solidFill>
                  <a:srgbClr val="17A2B8"/>
                </a:solidFill>
                <a:effectLst/>
                <a:latin typeface="-apple-system"/>
              </a:rPr>
              <a:t>dữ</a:t>
            </a:r>
            <a:r>
              <a:rPr lang="en-US" b="0" i="0" dirty="0">
                <a:solidFill>
                  <a:srgbClr val="17A2B8"/>
                </a:solidFill>
                <a:effectLst/>
                <a:latin typeface="-apple-system"/>
              </a:rPr>
              <a:t> </a:t>
            </a:r>
            <a:r>
              <a:rPr lang="en-US" b="0" i="0" dirty="0" err="1">
                <a:solidFill>
                  <a:srgbClr val="17A2B8"/>
                </a:solidFill>
                <a:effectLst/>
                <a:latin typeface="-apple-system"/>
              </a:rPr>
              <a:t>liệu</a:t>
            </a:r>
            <a:r>
              <a:rPr lang="en-US" b="0" i="0" dirty="0">
                <a:solidFill>
                  <a:srgbClr val="17A2B8"/>
                </a:solidFill>
                <a:effectLst/>
                <a:latin typeface="-apple-system"/>
              </a:rPr>
              <a:t> </a:t>
            </a:r>
            <a:r>
              <a:rPr lang="en-US" b="0" i="0" dirty="0" err="1">
                <a:solidFill>
                  <a:srgbClr val="17A2B8"/>
                </a:solidFill>
                <a:effectLst/>
                <a:latin typeface="-apple-system"/>
              </a:rPr>
              <a:t>trong</a:t>
            </a:r>
            <a:r>
              <a:rPr lang="en-US" b="0" i="0" dirty="0">
                <a:solidFill>
                  <a:srgbClr val="17A2B8"/>
                </a:solidFill>
                <a:effectLst/>
                <a:latin typeface="-apple-system"/>
              </a:rPr>
              <a:t> C#</a:t>
            </a:r>
            <a:endParaRPr lang="en-US" dirty="0"/>
          </a:p>
        </p:txBody>
      </p:sp>
      <p:sp>
        <p:nvSpPr>
          <p:cNvPr id="4" name="Footer Placeholder 3"/>
          <p:cNvSpPr>
            <a:spLocks noGrp="1"/>
          </p:cNvSpPr>
          <p:nvPr>
            <p:ph type="ftr" sz="quarter" idx="11"/>
          </p:nvPr>
        </p:nvSpPr>
        <p:spPr/>
        <p:txBody>
          <a:bodyPr/>
          <a:lstStyle/>
          <a:p>
            <a:r>
              <a:rPr lang="vi-VN"/>
              <a:t>Lập trình C#1</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26</a:t>
            </a:fld>
            <a:endParaRPr lang="en-US" dirty="0"/>
          </a:p>
        </p:txBody>
      </p:sp>
      <p:sp>
        <p:nvSpPr>
          <p:cNvPr id="9" name="Content Placeholder 8"/>
          <p:cNvSpPr>
            <a:spLocks noGrp="1"/>
          </p:cNvSpPr>
          <p:nvPr>
            <p:ph idx="1"/>
          </p:nvPr>
        </p:nvSpPr>
        <p:spPr>
          <a:xfrm>
            <a:off x="1981200" y="1098550"/>
            <a:ext cx="8229600" cy="5257800"/>
          </a:xfrm>
        </p:spPr>
        <p:txBody>
          <a:bodyPr>
            <a:normAutofit/>
          </a:bodyPr>
          <a:lstStyle/>
          <a:p>
            <a:r>
              <a:rPr lang="en-US" sz="3600" dirty="0" err="1"/>
              <a:t>Nhập</a:t>
            </a:r>
            <a:r>
              <a:rPr lang="en-US" sz="3600" dirty="0"/>
              <a:t> </a:t>
            </a:r>
            <a:r>
              <a:rPr lang="en-US" sz="3600" dirty="0" err="1"/>
              <a:t>dữ</a:t>
            </a:r>
            <a:r>
              <a:rPr lang="en-US" sz="3600" dirty="0"/>
              <a:t> </a:t>
            </a:r>
            <a:r>
              <a:rPr lang="en-US" sz="3600" dirty="0" err="1"/>
              <a:t>liệu</a:t>
            </a:r>
            <a:r>
              <a:rPr lang="en-US" sz="3600" dirty="0"/>
              <a:t> </a:t>
            </a:r>
            <a:r>
              <a:rPr lang="en-US" sz="3600" dirty="0" err="1"/>
              <a:t>từ</a:t>
            </a:r>
            <a:r>
              <a:rPr lang="en-US" sz="3600" dirty="0"/>
              <a:t> </a:t>
            </a:r>
            <a:r>
              <a:rPr lang="en-US" sz="3600" dirty="0" err="1"/>
              <a:t>bàn</a:t>
            </a:r>
            <a:r>
              <a:rPr lang="en-US" sz="3600" dirty="0"/>
              <a:t> </a:t>
            </a:r>
            <a:r>
              <a:rPr lang="en-US" sz="3600" dirty="0" err="1"/>
              <a:t>phím</a:t>
            </a:r>
            <a:r>
              <a:rPr lang="en-US" sz="3600" dirty="0"/>
              <a:t>  </a:t>
            </a:r>
            <a:r>
              <a:rPr lang="en-US" sz="3600" dirty="0" err="1"/>
              <a:t>trong</a:t>
            </a:r>
            <a:r>
              <a:rPr lang="en-US" sz="3600" dirty="0"/>
              <a:t> </a:t>
            </a:r>
            <a:r>
              <a:rPr lang="en-US" sz="3600" dirty="0" err="1"/>
              <a:t>ứng</a:t>
            </a:r>
            <a:r>
              <a:rPr lang="en-US" sz="3600" dirty="0"/>
              <a:t> </a:t>
            </a:r>
            <a:r>
              <a:rPr lang="en-US" sz="3600" dirty="0" err="1"/>
              <a:t>dụng</a:t>
            </a:r>
            <a:r>
              <a:rPr lang="en-US" sz="3600" dirty="0"/>
              <a:t> console </a:t>
            </a:r>
            <a:r>
              <a:rPr lang="vi-VN" sz="3600" dirty="0" err="1"/>
              <a:t>sử</a:t>
            </a:r>
            <a:r>
              <a:rPr lang="vi-VN" sz="3600" dirty="0"/>
              <a:t> dụng một trong 2 phương thức bên dưới</a:t>
            </a:r>
            <a:endParaRPr lang="en-US" sz="3600" dirty="0"/>
          </a:p>
          <a:p>
            <a:pPr lvl="1"/>
            <a:r>
              <a:rPr lang="en-US" sz="3200" dirty="0" err="1"/>
              <a:t>Console.Read</a:t>
            </a:r>
            <a:r>
              <a:rPr lang="en-US" sz="3200" dirty="0"/>
              <a:t>(): </a:t>
            </a:r>
            <a:r>
              <a:rPr lang="vi-VN" sz="3200" dirty="0"/>
              <a:t>Nhập một ký </a:t>
            </a:r>
            <a:r>
              <a:rPr lang="vi-VN" sz="3200" dirty="0" err="1"/>
              <a:t>tự</a:t>
            </a:r>
            <a:r>
              <a:rPr lang="vi-VN" sz="3200" dirty="0"/>
              <a:t> </a:t>
            </a:r>
            <a:r>
              <a:rPr lang="en-US" sz="3200" dirty="0" err="1"/>
              <a:t>đơn</a:t>
            </a:r>
            <a:r>
              <a:rPr lang="en-US" sz="3200" dirty="0"/>
              <a:t> </a:t>
            </a:r>
            <a:r>
              <a:rPr lang="en-US" sz="3200" dirty="0" err="1"/>
              <a:t>từ</a:t>
            </a:r>
            <a:r>
              <a:rPr lang="en-US" sz="3200" dirty="0"/>
              <a:t> </a:t>
            </a:r>
            <a:r>
              <a:rPr lang="en-US" sz="3200" dirty="0" err="1"/>
              <a:t>bàn</a:t>
            </a:r>
            <a:r>
              <a:rPr lang="en-US" sz="3200" dirty="0"/>
              <a:t> </a:t>
            </a:r>
            <a:r>
              <a:rPr lang="en-US" sz="3200" dirty="0" err="1"/>
              <a:t>phím</a:t>
            </a:r>
            <a:r>
              <a:rPr lang="en-US" sz="3200" dirty="0"/>
              <a:t>, </a:t>
            </a:r>
            <a:r>
              <a:rPr lang="en-US" sz="3200" dirty="0" err="1"/>
              <a:t>hàm</a:t>
            </a:r>
            <a:r>
              <a:rPr lang="en-US" sz="3200" dirty="0"/>
              <a:t> </a:t>
            </a:r>
            <a:r>
              <a:rPr lang="en-US" sz="3200" dirty="0" err="1"/>
              <a:t>trả</a:t>
            </a:r>
            <a:r>
              <a:rPr lang="en-US" sz="3200" dirty="0"/>
              <a:t> </a:t>
            </a:r>
            <a:r>
              <a:rPr lang="en-US" sz="3200" dirty="0" err="1"/>
              <a:t>về</a:t>
            </a:r>
            <a:r>
              <a:rPr lang="en-US" sz="3200" dirty="0"/>
              <a:t> </a:t>
            </a:r>
            <a:r>
              <a:rPr lang="en-US" sz="3200" dirty="0" err="1"/>
              <a:t>mã</a:t>
            </a:r>
            <a:r>
              <a:rPr lang="en-US" sz="3200" dirty="0"/>
              <a:t> ASCII </a:t>
            </a:r>
            <a:r>
              <a:rPr lang="en-US" sz="3200" dirty="0" err="1"/>
              <a:t>của</a:t>
            </a:r>
            <a:r>
              <a:rPr lang="en-US" sz="3200" dirty="0"/>
              <a:t> </a:t>
            </a:r>
            <a:r>
              <a:rPr lang="en-US" sz="3200" dirty="0" err="1"/>
              <a:t>ký</a:t>
            </a:r>
            <a:r>
              <a:rPr lang="en-US" sz="3200" dirty="0"/>
              <a:t> </a:t>
            </a:r>
            <a:r>
              <a:rPr lang="en-US" sz="3200" dirty="0" err="1"/>
              <a:t>tự</a:t>
            </a:r>
            <a:endParaRPr lang="en-US" sz="3200" dirty="0"/>
          </a:p>
          <a:p>
            <a:pPr lvl="1"/>
            <a:r>
              <a:rPr lang="en-US" sz="3200" dirty="0" err="1"/>
              <a:t>Console.ReadLine</a:t>
            </a:r>
            <a:r>
              <a:rPr lang="en-US" sz="3200" dirty="0"/>
              <a:t>(): Nhập nhiều ký tự</a:t>
            </a:r>
          </a:p>
          <a:p>
            <a:pPr marL="457200" lvl="1" indent="0">
              <a:buNone/>
            </a:pPr>
            <a:endParaRPr lang="en-US" sz="3200" dirty="0"/>
          </a:p>
          <a:p>
            <a:pPr marL="0" indent="0">
              <a:buNone/>
            </a:pPr>
            <a:endParaRPr lang="en-US" sz="3600" dirty="0"/>
          </a:p>
        </p:txBody>
      </p:sp>
    </p:spTree>
    <p:extLst>
      <p:ext uri="{BB962C8B-B14F-4D97-AF65-F5344CB8AC3E}">
        <p14:creationId xmlns:p14="http://schemas.microsoft.com/office/powerpoint/2010/main" val="3437921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5BB8-E80B-4393-DDD9-3B9EE6A26333}"/>
              </a:ext>
            </a:extLst>
          </p:cNvPr>
          <p:cNvSpPr>
            <a:spLocks noGrp="1"/>
          </p:cNvSpPr>
          <p:nvPr>
            <p:ph type="title"/>
          </p:nvPr>
        </p:nvSpPr>
        <p:spPr/>
        <p:txBody>
          <a:bodyPr/>
          <a:lstStyle/>
          <a:p>
            <a:r>
              <a:rPr lang="en-US" b="0" i="0" dirty="0">
                <a:solidFill>
                  <a:srgbClr val="17A2B8"/>
                </a:solidFill>
                <a:effectLst/>
                <a:latin typeface="-apple-system"/>
              </a:rPr>
              <a:t>e. </a:t>
            </a:r>
            <a:r>
              <a:rPr lang="en-US" b="0" i="0" dirty="0" err="1">
                <a:solidFill>
                  <a:srgbClr val="17A2B8"/>
                </a:solidFill>
                <a:effectLst/>
                <a:latin typeface="-apple-system"/>
              </a:rPr>
              <a:t>Nhập</a:t>
            </a:r>
            <a:r>
              <a:rPr lang="en-US" b="0" i="0" dirty="0">
                <a:solidFill>
                  <a:srgbClr val="17A2B8"/>
                </a:solidFill>
                <a:effectLst/>
                <a:latin typeface="-apple-system"/>
              </a:rPr>
              <a:t> </a:t>
            </a:r>
            <a:r>
              <a:rPr lang="en-US" b="0" i="0" dirty="0" err="1">
                <a:solidFill>
                  <a:srgbClr val="17A2B8"/>
                </a:solidFill>
                <a:effectLst/>
                <a:latin typeface="-apple-system"/>
              </a:rPr>
              <a:t>dữ</a:t>
            </a:r>
            <a:r>
              <a:rPr lang="en-US" b="0" i="0" dirty="0">
                <a:solidFill>
                  <a:srgbClr val="17A2B8"/>
                </a:solidFill>
                <a:effectLst/>
                <a:latin typeface="-apple-system"/>
              </a:rPr>
              <a:t> </a:t>
            </a:r>
            <a:r>
              <a:rPr lang="en-US" b="0" i="0" dirty="0" err="1">
                <a:solidFill>
                  <a:srgbClr val="17A2B8"/>
                </a:solidFill>
                <a:effectLst/>
                <a:latin typeface="-apple-system"/>
              </a:rPr>
              <a:t>liệu</a:t>
            </a:r>
            <a:r>
              <a:rPr lang="en-US" b="0" i="0" dirty="0">
                <a:solidFill>
                  <a:srgbClr val="17A2B8"/>
                </a:solidFill>
                <a:effectLst/>
                <a:latin typeface="-apple-system"/>
              </a:rPr>
              <a:t> </a:t>
            </a:r>
            <a:r>
              <a:rPr lang="en-US" b="0" i="0" dirty="0" err="1">
                <a:solidFill>
                  <a:srgbClr val="17A2B8"/>
                </a:solidFill>
                <a:effectLst/>
                <a:latin typeface="-apple-system"/>
              </a:rPr>
              <a:t>trong</a:t>
            </a:r>
            <a:r>
              <a:rPr lang="en-US" b="0" i="0" dirty="0">
                <a:solidFill>
                  <a:srgbClr val="17A2B8"/>
                </a:solidFill>
                <a:effectLst/>
                <a:latin typeface="-apple-system"/>
              </a:rPr>
              <a:t> C#</a:t>
            </a:r>
            <a:endParaRPr lang="en-US" dirty="0"/>
          </a:p>
        </p:txBody>
      </p:sp>
      <p:sp>
        <p:nvSpPr>
          <p:cNvPr id="3" name="Content Placeholder 2">
            <a:extLst>
              <a:ext uri="{FF2B5EF4-FFF2-40B4-BE49-F238E27FC236}">
                <a16:creationId xmlns:a16="http://schemas.microsoft.com/office/drawing/2014/main" id="{1E39C81F-B55C-3BE4-BE14-9BF075B011AA}"/>
              </a:ext>
            </a:extLst>
          </p:cNvPr>
          <p:cNvSpPr>
            <a:spLocks noGrp="1"/>
          </p:cNvSpPr>
          <p:nvPr>
            <p:ph idx="1"/>
          </p:nvPr>
        </p:nvSpPr>
        <p:spPr/>
        <p:txBody>
          <a:bodyPr/>
          <a:lstStyle/>
          <a:p>
            <a:r>
              <a:rPr lang="en-US" dirty="0"/>
              <a:t>string </a:t>
            </a:r>
            <a:r>
              <a:rPr lang="en-US" dirty="0" err="1"/>
              <a:t>userLogin</a:t>
            </a:r>
            <a:r>
              <a:rPr lang="en-US" dirty="0"/>
              <a:t>;</a:t>
            </a:r>
          </a:p>
          <a:p>
            <a:r>
              <a:rPr lang="en-US" dirty="0" err="1"/>
              <a:t>Console.Write</a:t>
            </a:r>
            <a:r>
              <a:rPr lang="en-US" dirty="0"/>
              <a:t>("</a:t>
            </a:r>
            <a:r>
              <a:rPr lang="en-US" dirty="0" err="1"/>
              <a:t>Nhập</a:t>
            </a:r>
            <a:r>
              <a:rPr lang="en-US" dirty="0"/>
              <a:t> username : ");</a:t>
            </a:r>
          </a:p>
          <a:p>
            <a:r>
              <a:rPr lang="en-US" dirty="0" err="1"/>
              <a:t>userLogin</a:t>
            </a:r>
            <a:r>
              <a:rPr lang="en-US" dirty="0"/>
              <a:t> = </a:t>
            </a:r>
            <a:r>
              <a:rPr lang="en-US" dirty="0" err="1">
                <a:solidFill>
                  <a:srgbClr val="FF0000"/>
                </a:solidFill>
              </a:rPr>
              <a:t>Console.ReadLine</a:t>
            </a:r>
            <a:r>
              <a:rPr lang="en-US" dirty="0">
                <a:solidFill>
                  <a:srgbClr val="FF0000"/>
                </a:solidFill>
              </a:rPr>
              <a:t>();</a:t>
            </a:r>
          </a:p>
          <a:p>
            <a:r>
              <a:rPr lang="en-US" dirty="0" err="1"/>
              <a:t>Console.WriteLine</a:t>
            </a:r>
            <a:r>
              <a:rPr lang="en-US" dirty="0"/>
              <a:t>($"</a:t>
            </a:r>
            <a:r>
              <a:rPr lang="en-US" dirty="0" err="1"/>
              <a:t>Tên</a:t>
            </a:r>
            <a:r>
              <a:rPr lang="en-US" dirty="0"/>
              <a:t> </a:t>
            </a:r>
            <a:r>
              <a:rPr lang="en-US" dirty="0" err="1"/>
              <a:t>nhập</a:t>
            </a:r>
            <a:r>
              <a:rPr lang="en-US" dirty="0"/>
              <a:t> </a:t>
            </a:r>
            <a:r>
              <a:rPr lang="en-US" dirty="0" err="1"/>
              <a:t>vào</a:t>
            </a:r>
            <a:r>
              <a:rPr lang="en-US" dirty="0"/>
              <a:t> </a:t>
            </a:r>
            <a:r>
              <a:rPr lang="en-US" dirty="0" err="1"/>
              <a:t>là</a:t>
            </a:r>
            <a:r>
              <a:rPr lang="en-US" dirty="0"/>
              <a:t>: {</a:t>
            </a:r>
            <a:r>
              <a:rPr lang="en-US" dirty="0" err="1"/>
              <a:t>userLogin</a:t>
            </a:r>
            <a:r>
              <a:rPr lang="en-US" dirty="0"/>
              <a:t>}");</a:t>
            </a:r>
          </a:p>
          <a:p>
            <a:r>
              <a:rPr lang="en-US" dirty="0"/>
              <a:t>- </a:t>
            </a:r>
            <a:r>
              <a:rPr lang="en-US" dirty="0" err="1"/>
              <a:t>hàm</a:t>
            </a:r>
            <a:r>
              <a:rPr lang="en-US" dirty="0"/>
              <a:t> </a:t>
            </a:r>
            <a:r>
              <a:rPr lang="en-US" dirty="0" err="1"/>
              <a:t>Console.ReadLine</a:t>
            </a:r>
            <a:r>
              <a:rPr lang="en-US" dirty="0"/>
              <a:t>() </a:t>
            </a:r>
            <a:r>
              <a:rPr lang="en-US" dirty="0" err="1"/>
              <a:t>cho</a:t>
            </a:r>
            <a:r>
              <a:rPr lang="en-US" dirty="0"/>
              <a:t> </a:t>
            </a:r>
            <a:r>
              <a:rPr lang="en-US" dirty="0" err="1"/>
              <a:t>phép</a:t>
            </a:r>
            <a:r>
              <a:rPr lang="en-US" dirty="0"/>
              <a:t> </a:t>
            </a:r>
            <a:r>
              <a:rPr lang="en-US" dirty="0" err="1"/>
              <a:t>nhập</a:t>
            </a:r>
            <a:r>
              <a:rPr lang="en-US" dirty="0"/>
              <a:t> </a:t>
            </a:r>
            <a:r>
              <a:rPr lang="en-US" dirty="0" err="1"/>
              <a:t>dữ</a:t>
            </a:r>
            <a:r>
              <a:rPr lang="en-US" dirty="0"/>
              <a:t> </a:t>
            </a:r>
            <a:r>
              <a:rPr lang="en-US" dirty="0" err="1"/>
              <a:t>liệu</a:t>
            </a:r>
            <a:r>
              <a:rPr lang="en-US" dirty="0"/>
              <a:t> </a:t>
            </a:r>
            <a:r>
              <a:rPr lang="en-US" dirty="0" err="1"/>
              <a:t>cho</a:t>
            </a:r>
            <a:r>
              <a:rPr lang="en-US" dirty="0"/>
              <a:t> </a:t>
            </a:r>
            <a:r>
              <a:rPr lang="en-US" dirty="0" err="1"/>
              <a:t>đến</a:t>
            </a:r>
            <a:r>
              <a:rPr lang="en-US" dirty="0"/>
              <a:t> </a:t>
            </a:r>
            <a:r>
              <a:rPr lang="en-US" dirty="0" err="1"/>
              <a:t>khi</a:t>
            </a:r>
            <a:r>
              <a:rPr lang="en-US" dirty="0"/>
              <a:t> </a:t>
            </a:r>
            <a:r>
              <a:rPr lang="en-US" dirty="0" err="1"/>
              <a:t>nhấn</a:t>
            </a:r>
            <a:r>
              <a:rPr lang="en-US" dirty="0"/>
              <a:t> Enter, </a:t>
            </a:r>
            <a:r>
              <a:rPr lang="vi-VN" dirty="0" err="1"/>
              <a:t>hàm</a:t>
            </a:r>
            <a:r>
              <a:rPr lang="vi-VN" dirty="0"/>
              <a:t> </a:t>
            </a:r>
            <a:r>
              <a:rPr lang="vi-VN" dirty="0" err="1"/>
              <a:t>trả</a:t>
            </a:r>
            <a:r>
              <a:rPr lang="vi-VN" dirty="0"/>
              <a:t> </a:t>
            </a:r>
            <a:r>
              <a:rPr lang="vi-VN" dirty="0" err="1"/>
              <a:t>về</a:t>
            </a:r>
            <a:r>
              <a:rPr lang="vi-VN" dirty="0"/>
              <a:t> </a:t>
            </a:r>
            <a:r>
              <a:rPr lang="vi-VN" dirty="0" err="1"/>
              <a:t>chuỗi</a:t>
            </a:r>
            <a:r>
              <a:rPr lang="vi-VN" dirty="0"/>
              <a:t> </a:t>
            </a:r>
            <a:r>
              <a:rPr lang="vi-VN" dirty="0" err="1"/>
              <a:t>mà</a:t>
            </a:r>
            <a:r>
              <a:rPr lang="vi-VN" dirty="0"/>
              <a:t> </a:t>
            </a:r>
            <a:r>
              <a:rPr lang="vi-VN" dirty="0" err="1"/>
              <a:t>người</a:t>
            </a:r>
            <a:r>
              <a:rPr lang="vi-VN" dirty="0"/>
              <a:t> </a:t>
            </a:r>
            <a:r>
              <a:rPr lang="vi-VN" dirty="0" err="1"/>
              <a:t>dùng</a:t>
            </a:r>
            <a:r>
              <a:rPr lang="vi-VN" dirty="0"/>
              <a:t> </a:t>
            </a:r>
            <a:r>
              <a:rPr lang="vi-VN" dirty="0" err="1"/>
              <a:t>nhập</a:t>
            </a:r>
            <a:r>
              <a:rPr lang="vi-VN" dirty="0"/>
              <a:t> </a:t>
            </a:r>
            <a:r>
              <a:rPr lang="vi-VN" dirty="0" err="1"/>
              <a:t>vào</a:t>
            </a:r>
            <a:endParaRPr lang="en-US" dirty="0"/>
          </a:p>
        </p:txBody>
      </p:sp>
      <p:sp>
        <p:nvSpPr>
          <p:cNvPr id="4" name="Rectangle 3">
            <a:extLst>
              <a:ext uri="{FF2B5EF4-FFF2-40B4-BE49-F238E27FC236}">
                <a16:creationId xmlns:a16="http://schemas.microsoft.com/office/drawing/2014/main" id="{B3D86586-A0D8-0C38-62CB-450DAEFA5236}"/>
              </a:ext>
            </a:extLst>
          </p:cNvPr>
          <p:cNvSpPr/>
          <p:nvPr/>
        </p:nvSpPr>
        <p:spPr>
          <a:xfrm>
            <a:off x="1097280" y="1842346"/>
            <a:ext cx="5974080" cy="17907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2848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D1DE3-A81E-D435-1113-C713505AE3BC}"/>
              </a:ext>
            </a:extLst>
          </p:cNvPr>
          <p:cNvSpPr>
            <a:spLocks noGrp="1"/>
          </p:cNvSpPr>
          <p:nvPr>
            <p:ph type="title"/>
          </p:nvPr>
        </p:nvSpPr>
        <p:spPr>
          <a:xfrm>
            <a:off x="1097280" y="286603"/>
            <a:ext cx="10058400" cy="702303"/>
          </a:xfrm>
        </p:spPr>
        <p:txBody>
          <a:bodyPr>
            <a:normAutofit fontScale="90000"/>
          </a:bodyPr>
          <a:lstStyle/>
          <a:p>
            <a:r>
              <a:rPr lang="en-US" b="1" i="0" dirty="0" err="1">
                <a:solidFill>
                  <a:srgbClr val="B1154A"/>
                </a:solidFill>
                <a:effectLst/>
                <a:latin typeface="-apple-system"/>
              </a:rPr>
              <a:t>Chuyển</a:t>
            </a:r>
            <a:r>
              <a:rPr lang="en-US" b="1" i="0" dirty="0">
                <a:solidFill>
                  <a:srgbClr val="B1154A"/>
                </a:solidFill>
                <a:effectLst/>
                <a:latin typeface="-apple-system"/>
              </a:rPr>
              <a:t> </a:t>
            </a:r>
            <a:r>
              <a:rPr lang="en-US" b="1" i="0" dirty="0" err="1">
                <a:solidFill>
                  <a:srgbClr val="B1154A"/>
                </a:solidFill>
                <a:effectLst/>
                <a:latin typeface="-apple-system"/>
              </a:rPr>
              <a:t>kiểu</a:t>
            </a:r>
            <a:r>
              <a:rPr lang="en-US" b="1" i="0" dirty="0">
                <a:solidFill>
                  <a:srgbClr val="B1154A"/>
                </a:solidFill>
                <a:effectLst/>
                <a:latin typeface="-apple-system"/>
              </a:rPr>
              <a:t> </a:t>
            </a:r>
            <a:r>
              <a:rPr lang="en-US" b="1" i="0" dirty="0" err="1">
                <a:solidFill>
                  <a:srgbClr val="B1154A"/>
                </a:solidFill>
                <a:effectLst/>
                <a:latin typeface="-apple-system"/>
              </a:rPr>
              <a:t>dữ</a:t>
            </a:r>
            <a:r>
              <a:rPr lang="en-US" b="1" i="0" dirty="0">
                <a:solidFill>
                  <a:srgbClr val="B1154A"/>
                </a:solidFill>
                <a:effectLst/>
                <a:latin typeface="-apple-system"/>
              </a:rPr>
              <a:t> </a:t>
            </a:r>
            <a:r>
              <a:rPr lang="en-US" b="1" i="0" dirty="0" err="1">
                <a:solidFill>
                  <a:srgbClr val="B1154A"/>
                </a:solidFill>
                <a:effectLst/>
                <a:latin typeface="-apple-system"/>
              </a:rPr>
              <a:t>liệu</a:t>
            </a:r>
            <a:endParaRPr lang="en-US" dirty="0"/>
          </a:p>
        </p:txBody>
      </p:sp>
      <p:sp>
        <p:nvSpPr>
          <p:cNvPr id="3" name="Content Placeholder 2">
            <a:extLst>
              <a:ext uri="{FF2B5EF4-FFF2-40B4-BE49-F238E27FC236}">
                <a16:creationId xmlns:a16="http://schemas.microsoft.com/office/drawing/2014/main" id="{1A4499FE-DD61-1051-AF17-3D49B7AF4C18}"/>
              </a:ext>
            </a:extLst>
          </p:cNvPr>
          <p:cNvSpPr>
            <a:spLocks noGrp="1"/>
          </p:cNvSpPr>
          <p:nvPr>
            <p:ph idx="1"/>
          </p:nvPr>
        </p:nvSpPr>
        <p:spPr>
          <a:xfrm>
            <a:off x="1097280" y="1242060"/>
            <a:ext cx="10058400" cy="4627034"/>
          </a:xfrm>
        </p:spPr>
        <p:txBody>
          <a:bodyPr>
            <a:normAutofit/>
          </a:bodyPr>
          <a:lstStyle/>
          <a:p>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Mặc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định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hàm</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Console.ReadLine</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trả</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về</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string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nếu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muốn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chuỗi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đó</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nhập</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xong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chuyển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thành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dữ</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liệu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như</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float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cần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hàm</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chuyển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một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hàm</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đó</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Convert.ToInt32(value)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chuyển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value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thành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int</a:t>
            </a:r>
            <a:endParaRPr lang="en-US" sz="1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err="1">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Convert.ToDouble</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(value)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chuyển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value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thành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double</a:t>
            </a:r>
            <a:endParaRPr lang="en-US" sz="1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err="1">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Convert.ToBoolean</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(value)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chuyển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value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thành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bool</a:t>
            </a:r>
            <a:endParaRPr lang="en-US" sz="1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Nhập</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một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thức</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Nhập</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chuỗi</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chuyển</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ngay</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chuỗi</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đó</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thành</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thực</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double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dinput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Convert.ToDouble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Console.ReadLine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đã</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nhập</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dinput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Rectangle 3">
            <a:extLst>
              <a:ext uri="{FF2B5EF4-FFF2-40B4-BE49-F238E27FC236}">
                <a16:creationId xmlns:a16="http://schemas.microsoft.com/office/drawing/2014/main" id="{F60972E6-51AD-1D47-FA80-79D15693A40B}"/>
              </a:ext>
            </a:extLst>
          </p:cNvPr>
          <p:cNvSpPr/>
          <p:nvPr/>
        </p:nvSpPr>
        <p:spPr>
          <a:xfrm>
            <a:off x="1097280" y="3505200"/>
            <a:ext cx="6804660" cy="22783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8619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descr="http://studio-creator.com/blog/public/html5.jp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28676" name="AutoShape 4" descr="http://studio-creator.com/blog/public/html5.jp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a:xfrm>
            <a:off x="3581400" y="160338"/>
            <a:ext cx="6629400" cy="601662"/>
          </a:xfrm>
        </p:spPr>
        <p:txBody>
          <a:bodyPr>
            <a:normAutofit fontScale="90000"/>
          </a:bodyPr>
          <a:lstStyle/>
          <a:p>
            <a:r>
              <a:rPr lang="en-US" dirty="0">
                <a:latin typeface="Times New Roman" panose="02020603050405020304" pitchFamily="18" charset="0"/>
                <a:cs typeface="Times New Roman" panose="02020603050405020304" pitchFamily="18" charset="0"/>
              </a:rPr>
              <a:t>Chuyển đổi </a:t>
            </a:r>
            <a:r>
              <a:rPr lang="en-US" dirty="0" err="1">
                <a:latin typeface="Times New Roman" panose="02020603050405020304" pitchFamily="18" charset="0"/>
                <a:cs typeface="Times New Roman" panose="02020603050405020304" pitchFamily="18" charset="0"/>
              </a:rPr>
              <a:t>kiểu</a:t>
            </a:r>
            <a:r>
              <a:rPr lang="en-US" dirty="0">
                <a:latin typeface="Times New Roman" panose="02020603050405020304" pitchFamily="18" charset="0"/>
                <a:cs typeface="Times New Roman" panose="02020603050405020304" pitchFamily="18" charset="0"/>
              </a:rPr>
              <a:t> dữ liệu</a:t>
            </a:r>
          </a:p>
        </p:txBody>
      </p:sp>
      <p:sp>
        <p:nvSpPr>
          <p:cNvPr id="3" name="Content Placeholder 2"/>
          <p:cNvSpPr>
            <a:spLocks noGrp="1"/>
          </p:cNvSpPr>
          <p:nvPr>
            <p:ph idx="1"/>
          </p:nvPr>
        </p:nvSpPr>
        <p:spPr>
          <a:xfrm>
            <a:off x="1981200" y="1066800"/>
            <a:ext cx="8229600" cy="2574579"/>
          </a:xfrm>
        </p:spPr>
        <p:txBody>
          <a:bodyPr>
            <a:normAutofit/>
          </a:bodyPr>
          <a:lstStyle/>
          <a:p>
            <a:r>
              <a:rPr lang="en-US" sz="3300" dirty="0">
                <a:latin typeface="Times New Roman" panose="02020603050405020304" pitchFamily="18" charset="0"/>
                <a:cs typeface="Times New Roman" panose="02020603050405020304" pitchFamily="18" charset="0"/>
              </a:rPr>
              <a:t>Chuyển đổi </a:t>
            </a:r>
            <a:r>
              <a:rPr lang="en-US" sz="3300" dirty="0" err="1">
                <a:latin typeface="Times New Roman" panose="02020603050405020304" pitchFamily="18" charset="0"/>
                <a:cs typeface="Times New Roman" panose="02020603050405020304" pitchFamily="18" charset="0"/>
              </a:rPr>
              <a:t>kiểu</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ngầm</a:t>
            </a:r>
            <a:r>
              <a:rPr lang="en-US" sz="3300" dirty="0">
                <a:latin typeface="Times New Roman" panose="02020603050405020304" pitchFamily="18" charset="0"/>
                <a:cs typeface="Times New Roman" panose="02020603050405020304" pitchFamily="18" charset="0"/>
              </a:rPr>
              <a:t> định (implicit)</a:t>
            </a:r>
          </a:p>
          <a:p>
            <a:pPr lvl="1"/>
            <a:r>
              <a:rPr lang="en-US" sz="2800" dirty="0">
                <a:latin typeface="Times New Roman" panose="02020603050405020304" pitchFamily="18" charset="0"/>
                <a:cs typeface="Times New Roman" panose="02020603050405020304" pitchFamily="18" charset="0"/>
              </a:rPr>
              <a:t>V</a:t>
            </a:r>
            <a:r>
              <a:rPr lang="vi-VN" sz="2800" dirty="0">
                <a:latin typeface="Times New Roman" panose="02020603050405020304" pitchFamily="18" charset="0"/>
                <a:cs typeface="Times New Roman" panose="02020603050405020304" pitchFamily="18" charset="0"/>
              </a:rPr>
              <a:t>iệc chuyển đổi được thực hiện bởi trình biên dịch</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theo một phương thức an toàn kiểu (type-safe)</a:t>
            </a: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Từ </a:t>
            </a:r>
            <a:r>
              <a:rPr lang="en-US" sz="2800" dirty="0" err="1">
                <a:latin typeface="Times New Roman" panose="02020603050405020304" pitchFamily="18" charset="0"/>
                <a:cs typeface="Times New Roman" panose="02020603050405020304" pitchFamily="18" charset="0"/>
              </a:rPr>
              <a:t>miền</a:t>
            </a:r>
            <a:r>
              <a:rPr lang="en-US" sz="2800" dirty="0">
                <a:latin typeface="Times New Roman" panose="02020603050405020304" pitchFamily="18" charset="0"/>
                <a:cs typeface="Times New Roman" panose="02020603050405020304" pitchFamily="18" charset="0"/>
              </a:rPr>
              <a:t> giá trị nhỏ sang </a:t>
            </a:r>
            <a:r>
              <a:rPr lang="en-US" sz="2800" dirty="0" err="1">
                <a:latin typeface="Times New Roman" panose="02020603050405020304" pitchFamily="18" charset="0"/>
                <a:cs typeface="Times New Roman" panose="02020603050405020304" pitchFamily="18" charset="0"/>
              </a:rPr>
              <a:t>miền</a:t>
            </a:r>
            <a:r>
              <a:rPr lang="en-US" sz="2800" dirty="0">
                <a:latin typeface="Times New Roman" panose="02020603050405020304" pitchFamily="18" charset="0"/>
                <a:cs typeface="Times New Roman" panose="02020603050405020304" pitchFamily="18" charset="0"/>
              </a:rPr>
              <a:t> giá trị lớn</a:t>
            </a:r>
          </a:p>
          <a:p>
            <a:pPr lvl="1"/>
            <a:r>
              <a:rPr lang="en-US" sz="2800" dirty="0">
                <a:latin typeface="Times New Roman" panose="02020603050405020304" pitchFamily="18" charset="0"/>
                <a:cs typeface="Times New Roman" panose="02020603050405020304" pitchFamily="18" charset="0"/>
              </a:rPr>
              <a:t>Từ lớp dẫn xuất sang lớp cơ sở</a:t>
            </a:r>
          </a:p>
          <a:p>
            <a:pPr lvl="1"/>
            <a:endParaRPr 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1E1465C-059B-47DB-8D37-FE516148DCAA}"/>
              </a:ext>
            </a:extLst>
          </p:cNvPr>
          <p:cNvPicPr>
            <a:picLocks noChangeAspect="1"/>
          </p:cNvPicPr>
          <p:nvPr/>
        </p:nvPicPr>
        <p:blipFill>
          <a:blip r:embed="rId3"/>
          <a:stretch>
            <a:fillRect/>
          </a:stretch>
        </p:blipFill>
        <p:spPr>
          <a:xfrm>
            <a:off x="2286000" y="4038601"/>
            <a:ext cx="7620000" cy="2574579"/>
          </a:xfrm>
          <a:prstGeom prst="rect">
            <a:avLst/>
          </a:prstGeom>
        </p:spPr>
      </p:pic>
    </p:spTree>
    <p:extLst>
      <p:ext uri="{BB962C8B-B14F-4D97-AF65-F5344CB8AC3E}">
        <p14:creationId xmlns:p14="http://schemas.microsoft.com/office/powerpoint/2010/main" val="28797278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descr="http://studio-creator.com/blog/public/html5.jp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28676" name="AutoShape 4" descr="http://studio-creator.com/blog/public/html5.jp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a:xfrm>
            <a:off x="3581400" y="160338"/>
            <a:ext cx="6629400" cy="601662"/>
          </a:xfrm>
        </p:spPr>
        <p:txBody>
          <a:bodyPr>
            <a:normAutofit fontScale="90000"/>
          </a:bodyPr>
          <a:lstStyle/>
          <a:p>
            <a:r>
              <a:rPr lang="en-US" dirty="0">
                <a:latin typeface="Times New Roman" panose="02020603050405020304" pitchFamily="18" charset="0"/>
                <a:cs typeface="Times New Roman" panose="02020603050405020304" pitchFamily="18" charset="0"/>
              </a:rPr>
              <a:t>Chuyển đổi </a:t>
            </a:r>
            <a:r>
              <a:rPr lang="en-US" dirty="0" err="1">
                <a:latin typeface="Times New Roman" panose="02020603050405020304" pitchFamily="18" charset="0"/>
                <a:cs typeface="Times New Roman" panose="02020603050405020304" pitchFamily="18" charset="0"/>
              </a:rPr>
              <a:t>kiểu</a:t>
            </a:r>
            <a:r>
              <a:rPr lang="en-US" dirty="0">
                <a:latin typeface="Times New Roman" panose="02020603050405020304" pitchFamily="18" charset="0"/>
                <a:cs typeface="Times New Roman" panose="02020603050405020304" pitchFamily="18" charset="0"/>
              </a:rPr>
              <a:t> dữ liệu</a:t>
            </a:r>
          </a:p>
        </p:txBody>
      </p:sp>
      <p:sp>
        <p:nvSpPr>
          <p:cNvPr id="3" name="Content Placeholder 2"/>
          <p:cNvSpPr>
            <a:spLocks noGrp="1"/>
          </p:cNvSpPr>
          <p:nvPr>
            <p:ph idx="1"/>
          </p:nvPr>
        </p:nvSpPr>
        <p:spPr>
          <a:xfrm>
            <a:off x="1981200" y="1066800"/>
            <a:ext cx="8229600" cy="5630863"/>
          </a:xfrm>
        </p:spPr>
        <p:txBody>
          <a:bodyPr>
            <a:normAutofit/>
          </a:bodyPr>
          <a:lstStyle/>
          <a:p>
            <a:r>
              <a:rPr lang="vi-VN" sz="3600" dirty="0">
                <a:latin typeface="Times New Roman" panose="02020603050405020304" pitchFamily="18" charset="0"/>
                <a:cs typeface="Times New Roman" panose="02020603050405020304" pitchFamily="18" charset="0"/>
              </a:rPr>
              <a:t>Chuyển đổi kiểu tường minh (explicit)</a:t>
            </a:r>
            <a:endParaRPr lang="en-US" sz="36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Đ</a:t>
            </a:r>
            <a:r>
              <a:rPr lang="vi-VN" sz="2000" dirty="0">
                <a:latin typeface="Times New Roman" panose="02020603050405020304" pitchFamily="18" charset="0"/>
                <a:cs typeface="Times New Roman" panose="02020603050405020304" pitchFamily="18" charset="0"/>
              </a:rPr>
              <a:t>ược thực hiện một cách rõ ràng bởi người dùng bằng việc sử dụng các hàm được định nghĩa trước. Các chuyển đổi kiểu tường minh cần một toán tử cast.</a:t>
            </a:r>
            <a:endParaRPr lang="en-US" sz="2000" dirty="0">
              <a:latin typeface="Times New Roman" panose="02020603050405020304" pitchFamily="18" charset="0"/>
              <a:cs typeface="Times New Roman" panose="02020603050405020304" pitchFamily="18" charset="0"/>
            </a:endParaRPr>
          </a:p>
          <a:p>
            <a:pPr lvl="1"/>
            <a:r>
              <a:rPr lang="en-US" sz="2000" dirty="0" err="1">
                <a:latin typeface="Times New Roman" panose="02020603050405020304" pitchFamily="18" charset="0"/>
                <a:cs typeface="Times New Roman" panose="02020603050405020304" pitchFamily="18" charset="0"/>
              </a:rPr>
              <a:t>Cú</a:t>
            </a:r>
            <a:r>
              <a:rPr lang="en-US" sz="2000" dirty="0">
                <a:latin typeface="Times New Roman" panose="02020603050405020304" pitchFamily="18" charset="0"/>
                <a:cs typeface="Times New Roman" panose="02020603050405020304" pitchFamily="18" charset="0"/>
              </a:rPr>
              <a:t> pháp: (&lt;</a:t>
            </a:r>
            <a:r>
              <a:rPr lang="en-US" sz="2000" dirty="0" err="1">
                <a:latin typeface="Times New Roman" panose="02020603050405020304" pitchFamily="18" charset="0"/>
                <a:cs typeface="Times New Roman" panose="02020603050405020304" pitchFamily="18" charset="0"/>
              </a:rPr>
              <a:t>kiểu</a:t>
            </a:r>
            <a:r>
              <a:rPr lang="en-US" sz="2000" dirty="0">
                <a:latin typeface="Times New Roman" panose="02020603050405020304" pitchFamily="18" charset="0"/>
                <a:cs typeface="Times New Roman" panose="02020603050405020304" pitchFamily="18" charset="0"/>
              </a:rPr>
              <a:t> dữ liệu&gt;) &lt;</a:t>
            </a:r>
            <a:r>
              <a:rPr lang="en-US" sz="2000" dirty="0" err="1">
                <a:latin typeface="Times New Roman" panose="02020603050405020304" pitchFamily="18" charset="0"/>
                <a:cs typeface="Times New Roman" panose="02020603050405020304" pitchFamily="18" charset="0"/>
              </a:rPr>
              <a:t>biến</a:t>
            </a:r>
            <a:r>
              <a:rPr lang="en-US" sz="2000" dirty="0">
                <a:latin typeface="Times New Roman" panose="02020603050405020304" pitchFamily="18" charset="0"/>
                <a:cs typeface="Times New Roman" panose="02020603050405020304" pitchFamily="18" charset="0"/>
              </a:rPr>
              <a:t> cần ép </a:t>
            </a:r>
            <a:r>
              <a:rPr lang="en-US" sz="2000" dirty="0" err="1">
                <a:latin typeface="Times New Roman" panose="02020603050405020304" pitchFamily="18" charset="0"/>
                <a:cs typeface="Times New Roman" panose="02020603050405020304" pitchFamily="18" charset="0"/>
              </a:rPr>
              <a:t>kiểu</a:t>
            </a:r>
            <a:r>
              <a:rPr lang="en-US" sz="2000" dirty="0">
                <a:latin typeface="Times New Roman" panose="02020603050405020304" pitchFamily="18" charset="0"/>
                <a:cs typeface="Times New Roman" panose="02020603050405020304" pitchFamily="18" charset="0"/>
              </a:rPr>
              <a:t>&gt;:</a:t>
            </a:r>
          </a:p>
          <a:p>
            <a:pPr marL="457200" lvl="1" indent="0">
              <a:buNone/>
            </a:pP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A72622E-89CC-4162-B672-74F4FC691303}"/>
              </a:ext>
            </a:extLst>
          </p:cNvPr>
          <p:cNvPicPr>
            <a:picLocks noChangeAspect="1"/>
          </p:cNvPicPr>
          <p:nvPr/>
        </p:nvPicPr>
        <p:blipFill>
          <a:blip r:embed="rId3"/>
          <a:stretch>
            <a:fillRect/>
          </a:stretch>
        </p:blipFill>
        <p:spPr>
          <a:xfrm>
            <a:off x="2193203" y="2964264"/>
            <a:ext cx="6722197" cy="3356368"/>
          </a:xfrm>
          <a:prstGeom prst="rect">
            <a:avLst/>
          </a:prstGeom>
        </p:spPr>
      </p:pic>
    </p:spTree>
    <p:extLst>
      <p:ext uri="{BB962C8B-B14F-4D97-AF65-F5344CB8AC3E}">
        <p14:creationId xmlns:p14="http://schemas.microsoft.com/office/powerpoint/2010/main" val="3108225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descr="http://studio-creator.com/blog/public/html5.jp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28676" name="AutoShape 4" descr="http://studio-creator.com/blog/public/html5.jp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a:xfrm>
            <a:off x="3581400" y="160338"/>
            <a:ext cx="6629400" cy="601662"/>
          </a:xfrm>
        </p:spPr>
        <p:txBody>
          <a:bodyPr>
            <a:normAutofit fontScale="90000"/>
          </a:bodyPr>
          <a:lstStyle/>
          <a:p>
            <a:r>
              <a:rPr lang="en-US" dirty="0">
                <a:latin typeface="Times New Roman" panose="02020603050405020304" pitchFamily="18" charset="0"/>
                <a:cs typeface="Times New Roman" panose="02020603050405020304" pitchFamily="18" charset="0"/>
              </a:rPr>
              <a:t>Chuyển đổi </a:t>
            </a:r>
            <a:r>
              <a:rPr lang="en-US" dirty="0" err="1">
                <a:latin typeface="Times New Roman" panose="02020603050405020304" pitchFamily="18" charset="0"/>
                <a:cs typeface="Times New Roman" panose="02020603050405020304" pitchFamily="18" charset="0"/>
              </a:rPr>
              <a:t>kiểu</a:t>
            </a:r>
            <a:r>
              <a:rPr lang="en-US" dirty="0">
                <a:latin typeface="Times New Roman" panose="02020603050405020304" pitchFamily="18" charset="0"/>
                <a:cs typeface="Times New Roman" panose="02020603050405020304" pitchFamily="18" charset="0"/>
              </a:rPr>
              <a:t> dữ liệu</a:t>
            </a:r>
          </a:p>
        </p:txBody>
      </p:sp>
      <p:sp>
        <p:nvSpPr>
          <p:cNvPr id="3" name="Content Placeholder 2"/>
          <p:cNvSpPr>
            <a:spLocks noGrp="1"/>
          </p:cNvSpPr>
          <p:nvPr>
            <p:ph idx="1"/>
          </p:nvPr>
        </p:nvSpPr>
        <p:spPr>
          <a:xfrm>
            <a:off x="731520" y="880110"/>
            <a:ext cx="9479280" cy="5817553"/>
          </a:xfrm>
        </p:spPr>
        <p:txBody>
          <a:bodyPr>
            <a:normAutofit/>
          </a:bodyPr>
          <a:lstStyle/>
          <a:p>
            <a:r>
              <a:rPr lang="vi-VN" sz="3300" dirty="0">
                <a:latin typeface="Times New Roman" panose="02020603050405020304" pitchFamily="18" charset="0"/>
                <a:cs typeface="Times New Roman" panose="02020603050405020304" pitchFamily="18" charset="0"/>
              </a:rPr>
              <a:t>Chuyển đổi kiểu tường minh (explicit)</a:t>
            </a:r>
            <a:endParaRPr lang="en-US" sz="33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Sử dụng </a:t>
            </a:r>
            <a:r>
              <a:rPr lang="vi-VN" dirty="0">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thức Parse()</a:t>
            </a: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Sử dụng lớp hỗ trợ Convert</a:t>
            </a:r>
          </a:p>
          <a:p>
            <a:pPr marL="457200" lvl="1" indent="0">
              <a:buNone/>
            </a:pPr>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marL="457200" lvl="1" indent="0">
              <a:buNone/>
            </a:pPr>
            <a:endParaRPr lang="en-US" dirty="0">
              <a:latin typeface="Times New Roman" panose="02020603050405020304" pitchFamily="18" charset="0"/>
              <a:cs typeface="Times New Roman" panose="02020603050405020304" pitchFamily="18" charset="0"/>
            </a:endParaRPr>
          </a:p>
          <a:p>
            <a:pPr marL="457200" lvl="1" indent="0">
              <a:buNone/>
            </a:pP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9133F8-4A5C-4B9D-8BE6-1FF5CFEDA583}"/>
              </a:ext>
            </a:extLst>
          </p:cNvPr>
          <p:cNvPicPr>
            <a:picLocks noChangeAspect="1"/>
          </p:cNvPicPr>
          <p:nvPr/>
        </p:nvPicPr>
        <p:blipFill>
          <a:blip r:embed="rId3"/>
          <a:stretch>
            <a:fillRect/>
          </a:stretch>
        </p:blipFill>
        <p:spPr>
          <a:xfrm>
            <a:off x="4119080" y="1567815"/>
            <a:ext cx="7013740" cy="1108744"/>
          </a:xfrm>
          <a:prstGeom prst="rect">
            <a:avLst/>
          </a:prstGeom>
        </p:spPr>
      </p:pic>
      <p:pic>
        <p:nvPicPr>
          <p:cNvPr id="8" name="Picture 7">
            <a:extLst>
              <a:ext uri="{FF2B5EF4-FFF2-40B4-BE49-F238E27FC236}">
                <a16:creationId xmlns:a16="http://schemas.microsoft.com/office/drawing/2014/main" id="{B3C5EEEA-4C24-40F1-A21A-12399196D316}"/>
              </a:ext>
            </a:extLst>
          </p:cNvPr>
          <p:cNvPicPr>
            <a:picLocks noChangeAspect="1"/>
          </p:cNvPicPr>
          <p:nvPr/>
        </p:nvPicPr>
        <p:blipFill>
          <a:blip r:embed="rId4"/>
          <a:stretch>
            <a:fillRect/>
          </a:stretch>
        </p:blipFill>
        <p:spPr>
          <a:xfrm>
            <a:off x="2903220" y="3276633"/>
            <a:ext cx="8229600" cy="2514600"/>
          </a:xfrm>
          <a:prstGeom prst="rect">
            <a:avLst/>
          </a:prstGeom>
        </p:spPr>
      </p:pic>
    </p:spTree>
    <p:extLst>
      <p:ext uri="{BB962C8B-B14F-4D97-AF65-F5344CB8AC3E}">
        <p14:creationId xmlns:p14="http://schemas.microsoft.com/office/powerpoint/2010/main" val="1177561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5B5EA-92A6-9022-29F4-E780E2916FE0}"/>
              </a:ext>
            </a:extLst>
          </p:cNvPr>
          <p:cNvSpPr>
            <a:spLocks noGrp="1"/>
          </p:cNvSpPr>
          <p:nvPr>
            <p:ph type="title"/>
          </p:nvPr>
        </p:nvSpPr>
        <p:spPr/>
        <p:txBody>
          <a:bodyPr/>
          <a:lstStyle/>
          <a:p>
            <a:r>
              <a:rPr lang="en-US" b="0" i="0" dirty="0">
                <a:solidFill>
                  <a:srgbClr val="17A2B8"/>
                </a:solidFill>
                <a:effectLst/>
                <a:latin typeface="-apple-system"/>
              </a:rPr>
              <a:t>f. </a:t>
            </a:r>
            <a:r>
              <a:rPr lang="en-US" b="0" i="0" dirty="0" err="1">
                <a:solidFill>
                  <a:srgbClr val="17A2B8"/>
                </a:solidFill>
                <a:effectLst/>
                <a:latin typeface="-apple-system"/>
              </a:rPr>
              <a:t>Hằng</a:t>
            </a:r>
            <a:r>
              <a:rPr lang="en-US" b="0" i="0" dirty="0">
                <a:solidFill>
                  <a:srgbClr val="17A2B8"/>
                </a:solidFill>
                <a:effectLst/>
                <a:latin typeface="-apple-system"/>
              </a:rPr>
              <a:t> </a:t>
            </a:r>
            <a:r>
              <a:rPr lang="en-US" b="0" i="0" dirty="0" err="1">
                <a:solidFill>
                  <a:srgbClr val="17A2B8"/>
                </a:solidFill>
                <a:effectLst/>
                <a:latin typeface="-apple-system"/>
              </a:rPr>
              <a:t>số</a:t>
            </a:r>
            <a:r>
              <a:rPr lang="en-US" b="0" i="0" dirty="0">
                <a:solidFill>
                  <a:srgbClr val="17A2B8"/>
                </a:solidFill>
                <a:effectLst/>
                <a:latin typeface="-apple-system"/>
              </a:rPr>
              <a:t> </a:t>
            </a:r>
            <a:r>
              <a:rPr lang="en-US" b="0" i="0" dirty="0" err="1">
                <a:solidFill>
                  <a:srgbClr val="17A2B8"/>
                </a:solidFill>
                <a:effectLst/>
                <a:latin typeface="-apple-system"/>
              </a:rPr>
              <a:t>trong</a:t>
            </a:r>
            <a:r>
              <a:rPr lang="en-US" b="0" i="0" dirty="0">
                <a:solidFill>
                  <a:srgbClr val="17A2B8"/>
                </a:solidFill>
                <a:effectLst/>
                <a:latin typeface="-apple-system"/>
              </a:rPr>
              <a:t> C#</a:t>
            </a:r>
            <a:endParaRPr lang="en-US" dirty="0"/>
          </a:p>
        </p:txBody>
      </p:sp>
      <p:sp>
        <p:nvSpPr>
          <p:cNvPr id="3" name="Content Placeholder 2">
            <a:extLst>
              <a:ext uri="{FF2B5EF4-FFF2-40B4-BE49-F238E27FC236}">
                <a16:creationId xmlns:a16="http://schemas.microsoft.com/office/drawing/2014/main" id="{94751B52-1CE4-DB48-313D-6246F5CCFE19}"/>
              </a:ext>
            </a:extLst>
          </p:cNvPr>
          <p:cNvSpPr>
            <a:spLocks noGrp="1"/>
          </p:cNvSpPr>
          <p:nvPr>
            <p:ph idx="1"/>
          </p:nvPr>
        </p:nvSpPr>
        <p:spPr/>
        <p:txBody>
          <a:bodyPr>
            <a:normAutofit/>
          </a:bodyPr>
          <a:lstStyle/>
          <a:p>
            <a:pPr>
              <a:lnSpc>
                <a:spcPct val="107000"/>
              </a:lnSpc>
              <a:spcAft>
                <a:spcPts val="800"/>
              </a:spcAft>
            </a:pP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Hằng</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lưu</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trữ</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giá</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trị</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mà</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không</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thay</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đổi</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được</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nữa</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dùng</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từ</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khóa</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const</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để</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khai</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báo</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hằng</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như</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khai</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báo</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khởi</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tạo</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nhưng</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phía</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trước</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từ</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khóa</a:t>
            </a:r>
            <a:r>
              <a:rPr lang="en-US" sz="32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const)</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32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const</a:t>
            </a:r>
            <a:r>
              <a:rPr lang="en-US" sz="32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32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string</a:t>
            </a:r>
            <a:r>
              <a:rPr lang="en-US" sz="32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MON = </a:t>
            </a:r>
            <a:r>
              <a:rPr lang="en-US" sz="32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"THỨ HAI"</a:t>
            </a:r>
            <a:r>
              <a:rPr lang="en-US" sz="32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32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32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600" dirty="0"/>
          </a:p>
        </p:txBody>
      </p:sp>
    </p:spTree>
    <p:extLst>
      <p:ext uri="{BB962C8B-B14F-4D97-AF65-F5344CB8AC3E}">
        <p14:creationId xmlns:p14="http://schemas.microsoft.com/office/powerpoint/2010/main" val="4289424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CC5C4-B5EE-AAE7-A7FC-94CF1E34C962}"/>
              </a:ext>
            </a:extLst>
          </p:cNvPr>
          <p:cNvSpPr>
            <a:spLocks noGrp="1"/>
          </p:cNvSpPr>
          <p:nvPr>
            <p:ph type="title"/>
          </p:nvPr>
        </p:nvSpPr>
        <p:spPr/>
        <p:txBody>
          <a:bodyPr/>
          <a:lstStyle/>
          <a:p>
            <a:r>
              <a:rPr lang="en-US" i="1" dirty="0">
                <a:effectLst/>
                <a:latin typeface="Times New Roman" panose="02020603050405020304" pitchFamily="18" charset="0"/>
                <a:ea typeface="Times New Roman" panose="02020603050405020304" pitchFamily="18" charset="0"/>
              </a:rPr>
              <a:t>2.3	</a:t>
            </a:r>
            <a:r>
              <a:rPr lang="en-US" i="1" dirty="0" err="1">
                <a:effectLst/>
                <a:latin typeface="Times New Roman" panose="02020603050405020304" pitchFamily="18" charset="0"/>
                <a:ea typeface="Times New Roman" panose="02020603050405020304" pitchFamily="18" charset="0"/>
              </a:rPr>
              <a:t>Các</a:t>
            </a:r>
            <a:r>
              <a:rPr lang="en-US" i="1" dirty="0">
                <a:effectLst/>
                <a:latin typeface="Times New Roman" panose="02020603050405020304" pitchFamily="18" charset="0"/>
                <a:ea typeface="Times New Roman" panose="02020603050405020304" pitchFamily="18" charset="0"/>
              </a:rPr>
              <a:t> </a:t>
            </a:r>
            <a:r>
              <a:rPr lang="en-US" i="1" dirty="0" err="1">
                <a:effectLst/>
                <a:latin typeface="Times New Roman" panose="02020603050405020304" pitchFamily="18" charset="0"/>
                <a:ea typeface="Times New Roman" panose="02020603050405020304" pitchFamily="18" charset="0"/>
              </a:rPr>
              <a:t>toán</a:t>
            </a:r>
            <a:r>
              <a:rPr lang="en-US" i="1" dirty="0">
                <a:effectLst/>
                <a:latin typeface="Times New Roman" panose="02020603050405020304" pitchFamily="18" charset="0"/>
                <a:ea typeface="Times New Roman" panose="02020603050405020304" pitchFamily="18" charset="0"/>
              </a:rPr>
              <a:t> </a:t>
            </a:r>
            <a:r>
              <a:rPr lang="en-US" i="1" dirty="0" err="1">
                <a:effectLst/>
                <a:latin typeface="Times New Roman" panose="02020603050405020304" pitchFamily="18" charset="0"/>
                <a:ea typeface="Times New Roman" panose="02020603050405020304" pitchFamily="18" charset="0"/>
              </a:rPr>
              <a:t>tử</a:t>
            </a:r>
            <a:endParaRPr lang="en-US" dirty="0"/>
          </a:p>
        </p:txBody>
      </p:sp>
      <p:sp>
        <p:nvSpPr>
          <p:cNvPr id="3" name="Text Placeholder 2">
            <a:extLst>
              <a:ext uri="{FF2B5EF4-FFF2-40B4-BE49-F238E27FC236}">
                <a16:creationId xmlns:a16="http://schemas.microsoft.com/office/drawing/2014/main" id="{64885958-B45F-93A3-9660-FB820FD59BF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43877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A0F94-B3DA-1223-DCBC-F6B805C34D24}"/>
              </a:ext>
            </a:extLst>
          </p:cNvPr>
          <p:cNvSpPr>
            <a:spLocks noGrp="1"/>
          </p:cNvSpPr>
          <p:nvPr>
            <p:ph type="title"/>
          </p:nvPr>
        </p:nvSpPr>
        <p:spPr/>
        <p:txBody>
          <a:bodyPr>
            <a:normAutofit/>
          </a:bodyPr>
          <a:lstStyle/>
          <a:p>
            <a:r>
              <a:rPr lang="en-US" sz="4800" b="1" dirty="0" err="1"/>
              <a:t>Toán</a:t>
            </a:r>
            <a:r>
              <a:rPr lang="en-US" sz="4800" b="1" dirty="0"/>
              <a:t> </a:t>
            </a:r>
            <a:r>
              <a:rPr lang="en-US" sz="4800" b="1" dirty="0" err="1"/>
              <a:t>Tử</a:t>
            </a:r>
            <a:r>
              <a:rPr lang="en-US" sz="4800" b="1" dirty="0"/>
              <a:t> </a:t>
            </a:r>
            <a:r>
              <a:rPr lang="en-US" sz="4800" b="1" dirty="0" err="1"/>
              <a:t>toán</a:t>
            </a:r>
            <a:r>
              <a:rPr lang="en-US" sz="4800" b="1" dirty="0"/>
              <a:t> </a:t>
            </a:r>
            <a:r>
              <a:rPr lang="en-US" sz="4800" b="1" dirty="0" err="1"/>
              <a:t>học</a:t>
            </a:r>
            <a:r>
              <a:rPr lang="en-US" sz="4800" b="1" dirty="0"/>
              <a:t>:</a:t>
            </a:r>
            <a:endParaRPr lang="en-US" sz="11500" dirty="0"/>
          </a:p>
        </p:txBody>
      </p:sp>
      <p:sp>
        <p:nvSpPr>
          <p:cNvPr id="3" name="Content Placeholder 2">
            <a:extLst>
              <a:ext uri="{FF2B5EF4-FFF2-40B4-BE49-F238E27FC236}">
                <a16:creationId xmlns:a16="http://schemas.microsoft.com/office/drawing/2014/main" id="{7B22317E-207A-42EC-1998-B24F5E103881}"/>
              </a:ext>
            </a:extLst>
          </p:cNvPr>
          <p:cNvSpPr>
            <a:spLocks noGrp="1"/>
          </p:cNvSpPr>
          <p:nvPr>
            <p:ph idx="1"/>
          </p:nvPr>
        </p:nvSpPr>
        <p:spPr>
          <a:xfrm>
            <a:off x="1097280" y="1645043"/>
            <a:ext cx="10058400" cy="440266"/>
          </a:xfrm>
        </p:spPr>
        <p:txBody>
          <a:bodyPr/>
          <a:lstStyle/>
          <a:p>
            <a:endParaRPr lang="en-US" dirty="0"/>
          </a:p>
          <a:p>
            <a:endParaRPr lang="en-US" dirty="0"/>
          </a:p>
          <a:p>
            <a:endParaRPr lang="en-US" dirty="0"/>
          </a:p>
          <a:p>
            <a:endParaRPr lang="en-US" dirty="0"/>
          </a:p>
          <a:p>
            <a:pPr marL="0" indent="0">
              <a:buNone/>
            </a:pPr>
            <a:endParaRPr lang="en-US" dirty="0"/>
          </a:p>
          <a:p>
            <a:endParaRPr lang="en-US" dirty="0"/>
          </a:p>
          <a:p>
            <a:endParaRPr lang="en-US" dirty="0"/>
          </a:p>
        </p:txBody>
      </p:sp>
      <p:graphicFrame>
        <p:nvGraphicFramePr>
          <p:cNvPr id="4" name="Table 3">
            <a:extLst>
              <a:ext uri="{FF2B5EF4-FFF2-40B4-BE49-F238E27FC236}">
                <a16:creationId xmlns:a16="http://schemas.microsoft.com/office/drawing/2014/main" id="{8A69DC8C-988E-14E4-1568-F7EF645094B7}"/>
              </a:ext>
            </a:extLst>
          </p:cNvPr>
          <p:cNvGraphicFramePr>
            <a:graphicFrameLocks noGrp="1"/>
          </p:cNvGraphicFramePr>
          <p:nvPr>
            <p:extLst>
              <p:ext uri="{D42A27DB-BD31-4B8C-83A1-F6EECF244321}">
                <p14:modId xmlns:p14="http://schemas.microsoft.com/office/powerpoint/2010/main" val="3654848598"/>
              </p:ext>
            </p:extLst>
          </p:nvPr>
        </p:nvGraphicFramePr>
        <p:xfrm>
          <a:off x="1036320" y="1704776"/>
          <a:ext cx="7311072" cy="2270579"/>
        </p:xfrm>
        <a:graphic>
          <a:graphicData uri="http://schemas.openxmlformats.org/drawingml/2006/table">
            <a:tbl>
              <a:tblPr firstRow="1" firstCol="1" bandRow="1">
                <a:tableStyleId>{5C22544A-7EE6-4342-B048-85BDC9FD1C3A}</a:tableStyleId>
              </a:tblPr>
              <a:tblGrid>
                <a:gridCol w="1511078">
                  <a:extLst>
                    <a:ext uri="{9D8B030D-6E8A-4147-A177-3AD203B41FA5}">
                      <a16:colId xmlns:a16="http://schemas.microsoft.com/office/drawing/2014/main" val="551923889"/>
                    </a:ext>
                  </a:extLst>
                </a:gridCol>
                <a:gridCol w="2477674">
                  <a:extLst>
                    <a:ext uri="{9D8B030D-6E8A-4147-A177-3AD203B41FA5}">
                      <a16:colId xmlns:a16="http://schemas.microsoft.com/office/drawing/2014/main" val="1906670025"/>
                    </a:ext>
                  </a:extLst>
                </a:gridCol>
                <a:gridCol w="3322320">
                  <a:extLst>
                    <a:ext uri="{9D8B030D-6E8A-4147-A177-3AD203B41FA5}">
                      <a16:colId xmlns:a16="http://schemas.microsoft.com/office/drawing/2014/main" val="2634818155"/>
                    </a:ext>
                  </a:extLst>
                </a:gridCol>
              </a:tblGrid>
              <a:tr h="273556">
                <a:tc>
                  <a:txBody>
                    <a:bodyPr/>
                    <a:lstStyle/>
                    <a:p>
                      <a:pPr algn="ctr">
                        <a:lnSpc>
                          <a:spcPct val="107000"/>
                        </a:lnSpc>
                        <a:spcAft>
                          <a:spcPts val="800"/>
                        </a:spcAft>
                      </a:pPr>
                      <a:r>
                        <a:rPr lang="en-US" sz="1600" dirty="0" err="1">
                          <a:effectLst/>
                        </a:rPr>
                        <a:t>Toán</a:t>
                      </a:r>
                      <a:r>
                        <a:rPr lang="en-US" sz="1600" dirty="0">
                          <a:effectLst/>
                        </a:rPr>
                        <a:t> </a:t>
                      </a:r>
                      <a:r>
                        <a:rPr lang="en-US" sz="1600" dirty="0" err="1">
                          <a:effectLst/>
                        </a:rPr>
                        <a:t>tử</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gn="ctr">
                        <a:lnSpc>
                          <a:spcPct val="107000"/>
                        </a:lnSpc>
                        <a:spcAft>
                          <a:spcPts val="800"/>
                        </a:spcAft>
                      </a:pPr>
                      <a:r>
                        <a:rPr lang="en-US" sz="1600">
                          <a:effectLst/>
                        </a:rPr>
                        <a:t>Ý nghĩa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gn="ctr">
                        <a:lnSpc>
                          <a:spcPct val="107000"/>
                        </a:lnSpc>
                        <a:spcAft>
                          <a:spcPts val="800"/>
                        </a:spcAft>
                      </a:pPr>
                      <a:r>
                        <a:rPr lang="en-US" sz="1600">
                          <a:effectLst/>
                        </a:rPr>
                        <a:t>Ví dụ</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083995581"/>
                  </a:ext>
                </a:extLst>
              </a:tr>
              <a:tr h="337122">
                <a:tc>
                  <a:txBody>
                    <a:bodyPr/>
                    <a:lstStyle/>
                    <a:p>
                      <a:pPr>
                        <a:lnSpc>
                          <a:spcPct val="107000"/>
                        </a:lnSpc>
                        <a:spcAft>
                          <a:spcPts val="800"/>
                        </a:spcAft>
                      </a:pPr>
                      <a:r>
                        <a:rPr lang="en-US" sz="20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a:effectLst/>
                        </a:rPr>
                        <a:t>Phép cộng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a:effectLst/>
                        </a:rPr>
                        <a:t>a +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139209551"/>
                  </a:ext>
                </a:extLst>
              </a:tr>
              <a:tr h="337122">
                <a:tc>
                  <a:txBody>
                    <a:bodyPr/>
                    <a:lstStyle/>
                    <a:p>
                      <a:pPr>
                        <a:lnSpc>
                          <a:spcPct val="107000"/>
                        </a:lnSpc>
                        <a:spcAft>
                          <a:spcPts val="800"/>
                        </a:spcAft>
                      </a:pPr>
                      <a:r>
                        <a:rPr lang="en-US" sz="20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a:effectLst/>
                        </a:rPr>
                        <a:t>Phép trừ</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a:effectLst/>
                        </a:rPr>
                        <a:t>a -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440927652"/>
                  </a:ext>
                </a:extLst>
              </a:tr>
              <a:tr h="456384">
                <a:tc>
                  <a:txBody>
                    <a:bodyPr/>
                    <a:lstStyle/>
                    <a:p>
                      <a:pPr>
                        <a:lnSpc>
                          <a:spcPct val="107000"/>
                        </a:lnSpc>
                        <a:spcAft>
                          <a:spcPts val="800"/>
                        </a:spcAft>
                      </a:pPr>
                      <a:r>
                        <a:rPr lang="en-US" sz="20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a:effectLst/>
                        </a:rPr>
                        <a:t>Phép nhân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a:effectLst/>
                        </a:rPr>
                        <a:t>a *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709678124"/>
                  </a:ext>
                </a:extLst>
              </a:tr>
              <a:tr h="337122">
                <a:tc>
                  <a:txBody>
                    <a:bodyPr/>
                    <a:lstStyle/>
                    <a:p>
                      <a:pPr>
                        <a:lnSpc>
                          <a:spcPct val="107000"/>
                        </a:lnSpc>
                        <a:spcAft>
                          <a:spcPts val="800"/>
                        </a:spcAft>
                      </a:pPr>
                      <a:r>
                        <a:rPr lang="en-US" sz="2000">
                          <a:effectLst/>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a:effectLst/>
                        </a:rPr>
                        <a:t>Phép chia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dirty="0">
                          <a:effectLst/>
                        </a:rPr>
                        <a:t>a / b </a:t>
                      </a:r>
                      <a:r>
                        <a:rPr lang="en-US" sz="1600" dirty="0" err="1">
                          <a:effectLst/>
                        </a:rPr>
                        <a:t>lưu</a:t>
                      </a:r>
                      <a:r>
                        <a:rPr lang="en-US" sz="1600" dirty="0">
                          <a:effectLst/>
                        </a:rPr>
                        <a:t> ý </a:t>
                      </a:r>
                      <a:r>
                        <a:rPr lang="en-US" sz="1600" dirty="0" err="1">
                          <a:effectLst/>
                        </a:rPr>
                        <a:t>nếu</a:t>
                      </a:r>
                      <a:r>
                        <a:rPr lang="en-US" sz="1600" dirty="0">
                          <a:effectLst/>
                        </a:rPr>
                        <a:t> a, b </a:t>
                      </a:r>
                      <a:r>
                        <a:rPr lang="en-US" sz="1600" dirty="0" err="1">
                          <a:effectLst/>
                        </a:rPr>
                        <a:t>là</a:t>
                      </a:r>
                      <a:r>
                        <a:rPr lang="en-US" sz="1600" dirty="0">
                          <a:effectLst/>
                        </a:rPr>
                        <a:t> </a:t>
                      </a:r>
                      <a:r>
                        <a:rPr lang="en-US" sz="1600" dirty="0" err="1">
                          <a:effectLst/>
                        </a:rPr>
                        <a:t>số</a:t>
                      </a:r>
                      <a:r>
                        <a:rPr lang="en-US" sz="1600" dirty="0">
                          <a:effectLst/>
                        </a:rPr>
                        <a:t> </a:t>
                      </a:r>
                      <a:r>
                        <a:rPr lang="en-US" sz="1600" dirty="0" err="1">
                          <a:effectLst/>
                        </a:rPr>
                        <a:t>nguyên</a:t>
                      </a:r>
                      <a:r>
                        <a:rPr lang="en-US" sz="1600" dirty="0">
                          <a:effectLst/>
                        </a:rPr>
                        <a:t> </a:t>
                      </a:r>
                      <a:r>
                        <a:rPr lang="en-US" sz="1600" dirty="0" err="1">
                          <a:effectLst/>
                        </a:rPr>
                        <a:t>thì</a:t>
                      </a:r>
                      <a:r>
                        <a:rPr lang="en-US" sz="1600" dirty="0">
                          <a:effectLst/>
                        </a:rPr>
                        <a:t> / </a:t>
                      </a:r>
                      <a:r>
                        <a:rPr lang="en-US" sz="1600" dirty="0" err="1">
                          <a:effectLst/>
                        </a:rPr>
                        <a:t>là</a:t>
                      </a:r>
                      <a:r>
                        <a:rPr lang="en-US" sz="1600" dirty="0">
                          <a:effectLst/>
                        </a:rPr>
                        <a:t> </a:t>
                      </a:r>
                      <a:r>
                        <a:rPr lang="en-US" sz="1600" dirty="0" err="1">
                          <a:effectLst/>
                        </a:rPr>
                        <a:t>phép</a:t>
                      </a:r>
                      <a:r>
                        <a:rPr lang="en-US" sz="1600" dirty="0">
                          <a:effectLst/>
                        </a:rPr>
                        <a:t> chia </a:t>
                      </a:r>
                      <a:r>
                        <a:rPr lang="en-US" sz="1600" dirty="0" err="1">
                          <a:effectLst/>
                        </a:rPr>
                        <a:t>lấy</a:t>
                      </a:r>
                      <a:r>
                        <a:rPr lang="en-US" sz="1600" dirty="0">
                          <a:effectLst/>
                        </a:rPr>
                        <a:t> </a:t>
                      </a:r>
                      <a:r>
                        <a:rPr lang="en-US" sz="1600" dirty="0" err="1">
                          <a:effectLst/>
                        </a:rPr>
                        <a:t>phần</a:t>
                      </a:r>
                      <a:r>
                        <a:rPr lang="en-US" sz="1600" dirty="0">
                          <a:effectLst/>
                        </a:rPr>
                        <a:t> </a:t>
                      </a:r>
                      <a:r>
                        <a:rPr lang="en-US" sz="1600" dirty="0" err="1">
                          <a:effectLst/>
                        </a:rPr>
                        <a:t>nguyên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434044972"/>
                  </a:ext>
                </a:extLst>
              </a:tr>
              <a:tr h="337122">
                <a:tc>
                  <a:txBody>
                    <a:bodyPr/>
                    <a:lstStyle/>
                    <a:p>
                      <a:pPr>
                        <a:lnSpc>
                          <a:spcPct val="107000"/>
                        </a:lnSpc>
                        <a:spcAft>
                          <a:spcPts val="800"/>
                        </a:spcAft>
                      </a:pPr>
                      <a:r>
                        <a:rPr lang="en-US" sz="20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a:effectLst/>
                        </a:rPr>
                        <a:t>Phép chia lấy dư (modules)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600" dirty="0">
                          <a:effectLst/>
                        </a:rPr>
                        <a:t>a % 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594884143"/>
                  </a:ext>
                </a:extLst>
              </a:tr>
            </a:tbl>
          </a:graphicData>
        </a:graphic>
      </p:graphicFrame>
      <p:sp>
        <p:nvSpPr>
          <p:cNvPr id="6" name="TextBox 5">
            <a:extLst>
              <a:ext uri="{FF2B5EF4-FFF2-40B4-BE49-F238E27FC236}">
                <a16:creationId xmlns:a16="http://schemas.microsoft.com/office/drawing/2014/main" id="{987204E4-BFA7-499B-B5AD-A86588A06EC4}"/>
              </a:ext>
            </a:extLst>
          </p:cNvPr>
          <p:cNvSpPr txBox="1"/>
          <p:nvPr/>
        </p:nvSpPr>
        <p:spPr>
          <a:xfrm>
            <a:off x="899160" y="3856093"/>
            <a:ext cx="9380220" cy="2287806"/>
          </a:xfrm>
          <a:prstGeom prst="rect">
            <a:avLst/>
          </a:prstGeom>
          <a:noFill/>
        </p:spPr>
        <p:txBody>
          <a:bodyPr wrap="square" rtlCol="0">
            <a:spAutoFit/>
          </a:bodyPr>
          <a:lstStyle/>
          <a:p>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Nếu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chia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bị</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chia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phép</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sẽ</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lấy</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phần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nguyên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Nếu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muốn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lấy</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giá</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trị</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thực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chính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xác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cần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chuyển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chia,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hoặc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bị</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chia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thành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thực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6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 = </a:t>
            </a:r>
            <a:r>
              <a:rPr lang="en-US" sz="16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lang="en-US" sz="16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6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b = </a:t>
            </a:r>
            <a:r>
              <a:rPr lang="en-US" sz="16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lang="en-US" sz="16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a:t>
            </a:r>
            <a:r>
              <a:rPr lang="en-US" sz="1600" b="1"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WriteLine</a:t>
            </a:r>
            <a:r>
              <a:rPr lang="en-US" sz="16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 / b);          </a:t>
            </a:r>
            <a:r>
              <a:rPr lang="en-US" sz="16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In </a:t>
            </a:r>
            <a:r>
              <a:rPr lang="en-US" sz="16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ra</a:t>
            </a:r>
            <a:r>
              <a:rPr lang="en-US" sz="16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6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Chuyển</a:t>
            </a:r>
            <a:r>
              <a:rPr lang="en-US" sz="16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6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6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chia </a:t>
            </a:r>
            <a:r>
              <a:rPr lang="en-US" sz="16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thành</a:t>
            </a:r>
            <a:r>
              <a:rPr lang="en-US" sz="16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6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6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6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thực</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6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 / (</a:t>
            </a:r>
            <a:r>
              <a:rPr lang="en-US" sz="16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float</a:t>
            </a:r>
            <a:r>
              <a:rPr lang="en-US" sz="16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)b);   </a:t>
            </a:r>
            <a:r>
              <a:rPr lang="en-US" sz="16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In </a:t>
            </a:r>
            <a:r>
              <a:rPr lang="en-US" sz="16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ra</a:t>
            </a:r>
            <a:r>
              <a:rPr lang="en-US" sz="16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3.333333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84709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CA047-48CA-6D33-8060-2DD69436436E}"/>
              </a:ext>
            </a:extLst>
          </p:cNvPr>
          <p:cNvSpPr>
            <a:spLocks noGrp="1"/>
          </p:cNvSpPr>
          <p:nvPr>
            <p:ph type="title"/>
          </p:nvPr>
        </p:nvSpPr>
        <p:spPr/>
        <p:txBody>
          <a:bodyPr>
            <a:normAutofit/>
          </a:bodyPr>
          <a:lstStyle/>
          <a:p>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Thứ</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tự</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ưu</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tiên</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của</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trong</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biểu</a:t>
            </a:r>
            <a:r>
              <a:rPr lang="en-US" sz="48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8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thức</a:t>
            </a:r>
            <a:endParaRPr lang="en-US" dirty="0"/>
          </a:p>
        </p:txBody>
      </p:sp>
      <p:sp>
        <p:nvSpPr>
          <p:cNvPr id="3" name="Content Placeholder 2">
            <a:extLst>
              <a:ext uri="{FF2B5EF4-FFF2-40B4-BE49-F238E27FC236}">
                <a16:creationId xmlns:a16="http://schemas.microsoft.com/office/drawing/2014/main" id="{129698B6-3E4B-77AC-A570-3B4187925894}"/>
              </a:ext>
            </a:extLst>
          </p:cNvPr>
          <p:cNvSpPr>
            <a:spLocks noGrp="1"/>
          </p:cNvSpPr>
          <p:nvPr>
            <p:ph idx="1"/>
          </p:nvPr>
        </p:nvSpPr>
        <p:spPr/>
        <p:txBody>
          <a:bodyPr/>
          <a:lstStyle/>
          <a:p>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Độ</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ưu</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tiên</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từ</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cao</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xuống</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thấp</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là</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b="1"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1</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trong</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ngoặc</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0070C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b="1"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2</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mũ</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căn</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b="1"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3</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nhân</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hoặc</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chia * /, </a:t>
            </a:r>
            <a:r>
              <a:rPr lang="en-US" sz="1800" b="1"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4</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cộng</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hoặc</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trừ</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 -</a:t>
            </a:r>
          </a:p>
          <a:p>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Khi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độ</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ưu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tiên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ngang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nhau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sẽ</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tính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từ</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trái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qua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phải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5</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6</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6</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Rectangle: Rounded Corners 3">
            <a:extLst>
              <a:ext uri="{FF2B5EF4-FFF2-40B4-BE49-F238E27FC236}">
                <a16:creationId xmlns:a16="http://schemas.microsoft.com/office/drawing/2014/main" id="{BDCE5087-73FC-9F39-6292-7223231BBEF7}"/>
              </a:ext>
            </a:extLst>
          </p:cNvPr>
          <p:cNvSpPr/>
          <p:nvPr/>
        </p:nvSpPr>
        <p:spPr>
          <a:xfrm>
            <a:off x="1158240" y="3368040"/>
            <a:ext cx="5722620" cy="145075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16478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C91-CDEA-AC1E-CF63-64C6AB8413D3}"/>
              </a:ext>
            </a:extLst>
          </p:cNvPr>
          <p:cNvSpPr>
            <a:spLocks noGrp="1"/>
          </p:cNvSpPr>
          <p:nvPr>
            <p:ph type="title"/>
          </p:nvPr>
        </p:nvSpPr>
        <p:spPr/>
        <p:txBody>
          <a:bodyPr>
            <a:normAutofit/>
          </a:bodyPr>
          <a:lstStyle/>
          <a:p>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gán</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trong</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C#</a:t>
            </a:r>
            <a:endParaRPr lang="en-US" sz="7200" dirty="0"/>
          </a:p>
        </p:txBody>
      </p:sp>
      <p:graphicFrame>
        <p:nvGraphicFramePr>
          <p:cNvPr id="4" name="Content Placeholder 3">
            <a:extLst>
              <a:ext uri="{FF2B5EF4-FFF2-40B4-BE49-F238E27FC236}">
                <a16:creationId xmlns:a16="http://schemas.microsoft.com/office/drawing/2014/main" id="{09C01FAB-49C0-ABDE-AEC9-44532AD5D5D2}"/>
              </a:ext>
            </a:extLst>
          </p:cNvPr>
          <p:cNvGraphicFramePr>
            <a:graphicFrameLocks noGrp="1"/>
          </p:cNvGraphicFramePr>
          <p:nvPr>
            <p:ph idx="1"/>
            <p:extLst>
              <p:ext uri="{D42A27DB-BD31-4B8C-83A1-F6EECF244321}">
                <p14:modId xmlns:p14="http://schemas.microsoft.com/office/powerpoint/2010/main" val="1707793292"/>
              </p:ext>
            </p:extLst>
          </p:nvPr>
        </p:nvGraphicFramePr>
        <p:xfrm>
          <a:off x="1508760" y="1737360"/>
          <a:ext cx="6591595" cy="4212464"/>
        </p:xfrm>
        <a:graphic>
          <a:graphicData uri="http://schemas.openxmlformats.org/drawingml/2006/table">
            <a:tbl>
              <a:tblPr firstRow="1" firstCol="1" bandRow="1">
                <a:tableStyleId>{5C22544A-7EE6-4342-B048-85BDC9FD1C3A}</a:tableStyleId>
              </a:tblPr>
              <a:tblGrid>
                <a:gridCol w="820420">
                  <a:extLst>
                    <a:ext uri="{9D8B030D-6E8A-4147-A177-3AD203B41FA5}">
                      <a16:colId xmlns:a16="http://schemas.microsoft.com/office/drawing/2014/main" val="3246026682"/>
                    </a:ext>
                  </a:extLst>
                </a:gridCol>
                <a:gridCol w="3887862">
                  <a:extLst>
                    <a:ext uri="{9D8B030D-6E8A-4147-A177-3AD203B41FA5}">
                      <a16:colId xmlns:a16="http://schemas.microsoft.com/office/drawing/2014/main" val="3873105164"/>
                    </a:ext>
                  </a:extLst>
                </a:gridCol>
                <a:gridCol w="1883313">
                  <a:extLst>
                    <a:ext uri="{9D8B030D-6E8A-4147-A177-3AD203B41FA5}">
                      <a16:colId xmlns:a16="http://schemas.microsoft.com/office/drawing/2014/main" val="4217045653"/>
                    </a:ext>
                  </a:extLst>
                </a:gridCol>
              </a:tblGrid>
              <a:tr h="368667">
                <a:tc>
                  <a:txBody>
                    <a:bodyPr/>
                    <a:lstStyle/>
                    <a:p>
                      <a:pPr algn="ctr">
                        <a:lnSpc>
                          <a:spcPct val="107000"/>
                        </a:lnSpc>
                        <a:spcAft>
                          <a:spcPts val="800"/>
                        </a:spcAft>
                      </a:pPr>
                      <a:r>
                        <a:rPr lang="en-US" sz="1600" dirty="0" err="1">
                          <a:effectLst/>
                        </a:rPr>
                        <a:t>Toán</a:t>
                      </a:r>
                      <a:r>
                        <a:rPr lang="en-US" sz="1600" dirty="0">
                          <a:effectLst/>
                        </a:rPr>
                        <a:t> </a:t>
                      </a:r>
                      <a:r>
                        <a:rPr lang="en-US" sz="1600" dirty="0" err="1">
                          <a:effectLst/>
                        </a:rPr>
                        <a:t>tử</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nchor="b"/>
                </a:tc>
                <a:tc>
                  <a:txBody>
                    <a:bodyPr/>
                    <a:lstStyle/>
                    <a:p>
                      <a:pPr algn="ctr">
                        <a:lnSpc>
                          <a:spcPct val="107000"/>
                        </a:lnSpc>
                        <a:spcAft>
                          <a:spcPts val="800"/>
                        </a:spcAft>
                      </a:pPr>
                      <a:r>
                        <a:rPr lang="en-US" sz="1600">
                          <a:effectLst/>
                        </a:rPr>
                        <a:t>Diễn tả</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nchor="b"/>
                </a:tc>
                <a:tc>
                  <a:txBody>
                    <a:bodyPr/>
                    <a:lstStyle/>
                    <a:p>
                      <a:pPr algn="ctr">
                        <a:lnSpc>
                          <a:spcPct val="107000"/>
                        </a:lnSpc>
                        <a:spcAft>
                          <a:spcPts val="800"/>
                        </a:spcAft>
                      </a:pPr>
                      <a:r>
                        <a:rPr lang="en-US" sz="1600">
                          <a:effectLst/>
                        </a:rPr>
                        <a:t>Ví dụ</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nchor="b"/>
                </a:tc>
                <a:extLst>
                  <a:ext uri="{0D108BD9-81ED-4DB2-BD59-A6C34878D82A}">
                    <a16:rowId xmlns:a16="http://schemas.microsoft.com/office/drawing/2014/main" val="3148251799"/>
                  </a:ext>
                </a:extLst>
              </a:tr>
              <a:tr h="551454">
                <a:tc>
                  <a:txBody>
                    <a:bodyPr/>
                    <a:lstStyle/>
                    <a:p>
                      <a:pPr>
                        <a:lnSpc>
                          <a:spcPct val="107000"/>
                        </a:lnSpc>
                        <a:spcAft>
                          <a:spcPts val="800"/>
                        </a:spcAft>
                      </a:pPr>
                      <a:r>
                        <a:rPr lang="en-US" sz="2800" dirty="0">
                          <a:effectLst/>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pPr>
                      <a:r>
                        <a:rPr lang="en-US" sz="1600">
                          <a:effectLst/>
                        </a:rPr>
                        <a:t>Toán tử gán:</a:t>
                      </a:r>
                      <a:br>
                        <a:rPr lang="en-US" sz="1600">
                          <a:effectLst/>
                        </a:rPr>
                      </a:br>
                      <a:r>
                        <a:rPr lang="en-US" sz="1600">
                          <a:effectLst/>
                        </a:rPr>
                        <a:t>Gán biểu thức bên phải của </a:t>
                      </a:r>
                      <a:r>
                        <a:rPr lang="en-US" sz="1200">
                          <a:effectLst/>
                        </a:rPr>
                        <a:t>=</a:t>
                      </a:r>
                      <a:r>
                        <a:rPr lang="en-US" sz="1600">
                          <a:effectLst/>
                        </a:rPr>
                        <a:t> vào biến bên trái</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rPr>
                        <a:t>int x = 10 + 12;        </a:t>
                      </a: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rPr>
                        <a:t>// x </a:t>
                      </a:r>
                      <a:r>
                        <a:rPr lang="en-US" sz="1200" dirty="0" err="1">
                          <a:effectLst/>
                        </a:rPr>
                        <a:t>bằng</a:t>
                      </a:r>
                      <a:r>
                        <a:rPr lang="en-US" sz="1200" dirty="0">
                          <a:effectLst/>
                        </a:rPr>
                        <a:t> 22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extLst>
                  <a:ext uri="{0D108BD9-81ED-4DB2-BD59-A6C34878D82A}">
                    <a16:rowId xmlns:a16="http://schemas.microsoft.com/office/drawing/2014/main" val="2676590786"/>
                  </a:ext>
                </a:extLst>
              </a:tr>
              <a:tr h="605166">
                <a:tc>
                  <a:txBody>
                    <a:bodyPr/>
                    <a:lstStyle/>
                    <a:p>
                      <a:pPr>
                        <a:lnSpc>
                          <a:spcPct val="107000"/>
                        </a:lnSpc>
                        <a:spcAft>
                          <a:spcPts val="800"/>
                        </a:spcAft>
                      </a:pPr>
                      <a:r>
                        <a:rPr lang="en-US" sz="2800">
                          <a:effectLst/>
                        </a:rPr>
                        <a: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pPr>
                      <a:r>
                        <a:rPr lang="en-US" sz="1600">
                          <a:effectLst/>
                        </a:rPr>
                        <a:t>Toán tử công thêm:</a:t>
                      </a:r>
                      <a:br>
                        <a:rPr lang="en-US" sz="1600">
                          <a:effectLst/>
                        </a:rPr>
                      </a:br>
                      <a:r>
                        <a:rPr lang="en-US" sz="1600">
                          <a:effectLst/>
                        </a:rPr>
                        <a:t>Công thêm vào biến bên trái </a:t>
                      </a:r>
                      <a:r>
                        <a:rPr lang="en-US" sz="1200">
                          <a:effectLst/>
                        </a:rPr>
                        <a:t>+=</a:t>
                      </a:r>
                      <a:r>
                        <a:rPr lang="en-US" sz="1600">
                          <a:effectLst/>
                        </a:rPr>
                        <a:t> giá trị bên phải</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rPr>
                        <a:t>int x = 10;</a:t>
                      </a: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rPr>
                        <a:t>x += 2;                 // x </a:t>
                      </a:r>
                      <a:r>
                        <a:rPr lang="en-US" sz="1200" dirty="0" err="1">
                          <a:effectLst/>
                        </a:rPr>
                        <a:t>bằng</a:t>
                      </a:r>
                      <a:r>
                        <a:rPr lang="en-US" sz="1200" dirty="0">
                          <a:effectLst/>
                        </a:rPr>
                        <a:t> 12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extLst>
                  <a:ext uri="{0D108BD9-81ED-4DB2-BD59-A6C34878D82A}">
                    <a16:rowId xmlns:a16="http://schemas.microsoft.com/office/drawing/2014/main" val="3948775163"/>
                  </a:ext>
                </a:extLst>
              </a:tr>
              <a:tr h="871679">
                <a:tc>
                  <a:txBody>
                    <a:bodyPr/>
                    <a:lstStyle/>
                    <a:p>
                      <a:pPr>
                        <a:lnSpc>
                          <a:spcPct val="107000"/>
                        </a:lnSpc>
                        <a:spcAft>
                          <a:spcPts val="800"/>
                        </a:spcAft>
                      </a:pPr>
                      <a:r>
                        <a:rPr lang="en-US" sz="2800">
                          <a:effectLst/>
                        </a:rPr>
                        <a: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pPr>
                      <a:r>
                        <a:rPr lang="en-US" sz="1600" dirty="0" err="1">
                          <a:effectLst/>
                        </a:rPr>
                        <a:t>Toán</a:t>
                      </a:r>
                      <a:r>
                        <a:rPr lang="en-US" sz="1600" dirty="0">
                          <a:effectLst/>
                        </a:rPr>
                        <a:t> </a:t>
                      </a:r>
                      <a:r>
                        <a:rPr lang="en-US" sz="1600" dirty="0" err="1">
                          <a:effectLst/>
                        </a:rPr>
                        <a:t>tử</a:t>
                      </a:r>
                      <a:r>
                        <a:rPr lang="en-US" sz="1600" dirty="0">
                          <a:effectLst/>
                        </a:rPr>
                        <a:t> </a:t>
                      </a:r>
                      <a:r>
                        <a:rPr lang="en-US" sz="1600" dirty="0" err="1">
                          <a:effectLst/>
                        </a:rPr>
                        <a:t>trừ</a:t>
                      </a:r>
                      <a:r>
                        <a:rPr lang="en-US" sz="1600" dirty="0">
                          <a:effectLst/>
                        </a:rPr>
                        <a:t> </a:t>
                      </a:r>
                      <a:r>
                        <a:rPr lang="en-US" sz="1600" dirty="0" err="1">
                          <a:effectLst/>
                        </a:rPr>
                        <a:t>bớt</a:t>
                      </a:r>
                      <a:r>
                        <a:rPr lang="en-US" sz="1600" dirty="0">
                          <a:effectLst/>
                        </a:rPr>
                        <a:t>:</a:t>
                      </a:r>
                      <a:br>
                        <a:rPr lang="en-US" sz="1600" dirty="0">
                          <a:effectLst/>
                        </a:rPr>
                      </a:br>
                      <a:r>
                        <a:rPr lang="en-US" sz="1600" dirty="0" err="1">
                          <a:effectLst/>
                        </a:rPr>
                        <a:t>Bớt</a:t>
                      </a:r>
                      <a:r>
                        <a:rPr lang="en-US" sz="1600" dirty="0">
                          <a:effectLst/>
                        </a:rPr>
                        <a:t> </a:t>
                      </a:r>
                      <a:r>
                        <a:rPr lang="en-US" sz="1600" dirty="0" err="1">
                          <a:effectLst/>
                        </a:rPr>
                        <a:t>đi</a:t>
                      </a:r>
                      <a:r>
                        <a:rPr lang="en-US" sz="1600" dirty="0">
                          <a:effectLst/>
                        </a:rPr>
                        <a:t> </a:t>
                      </a:r>
                      <a:r>
                        <a:rPr lang="en-US" sz="1600" dirty="0" err="1">
                          <a:effectLst/>
                        </a:rPr>
                        <a:t>giá</a:t>
                      </a:r>
                      <a:r>
                        <a:rPr lang="en-US" sz="1600" dirty="0">
                          <a:effectLst/>
                        </a:rPr>
                        <a:t> </a:t>
                      </a:r>
                      <a:r>
                        <a:rPr lang="en-US" sz="1600" dirty="0" err="1">
                          <a:effectLst/>
                        </a:rPr>
                        <a:t>trị</a:t>
                      </a:r>
                      <a:r>
                        <a:rPr lang="en-US" sz="1600" dirty="0">
                          <a:effectLst/>
                        </a:rPr>
                        <a:t> </a:t>
                      </a:r>
                      <a:r>
                        <a:rPr lang="en-US" sz="1600" dirty="0" err="1">
                          <a:effectLst/>
                        </a:rPr>
                        <a:t>biến</a:t>
                      </a:r>
                      <a:r>
                        <a:rPr lang="en-US" sz="1600" dirty="0">
                          <a:effectLst/>
                        </a:rPr>
                        <a:t> </a:t>
                      </a:r>
                      <a:r>
                        <a:rPr lang="en-US" sz="1600" dirty="0" err="1">
                          <a:effectLst/>
                        </a:rPr>
                        <a:t>bên</a:t>
                      </a:r>
                      <a:r>
                        <a:rPr lang="en-US" sz="1600" dirty="0">
                          <a:effectLst/>
                        </a:rPr>
                        <a:t> </a:t>
                      </a:r>
                      <a:r>
                        <a:rPr lang="en-US" sz="1600" dirty="0" err="1">
                          <a:effectLst/>
                        </a:rPr>
                        <a:t>trái</a:t>
                      </a:r>
                      <a:r>
                        <a:rPr lang="en-US" sz="1600" dirty="0">
                          <a:effectLst/>
                        </a:rPr>
                        <a:t> </a:t>
                      </a:r>
                      <a:r>
                        <a:rPr lang="en-US" sz="1600" dirty="0" err="1">
                          <a:effectLst/>
                        </a:rPr>
                        <a:t>của</a:t>
                      </a:r>
                      <a:r>
                        <a:rPr lang="en-US" sz="1600" dirty="0">
                          <a:effectLst/>
                        </a:rPr>
                        <a:t> </a:t>
                      </a:r>
                      <a:r>
                        <a:rPr lang="en-US" sz="1200" dirty="0">
                          <a:effectLst/>
                        </a:rPr>
                        <a:t>-=</a:t>
                      </a:r>
                      <a:r>
                        <a:rPr lang="en-US" sz="1600" dirty="0">
                          <a:effectLst/>
                        </a:rPr>
                        <a:t> </a:t>
                      </a:r>
                      <a:r>
                        <a:rPr lang="en-US" sz="1600" dirty="0" err="1">
                          <a:effectLst/>
                        </a:rPr>
                        <a:t>một</a:t>
                      </a:r>
                      <a:r>
                        <a:rPr lang="en-US" sz="1600" dirty="0">
                          <a:effectLst/>
                        </a:rPr>
                        <a:t> </a:t>
                      </a:r>
                      <a:r>
                        <a:rPr lang="en-US" sz="1600" dirty="0" err="1">
                          <a:effectLst/>
                        </a:rPr>
                        <a:t>lượng</a:t>
                      </a:r>
                      <a:r>
                        <a:rPr lang="en-US" sz="1600" dirty="0">
                          <a:effectLst/>
                        </a:rPr>
                        <a:t> </a:t>
                      </a:r>
                      <a:r>
                        <a:rPr lang="en-US" sz="1600" dirty="0" err="1">
                          <a:effectLst/>
                        </a:rPr>
                        <a:t>bằng</a:t>
                      </a:r>
                      <a:r>
                        <a:rPr lang="en-US" sz="1600" dirty="0">
                          <a:effectLst/>
                        </a:rPr>
                        <a:t> </a:t>
                      </a:r>
                      <a:r>
                        <a:rPr lang="en-US" sz="1600" dirty="0" err="1">
                          <a:effectLst/>
                        </a:rPr>
                        <a:t>biểu</a:t>
                      </a:r>
                      <a:r>
                        <a:rPr lang="en-US" sz="1600" dirty="0">
                          <a:effectLst/>
                        </a:rPr>
                        <a:t> </a:t>
                      </a:r>
                      <a:r>
                        <a:rPr lang="en-US" sz="1600" dirty="0" err="1">
                          <a:effectLst/>
                        </a:rPr>
                        <a:t>thức</a:t>
                      </a:r>
                      <a:r>
                        <a:rPr lang="en-US" sz="1600" dirty="0">
                          <a:effectLst/>
                        </a:rPr>
                        <a:t> </a:t>
                      </a:r>
                      <a:r>
                        <a:rPr lang="en-US" sz="1600" dirty="0" err="1">
                          <a:effectLst/>
                        </a:rPr>
                        <a:t>bên</a:t>
                      </a:r>
                      <a:r>
                        <a:rPr lang="en-US" sz="1600" dirty="0">
                          <a:effectLst/>
                        </a:rPr>
                        <a:t> </a:t>
                      </a:r>
                      <a:r>
                        <a:rPr lang="en-US" sz="1600" dirty="0" err="1">
                          <a:effectLst/>
                        </a:rPr>
                        <a:t>phải</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a:effectLst/>
                        </a:rPr>
                        <a:t>int c = 10;</a:t>
                      </a: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a:effectLst/>
                        </a:rPr>
                        <a:t>c -= 3;                 // c = 7</a:t>
                      </a: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a:effectLst/>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extLst>
                  <a:ext uri="{0D108BD9-81ED-4DB2-BD59-A6C34878D82A}">
                    <a16:rowId xmlns:a16="http://schemas.microsoft.com/office/drawing/2014/main" val="2560383226"/>
                  </a:ext>
                </a:extLst>
              </a:tr>
              <a:tr h="605166">
                <a:tc>
                  <a:txBody>
                    <a:bodyPr/>
                    <a:lstStyle/>
                    <a:p>
                      <a:pPr>
                        <a:lnSpc>
                          <a:spcPct val="107000"/>
                        </a:lnSpc>
                        <a:spcAft>
                          <a:spcPts val="800"/>
                        </a:spcAft>
                      </a:pPr>
                      <a:r>
                        <a:rPr lang="en-US" sz="2800">
                          <a:effectLst/>
                        </a:rPr>
                        <a: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pPr>
                      <a:r>
                        <a:rPr lang="en-US" sz="1600" dirty="0" err="1">
                          <a:effectLst/>
                        </a:rPr>
                        <a:t>Toán</a:t>
                      </a:r>
                      <a:r>
                        <a:rPr lang="en-US" sz="1600" dirty="0">
                          <a:effectLst/>
                        </a:rPr>
                        <a:t> </a:t>
                      </a:r>
                      <a:r>
                        <a:rPr lang="en-US" sz="1600" dirty="0" err="1">
                          <a:effectLst/>
                        </a:rPr>
                        <a:t>tử</a:t>
                      </a:r>
                      <a:r>
                        <a:rPr lang="en-US" sz="1600" dirty="0">
                          <a:effectLst/>
                        </a:rPr>
                        <a:t> </a:t>
                      </a:r>
                      <a:r>
                        <a:rPr lang="en-US" sz="1600" dirty="0" err="1">
                          <a:effectLst/>
                        </a:rPr>
                        <a:t>nhân</a:t>
                      </a:r>
                      <a:r>
                        <a:rPr lang="en-US" sz="1600" dirty="0">
                          <a:effectLst/>
                        </a:rPr>
                        <a:t> </a:t>
                      </a:r>
                      <a:r>
                        <a:rPr lang="en-US" sz="1600" dirty="0" err="1">
                          <a:effectLst/>
                        </a:rPr>
                        <a:t>với</a:t>
                      </a:r>
                      <a:r>
                        <a:rPr lang="en-US" sz="1600" dirty="0">
                          <a:effectLst/>
                        </a:rPr>
                        <a:t>:</a:t>
                      </a:r>
                      <a:br>
                        <a:rPr lang="en-US" sz="1600" dirty="0">
                          <a:effectLst/>
                        </a:rPr>
                      </a:br>
                      <a:r>
                        <a:rPr lang="en-US" sz="1600" dirty="0">
                          <a:effectLst/>
                        </a:rPr>
                        <a:t>a *= b </a:t>
                      </a:r>
                      <a:r>
                        <a:rPr lang="en-US" sz="1600" dirty="0" err="1">
                          <a:effectLst/>
                        </a:rPr>
                        <a:t>tương</a:t>
                      </a:r>
                      <a:r>
                        <a:rPr lang="en-US" sz="1600" dirty="0">
                          <a:effectLst/>
                        </a:rPr>
                        <a:t> </a:t>
                      </a:r>
                      <a:r>
                        <a:rPr lang="en-US" sz="1600" dirty="0" err="1">
                          <a:effectLst/>
                        </a:rPr>
                        <a:t>đương</a:t>
                      </a:r>
                      <a:r>
                        <a:rPr lang="en-US" sz="1600" dirty="0">
                          <a:effectLst/>
                        </a:rPr>
                        <a:t> a = a * b;</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a:effectLst/>
                        </a:rPr>
                        <a:t>int x = 2;</a:t>
                      </a: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a:effectLst/>
                        </a:rPr>
                        <a:t>x *= 3;                 //x = 6</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extLst>
                  <a:ext uri="{0D108BD9-81ED-4DB2-BD59-A6C34878D82A}">
                    <a16:rowId xmlns:a16="http://schemas.microsoft.com/office/drawing/2014/main" val="1267363038"/>
                  </a:ext>
                </a:extLst>
              </a:tr>
              <a:tr h="605166">
                <a:tc>
                  <a:txBody>
                    <a:bodyPr/>
                    <a:lstStyle/>
                    <a:p>
                      <a:pPr>
                        <a:lnSpc>
                          <a:spcPct val="107000"/>
                        </a:lnSpc>
                        <a:spcAft>
                          <a:spcPts val="800"/>
                        </a:spcAft>
                      </a:pPr>
                      <a:r>
                        <a:rPr lang="en-US" sz="2800">
                          <a:effectLst/>
                        </a:rPr>
                        <a: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pPr>
                      <a:r>
                        <a:rPr lang="en-US" sz="1600" dirty="0" err="1">
                          <a:effectLst/>
                        </a:rPr>
                        <a:t>Toán</a:t>
                      </a:r>
                      <a:r>
                        <a:rPr lang="en-US" sz="1600" dirty="0">
                          <a:effectLst/>
                        </a:rPr>
                        <a:t> </a:t>
                      </a:r>
                      <a:r>
                        <a:rPr lang="en-US" sz="1600" dirty="0" err="1">
                          <a:effectLst/>
                        </a:rPr>
                        <a:t>tử</a:t>
                      </a:r>
                      <a:r>
                        <a:rPr lang="en-US" sz="1600" dirty="0">
                          <a:effectLst/>
                        </a:rPr>
                        <a:t> chia </a:t>
                      </a:r>
                      <a:r>
                        <a:rPr lang="en-US" sz="1600" dirty="0" err="1">
                          <a:effectLst/>
                        </a:rPr>
                        <a:t>cho</a:t>
                      </a:r>
                      <a:r>
                        <a:rPr lang="en-US" sz="1600" dirty="0">
                          <a:effectLst/>
                        </a:rPr>
                        <a:t>:</a:t>
                      </a:r>
                      <a:br>
                        <a:rPr lang="en-US" sz="1600" dirty="0">
                          <a:effectLst/>
                        </a:rPr>
                      </a:br>
                      <a:r>
                        <a:rPr lang="en-US" sz="1600" dirty="0">
                          <a:effectLst/>
                        </a:rPr>
                        <a:t>a / b </a:t>
                      </a:r>
                      <a:r>
                        <a:rPr lang="en-US" sz="1600" dirty="0" err="1">
                          <a:effectLst/>
                        </a:rPr>
                        <a:t>tương</a:t>
                      </a:r>
                      <a:r>
                        <a:rPr lang="en-US" sz="1600" dirty="0">
                          <a:effectLst/>
                        </a:rPr>
                        <a:t> </a:t>
                      </a:r>
                      <a:r>
                        <a:rPr lang="en-US" sz="1600" dirty="0" err="1">
                          <a:effectLst/>
                        </a:rPr>
                        <a:t>đương</a:t>
                      </a:r>
                      <a:r>
                        <a:rPr lang="en-US" sz="1600" dirty="0">
                          <a:effectLst/>
                        </a:rPr>
                        <a:t> a = a / b</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a:effectLst/>
                        </a:rPr>
                        <a:t>int a = 6;</a:t>
                      </a: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a:effectLst/>
                        </a:rPr>
                        <a:t>a /= 2;                 // a = 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extLst>
                  <a:ext uri="{0D108BD9-81ED-4DB2-BD59-A6C34878D82A}">
                    <a16:rowId xmlns:a16="http://schemas.microsoft.com/office/drawing/2014/main" val="3593246105"/>
                  </a:ext>
                </a:extLst>
              </a:tr>
              <a:tr h="605166">
                <a:tc>
                  <a:txBody>
                    <a:bodyPr/>
                    <a:lstStyle/>
                    <a:p>
                      <a:pPr>
                        <a:lnSpc>
                          <a:spcPct val="107000"/>
                        </a:lnSpc>
                        <a:spcAft>
                          <a:spcPts val="800"/>
                        </a:spcAft>
                      </a:pPr>
                      <a:r>
                        <a:rPr lang="en-US" sz="2800" dirty="0">
                          <a:effectLst/>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pPr>
                      <a:r>
                        <a:rPr lang="en-US" sz="1600" dirty="0" err="1">
                          <a:effectLst/>
                        </a:rPr>
                        <a:t>Toán</a:t>
                      </a:r>
                      <a:r>
                        <a:rPr lang="en-US" sz="1600" dirty="0">
                          <a:effectLst/>
                        </a:rPr>
                        <a:t> </a:t>
                      </a:r>
                      <a:r>
                        <a:rPr lang="en-US" sz="1600" dirty="0" err="1">
                          <a:effectLst/>
                        </a:rPr>
                        <a:t>tử</a:t>
                      </a:r>
                      <a:r>
                        <a:rPr lang="en-US" sz="1600" dirty="0">
                          <a:effectLst/>
                        </a:rPr>
                        <a:t> </a:t>
                      </a:r>
                      <a:r>
                        <a:rPr lang="en-US" sz="1600" dirty="0" err="1">
                          <a:effectLst/>
                        </a:rPr>
                        <a:t>gán</a:t>
                      </a:r>
                      <a:r>
                        <a:rPr lang="en-US" sz="1600" dirty="0">
                          <a:effectLst/>
                        </a:rPr>
                        <a:t> module:</a:t>
                      </a:r>
                      <a:br>
                        <a:rPr lang="en-US" sz="1600" dirty="0">
                          <a:effectLst/>
                        </a:rPr>
                      </a:br>
                      <a:r>
                        <a:rPr lang="en-US" sz="1600" dirty="0">
                          <a:effectLst/>
                        </a:rPr>
                        <a:t>a %=b </a:t>
                      </a:r>
                      <a:r>
                        <a:rPr lang="en-US" sz="1600" dirty="0" err="1">
                          <a:effectLst/>
                        </a:rPr>
                        <a:t>tương</a:t>
                      </a:r>
                      <a:r>
                        <a:rPr lang="en-US" sz="1600" dirty="0">
                          <a:effectLst/>
                        </a:rPr>
                        <a:t> </a:t>
                      </a:r>
                      <a:r>
                        <a:rPr lang="en-US" sz="1600" dirty="0" err="1">
                          <a:effectLst/>
                        </a:rPr>
                        <a:t>đương</a:t>
                      </a:r>
                      <a:r>
                        <a:rPr lang="en-US" sz="1600" dirty="0">
                          <a:effectLst/>
                        </a:rPr>
                        <a:t> a = a % b;</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rPr>
                        <a:t>int a = 10;</a:t>
                      </a: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rPr>
                        <a:t>a %= 3;                 // a = 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8705" marR="8705" marT="8705" marB="8705"/>
                </a:tc>
                <a:extLst>
                  <a:ext uri="{0D108BD9-81ED-4DB2-BD59-A6C34878D82A}">
                    <a16:rowId xmlns:a16="http://schemas.microsoft.com/office/drawing/2014/main" val="2534872729"/>
                  </a:ext>
                </a:extLst>
              </a:tr>
            </a:tbl>
          </a:graphicData>
        </a:graphic>
      </p:graphicFrame>
    </p:spTree>
    <p:extLst>
      <p:ext uri="{BB962C8B-B14F-4D97-AF65-F5344CB8AC3E}">
        <p14:creationId xmlns:p14="http://schemas.microsoft.com/office/powerpoint/2010/main" val="40607514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3D24C-2ABA-C293-7264-6A635F1B9763}"/>
              </a:ext>
            </a:extLst>
          </p:cNvPr>
          <p:cNvSpPr>
            <a:spLocks noGrp="1"/>
          </p:cNvSpPr>
          <p:nvPr>
            <p:ph type="title"/>
          </p:nvPr>
        </p:nvSpPr>
        <p:spPr>
          <a:xfrm>
            <a:off x="1097280" y="286603"/>
            <a:ext cx="10058400" cy="702303"/>
          </a:xfrm>
        </p:spPr>
        <p:txBody>
          <a:bodyPr>
            <a:normAutofit/>
          </a:bodyPr>
          <a:lstStyle/>
          <a:p>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tăng</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và</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giảm</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US" sz="7200" dirty="0"/>
          </a:p>
        </p:txBody>
      </p:sp>
      <p:sp>
        <p:nvSpPr>
          <p:cNvPr id="3" name="Content Placeholder 2">
            <a:extLst>
              <a:ext uri="{FF2B5EF4-FFF2-40B4-BE49-F238E27FC236}">
                <a16:creationId xmlns:a16="http://schemas.microsoft.com/office/drawing/2014/main" id="{A8E857AA-8E87-A438-F139-70ED16F51615}"/>
              </a:ext>
            </a:extLst>
          </p:cNvPr>
          <p:cNvSpPr>
            <a:spLocks noGrp="1"/>
          </p:cNvSpPr>
          <p:nvPr>
            <p:ph idx="1"/>
          </p:nvPr>
        </p:nvSpPr>
        <p:spPr>
          <a:xfrm>
            <a:off x="1097280" y="1074420"/>
            <a:ext cx="10058400" cy="4794674"/>
          </a:xfrm>
        </p:spPr>
        <p:txBody>
          <a:bodyPr>
            <a:normAutofit fontScale="85000" lnSpcReduction="10000"/>
          </a:bodyPr>
          <a:lstStyle/>
          <a:p>
            <a:pPr>
              <a:lnSpc>
                <a:spcPct val="120000"/>
              </a:lnSpc>
              <a:spcBef>
                <a:spcPts val="300"/>
              </a:spcBef>
              <a:spcAft>
                <a:spcPts val="0"/>
              </a:spcAft>
            </a:pP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thêm</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vào</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1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đơn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vị</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còn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bớt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một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đơn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vị</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này</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thể</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viết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trái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hoặc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phải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p>
          <a:p>
            <a:pPr>
              <a:lnSpc>
                <a:spcPct val="120000"/>
              </a:lnSpc>
              <a:spcBef>
                <a:spcPts val="30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11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thêm</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12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thêm</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11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bớt</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    </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10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bớt</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pP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Nếu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độc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lập</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việc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viết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hoặc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trái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hay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phải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không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biệt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Tuy</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nhiên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trong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thức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sự</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biệt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pP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Nếu</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viết</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trước</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++x</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thi</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hành</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trước</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rồi</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mới</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áp</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dụng</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vào</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biểu</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thức</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nếu</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viết</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sau</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dạng</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x++</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biểu</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thức</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thi</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hành</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xong</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mới</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đến</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tương</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tự</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với</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56404"/>
                </a:solidFill>
                <a:effectLst/>
                <a:latin typeface="Segoe UI" panose="020B0502040204020203" pitchFamily="34" charset="0"/>
                <a:ea typeface="Times New Roman" panose="02020603050405020304" pitchFamily="18" charset="0"/>
                <a:cs typeface="Times New Roman" panose="02020603050405020304" pitchFamily="18" charset="0"/>
              </a:rPr>
              <a:t>)</a:t>
            </a:r>
          </a:p>
          <a:p>
            <a:pPr>
              <a:lnSpc>
                <a:spcPct val="120000"/>
              </a:lnSpc>
              <a:spcBef>
                <a:spcPts val="300"/>
              </a:spcBef>
              <a:spcAft>
                <a:spcPts val="0"/>
              </a:spcAft>
            </a:pP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Ví</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dụ</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latin typeface="Consolas" panose="020B0609020204030204" pitchFamily="49" charset="0"/>
                <a:cs typeface="Courier New" panose="02070309020205020404" pitchFamily="49" charset="0"/>
              </a:rPr>
              <a:t>++</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thi</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hành</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sau</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do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viết</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sau</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biến</a:t>
            </a:r>
            <a:endParaRPr lang="en-US" sz="1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int a = 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int b = 2 * a++;  // b = 10; a = 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pP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Ví</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dụ</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latin typeface="Consolas" panose="020B0609020204030204" pitchFamily="49" charset="0"/>
                <a:cs typeface="Courier New" panose="02070309020205020404" pitchFamily="49" charset="0"/>
              </a:rPr>
              <a:t>++</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sẽ</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thi</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hành</a:t>
            </a:r>
            <a:r>
              <a:rPr lang="en-US" sz="1800" dirty="0">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0070C0"/>
                </a:solidFill>
                <a:effectLst/>
                <a:latin typeface="Segoe UI" panose="020B0502040204020203" pitchFamily="34" charset="0"/>
                <a:ea typeface="Times New Roman" panose="02020603050405020304" pitchFamily="18" charset="0"/>
                <a:cs typeface="Times New Roman" panose="02020603050405020304" pitchFamily="18" charset="0"/>
              </a:rPr>
              <a:t>trước</a:t>
            </a:r>
            <a:endParaRPr lang="en-US" sz="1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int a = 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212529"/>
                </a:solidFill>
                <a:effectLst/>
                <a:latin typeface="Consolas" panose="020B0609020204030204" pitchFamily="49" charset="0"/>
                <a:ea typeface="Times New Roman" panose="02020603050405020304" pitchFamily="18" charset="0"/>
                <a:cs typeface="Courier New" panose="02070309020205020404" pitchFamily="49" charset="0"/>
              </a:rPr>
              <a:t>int b = 2 * ++a;  // b = 12; a = 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30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27992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EFD3-8504-82E4-6C34-051C090C0AD1}"/>
              </a:ext>
            </a:extLst>
          </p:cNvPr>
          <p:cNvSpPr>
            <a:spLocks noGrp="1"/>
          </p:cNvSpPr>
          <p:nvPr>
            <p:ph type="title"/>
          </p:nvPr>
        </p:nvSpPr>
        <p:spPr/>
        <p:txBody>
          <a:bodyPr>
            <a:normAutofit/>
          </a:bodyPr>
          <a:lstStyle/>
          <a:p>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so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sánh</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trong</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C#</a:t>
            </a:r>
            <a:endParaRPr lang="en-US" sz="8000" dirty="0"/>
          </a:p>
        </p:txBody>
      </p:sp>
      <p:sp>
        <p:nvSpPr>
          <p:cNvPr id="3" name="Content Placeholder 2">
            <a:extLst>
              <a:ext uri="{FF2B5EF4-FFF2-40B4-BE49-F238E27FC236}">
                <a16:creationId xmlns:a16="http://schemas.microsoft.com/office/drawing/2014/main" id="{E9FFDB33-F444-79E2-FAE5-EFC962659BA3}"/>
              </a:ext>
            </a:extLst>
          </p:cNvPr>
          <p:cNvSpPr>
            <a:spLocks noGrp="1"/>
          </p:cNvSpPr>
          <p:nvPr>
            <p:ph idx="1"/>
          </p:nvPr>
        </p:nvSpPr>
        <p:spPr>
          <a:xfrm>
            <a:off x="1097280" y="1845734"/>
            <a:ext cx="10058400" cy="1202266"/>
          </a:xfrm>
        </p:spPr>
        <p:txBody>
          <a:bodyPr>
            <a:normAutofit/>
          </a:bodyPr>
          <a:lstStyle/>
          <a:p>
            <a:pPr>
              <a:lnSpc>
                <a:spcPct val="110000"/>
              </a:lnSpc>
              <a:spcBef>
                <a:spcPts val="600"/>
              </a:spcBef>
              <a:spcAft>
                <a:spcPts val="0"/>
              </a:spcAft>
            </a:pP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so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sánh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thực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hiện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phép</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hai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hạng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trả</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về</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kết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quả</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bool</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với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giá</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trị</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true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hoặc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false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0000"/>
              </a:lnSpc>
              <a:spcBef>
                <a:spcPts val="600"/>
              </a:spcBef>
              <a:spcAft>
                <a:spcPts val="0"/>
              </a:spcAft>
            </a:pP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Ví</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dụ</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hai</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biến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int a = 5;</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int b = 6;</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graphicFrame>
        <p:nvGraphicFramePr>
          <p:cNvPr id="4" name="Table 3">
            <a:extLst>
              <a:ext uri="{FF2B5EF4-FFF2-40B4-BE49-F238E27FC236}">
                <a16:creationId xmlns:a16="http://schemas.microsoft.com/office/drawing/2014/main" id="{FD17F117-D265-0939-0BA1-B0E7E2A9F5A7}"/>
              </a:ext>
            </a:extLst>
          </p:cNvPr>
          <p:cNvGraphicFramePr>
            <a:graphicFrameLocks noGrp="1"/>
          </p:cNvGraphicFramePr>
          <p:nvPr>
            <p:extLst>
              <p:ext uri="{D42A27DB-BD31-4B8C-83A1-F6EECF244321}">
                <p14:modId xmlns:p14="http://schemas.microsoft.com/office/powerpoint/2010/main" val="3126796969"/>
              </p:ext>
            </p:extLst>
          </p:nvPr>
        </p:nvGraphicFramePr>
        <p:xfrm>
          <a:off x="1036320" y="2859194"/>
          <a:ext cx="7601269" cy="3448368"/>
        </p:xfrm>
        <a:graphic>
          <a:graphicData uri="http://schemas.openxmlformats.org/drawingml/2006/table">
            <a:tbl>
              <a:tblPr firstRow="1" firstCol="1" bandRow="1">
                <a:tableStyleId>{5C22544A-7EE6-4342-B048-85BDC9FD1C3A}</a:tableStyleId>
              </a:tblPr>
              <a:tblGrid>
                <a:gridCol w="1507240">
                  <a:extLst>
                    <a:ext uri="{9D8B030D-6E8A-4147-A177-3AD203B41FA5}">
                      <a16:colId xmlns:a16="http://schemas.microsoft.com/office/drawing/2014/main" val="3666991884"/>
                    </a:ext>
                  </a:extLst>
                </a:gridCol>
                <a:gridCol w="2645441">
                  <a:extLst>
                    <a:ext uri="{9D8B030D-6E8A-4147-A177-3AD203B41FA5}">
                      <a16:colId xmlns:a16="http://schemas.microsoft.com/office/drawing/2014/main" val="873028202"/>
                    </a:ext>
                  </a:extLst>
                </a:gridCol>
                <a:gridCol w="3448588">
                  <a:extLst>
                    <a:ext uri="{9D8B030D-6E8A-4147-A177-3AD203B41FA5}">
                      <a16:colId xmlns:a16="http://schemas.microsoft.com/office/drawing/2014/main" val="2735806213"/>
                    </a:ext>
                  </a:extLst>
                </a:gridCol>
              </a:tblGrid>
              <a:tr h="332046">
                <a:tc>
                  <a:txBody>
                    <a:bodyPr/>
                    <a:lstStyle/>
                    <a:p>
                      <a:pPr algn="ctr">
                        <a:lnSpc>
                          <a:spcPct val="107000"/>
                        </a:lnSpc>
                        <a:spcAft>
                          <a:spcPts val="800"/>
                        </a:spcAft>
                      </a:pPr>
                      <a:r>
                        <a:rPr lang="en-US" sz="1800">
                          <a:effectLst/>
                        </a:rPr>
                        <a:t>Toán tử</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gn="ctr">
                        <a:lnSpc>
                          <a:spcPct val="107000"/>
                        </a:lnSpc>
                        <a:spcAft>
                          <a:spcPts val="800"/>
                        </a:spcAft>
                      </a:pPr>
                      <a:r>
                        <a:rPr lang="en-US" sz="1800">
                          <a:effectLst/>
                        </a:rPr>
                        <a:t>Ý nghĩa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gn="ctr">
                        <a:lnSpc>
                          <a:spcPct val="107000"/>
                        </a:lnSpc>
                        <a:spcAft>
                          <a:spcPts val="800"/>
                        </a:spcAft>
                      </a:pPr>
                      <a:r>
                        <a:rPr lang="en-US" sz="1800">
                          <a:effectLst/>
                        </a:rPr>
                        <a:t>Ví dụ</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649055749"/>
                  </a:ext>
                </a:extLst>
              </a:tr>
              <a:tr h="332046">
                <a:tc>
                  <a:txBody>
                    <a:bodyPr/>
                    <a:lstStyle/>
                    <a:p>
                      <a:pPr>
                        <a:lnSpc>
                          <a:spcPct val="107000"/>
                        </a:lnSpc>
                        <a:spcAft>
                          <a:spcPts val="800"/>
                        </a:spcAft>
                      </a:pPr>
                      <a:r>
                        <a:rPr lang="en-US" sz="2400">
                          <a:effectLst/>
                        </a:rPr>
                        <a: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effectLst/>
                        </a:rPr>
                        <a:t>So sánh bằng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effectLst/>
                        </a:rPr>
                        <a:t>bool c = (a == b);      // false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552038546"/>
                  </a:ext>
                </a:extLst>
              </a:tr>
              <a:tr h="332046">
                <a:tc>
                  <a:txBody>
                    <a:bodyPr/>
                    <a:lstStyle/>
                    <a:p>
                      <a:pPr>
                        <a:lnSpc>
                          <a:spcPct val="107000"/>
                        </a:lnSpc>
                        <a:spcAft>
                          <a:spcPts val="800"/>
                        </a:spcAft>
                      </a:pPr>
                      <a:r>
                        <a:rPr lang="en-US" sz="2400">
                          <a:effectLst/>
                        </a:rPr>
                        <a:t>&gt;</a:t>
                      </a:r>
                      <a:r>
                        <a:rPr lang="en-US" sz="3200">
                          <a:effectLst/>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effectLst/>
                        </a:rPr>
                        <a:t>So sánh lớn hơn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effectLst/>
                        </a:rPr>
                        <a:t>bool c = (a &gt; b);       // false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516868674"/>
                  </a:ext>
                </a:extLst>
              </a:tr>
              <a:tr h="647317">
                <a:tc>
                  <a:txBody>
                    <a:bodyPr/>
                    <a:lstStyle/>
                    <a:p>
                      <a:pPr>
                        <a:lnSpc>
                          <a:spcPct val="107000"/>
                        </a:lnSpc>
                        <a:spcAft>
                          <a:spcPts val="800"/>
                        </a:spcAft>
                      </a:pPr>
                      <a:r>
                        <a:rPr lang="en-US" sz="2400">
                          <a:effectLst/>
                        </a:rPr>
                        <a:t>&gt;=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effectLst/>
                        </a:rPr>
                        <a:t>So sánh lớn hơn hoặc bằng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effectLst/>
                        </a:rPr>
                        <a:t>bool c = (a &gt;= b);      // false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410757841"/>
                  </a:ext>
                </a:extLst>
              </a:tr>
              <a:tr h="332046">
                <a:tc>
                  <a:txBody>
                    <a:bodyPr/>
                    <a:lstStyle/>
                    <a:p>
                      <a:pPr>
                        <a:lnSpc>
                          <a:spcPct val="107000"/>
                        </a:lnSpc>
                        <a:spcAft>
                          <a:spcPts val="800"/>
                        </a:spcAft>
                      </a:pPr>
                      <a:r>
                        <a:rPr lang="en-US" sz="2400">
                          <a:effectLst/>
                        </a:rPr>
                        <a:t>&lt;</a:t>
                      </a:r>
                      <a:r>
                        <a:rPr lang="en-US" sz="3200">
                          <a:effectLst/>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effectLst/>
                        </a:rPr>
                        <a:t>So sánh nhỏ hơn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effectLst/>
                        </a:rPr>
                        <a:t>bool c = (a &lt; b);       // true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4291577589"/>
                  </a:ext>
                </a:extLst>
              </a:tr>
              <a:tr h="647317">
                <a:tc>
                  <a:txBody>
                    <a:bodyPr/>
                    <a:lstStyle/>
                    <a:p>
                      <a:pPr>
                        <a:lnSpc>
                          <a:spcPct val="107000"/>
                        </a:lnSpc>
                        <a:spcAft>
                          <a:spcPts val="800"/>
                        </a:spcAft>
                      </a:pPr>
                      <a:r>
                        <a:rPr lang="en-US" sz="2400">
                          <a:effectLst/>
                        </a:rPr>
                        <a:t>&lt;=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effectLst/>
                        </a:rPr>
                        <a:t>So sánh nhỏ hơn hoặc bằng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a:effectLst/>
                        </a:rPr>
                        <a:t>bool c = (a &lt;= b);      // true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03072815"/>
                  </a:ext>
                </a:extLst>
              </a:tr>
              <a:tr h="332046">
                <a:tc>
                  <a:txBody>
                    <a:bodyPr/>
                    <a:lstStyle/>
                    <a:p>
                      <a:pPr>
                        <a:lnSpc>
                          <a:spcPct val="107000"/>
                        </a:lnSpc>
                        <a:spcAft>
                          <a:spcPts val="800"/>
                        </a:spcAft>
                      </a:pPr>
                      <a:r>
                        <a:rPr lang="en-US" sz="2400" dirty="0">
                          <a:effectLst/>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effectLst/>
                        </a:rPr>
                        <a:t>So sánh khác</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dirty="0">
                          <a:effectLst/>
                        </a:rPr>
                        <a:t>bool c = (a != b);      // true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907165880"/>
                  </a:ext>
                </a:extLst>
              </a:tr>
            </a:tbl>
          </a:graphicData>
        </a:graphic>
      </p:graphicFrame>
    </p:spTree>
    <p:extLst>
      <p:ext uri="{BB962C8B-B14F-4D97-AF65-F5344CB8AC3E}">
        <p14:creationId xmlns:p14="http://schemas.microsoft.com/office/powerpoint/2010/main" val="3860839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B7006-28DE-4110-E45D-0D63344F43A7}"/>
              </a:ext>
            </a:extLst>
          </p:cNvPr>
          <p:cNvSpPr>
            <a:spLocks noGrp="1"/>
          </p:cNvSpPr>
          <p:nvPr>
            <p:ph type="title"/>
          </p:nvPr>
        </p:nvSpPr>
        <p:spPr/>
        <p:txBody>
          <a:bodyPr>
            <a:normAutofit/>
          </a:bodyPr>
          <a:lstStyle/>
          <a:p>
            <a:r>
              <a:rPr lang="en-US" sz="40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40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0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40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0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40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logic</a:t>
            </a:r>
            <a:endParaRPr lang="en-US" sz="8800" dirty="0"/>
          </a:p>
        </p:txBody>
      </p:sp>
      <p:sp>
        <p:nvSpPr>
          <p:cNvPr id="3" name="Content Placeholder 2">
            <a:extLst>
              <a:ext uri="{FF2B5EF4-FFF2-40B4-BE49-F238E27FC236}">
                <a16:creationId xmlns:a16="http://schemas.microsoft.com/office/drawing/2014/main" id="{8A2F4B5D-1D64-9DF6-3807-02611C2E4D88}"/>
              </a:ext>
            </a:extLst>
          </p:cNvPr>
          <p:cNvSpPr>
            <a:spLocks noGrp="1"/>
          </p:cNvSpPr>
          <p:nvPr>
            <p:ph idx="1"/>
          </p:nvPr>
        </p:nvSpPr>
        <p:spPr>
          <a:xfrm>
            <a:off x="1097280" y="1845734"/>
            <a:ext cx="10058400" cy="943186"/>
          </a:xfrm>
        </p:spPr>
        <p:txBody>
          <a:bodyPr>
            <a:normAutofit fontScale="92500" lnSpcReduction="20000"/>
          </a:bodyPr>
          <a:lstStyle/>
          <a:p>
            <a:pPr>
              <a:lnSpc>
                <a:spcPct val="107000"/>
              </a:lnSpc>
              <a:spcAft>
                <a:spcPts val="800"/>
              </a:spcAft>
            </a:pP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toán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tử</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logic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thực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hiện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trên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hạng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bool</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trả</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về</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kết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quả</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bool</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true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hoặc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false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Ví</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dụ</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nếu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bool a = false;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và</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bool a = true;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graphicFrame>
        <p:nvGraphicFramePr>
          <p:cNvPr id="4" name="Table 3">
            <a:extLst>
              <a:ext uri="{FF2B5EF4-FFF2-40B4-BE49-F238E27FC236}">
                <a16:creationId xmlns:a16="http://schemas.microsoft.com/office/drawing/2014/main" id="{C1869E36-EF7B-718D-EB7F-704250DA31D6}"/>
              </a:ext>
            </a:extLst>
          </p:cNvPr>
          <p:cNvGraphicFramePr>
            <a:graphicFrameLocks noGrp="1"/>
          </p:cNvGraphicFramePr>
          <p:nvPr>
            <p:extLst>
              <p:ext uri="{D42A27DB-BD31-4B8C-83A1-F6EECF244321}">
                <p14:modId xmlns:p14="http://schemas.microsoft.com/office/powerpoint/2010/main" val="396739476"/>
              </p:ext>
            </p:extLst>
          </p:nvPr>
        </p:nvGraphicFramePr>
        <p:xfrm>
          <a:off x="1165860" y="2822998"/>
          <a:ext cx="7604760" cy="3013921"/>
        </p:xfrm>
        <a:graphic>
          <a:graphicData uri="http://schemas.openxmlformats.org/drawingml/2006/table">
            <a:tbl>
              <a:tblPr firstRow="1" firstCol="1" bandRow="1">
                <a:tableStyleId>{5C22544A-7EE6-4342-B048-85BDC9FD1C3A}</a:tableStyleId>
              </a:tblPr>
              <a:tblGrid>
                <a:gridCol w="1019879">
                  <a:extLst>
                    <a:ext uri="{9D8B030D-6E8A-4147-A177-3AD203B41FA5}">
                      <a16:colId xmlns:a16="http://schemas.microsoft.com/office/drawing/2014/main" val="2169958914"/>
                    </a:ext>
                  </a:extLst>
                </a:gridCol>
                <a:gridCol w="4392498">
                  <a:extLst>
                    <a:ext uri="{9D8B030D-6E8A-4147-A177-3AD203B41FA5}">
                      <a16:colId xmlns:a16="http://schemas.microsoft.com/office/drawing/2014/main" val="2321472560"/>
                    </a:ext>
                  </a:extLst>
                </a:gridCol>
                <a:gridCol w="2192383">
                  <a:extLst>
                    <a:ext uri="{9D8B030D-6E8A-4147-A177-3AD203B41FA5}">
                      <a16:colId xmlns:a16="http://schemas.microsoft.com/office/drawing/2014/main" val="1038954732"/>
                    </a:ext>
                  </a:extLst>
                </a:gridCol>
              </a:tblGrid>
              <a:tr h="386504">
                <a:tc>
                  <a:txBody>
                    <a:bodyPr/>
                    <a:lstStyle/>
                    <a:p>
                      <a:pPr algn="ctr">
                        <a:lnSpc>
                          <a:spcPct val="107000"/>
                        </a:lnSpc>
                        <a:spcAft>
                          <a:spcPts val="800"/>
                        </a:spcAft>
                      </a:pPr>
                      <a:r>
                        <a:rPr lang="en-US" sz="1800">
                          <a:effectLst/>
                        </a:rPr>
                        <a:t>Toán tử</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gn="ctr">
                        <a:lnSpc>
                          <a:spcPct val="107000"/>
                        </a:lnSpc>
                        <a:spcAft>
                          <a:spcPts val="800"/>
                        </a:spcAft>
                      </a:pPr>
                      <a:r>
                        <a:rPr lang="en-US" sz="1800">
                          <a:effectLst/>
                        </a:rPr>
                        <a:t>Ý nghĩa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gn="ctr">
                        <a:lnSpc>
                          <a:spcPct val="107000"/>
                        </a:lnSpc>
                        <a:spcAft>
                          <a:spcPts val="800"/>
                        </a:spcAft>
                      </a:pPr>
                      <a:r>
                        <a:rPr lang="en-US" sz="1800" dirty="0" err="1">
                          <a:effectLst/>
                        </a:rPr>
                        <a:t>Ví</a:t>
                      </a:r>
                      <a:r>
                        <a:rPr lang="en-US" sz="1800" dirty="0">
                          <a:effectLst/>
                        </a:rPr>
                        <a:t> </a:t>
                      </a:r>
                      <a:r>
                        <a:rPr lang="en-US" sz="1800" dirty="0" err="1">
                          <a:effectLst/>
                        </a:rPr>
                        <a:t>dụ</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388662210"/>
                  </a:ext>
                </a:extLst>
              </a:tr>
              <a:tr h="753480">
                <a:tc>
                  <a:txBody>
                    <a:bodyPr/>
                    <a:lstStyle/>
                    <a:p>
                      <a:pPr>
                        <a:lnSpc>
                          <a:spcPct val="107000"/>
                        </a:lnSpc>
                        <a:spcAft>
                          <a:spcPts val="800"/>
                        </a:spcAft>
                      </a:pPr>
                      <a:r>
                        <a:rPr lang="en-US" sz="2800">
                          <a:effectLst/>
                        </a:rPr>
                        <a:t>&amp;&amp;</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trả</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về</a:t>
                      </a:r>
                      <a:r>
                        <a:rPr lang="en-US" sz="200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true</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nếu</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cả</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hai</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số</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hạng</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đều</a:t>
                      </a:r>
                      <a:r>
                        <a:rPr lang="en-US" sz="200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true</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còn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lại</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trả</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về</a:t>
                      </a:r>
                      <a:r>
                        <a:rPr lang="en-US" sz="200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false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a:effectLst/>
                          <a:latin typeface="Times New Roman" panose="02020603050405020304" pitchFamily="18" charset="0"/>
                          <a:cs typeface="Times New Roman" panose="02020603050405020304" pitchFamily="18" charset="0"/>
                        </a:rPr>
                        <a:t>bool c = (a &amp;&amp; b);  // false</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082458868"/>
                  </a:ext>
                </a:extLst>
              </a:tr>
              <a:tr h="1120457">
                <a:tc>
                  <a:txBody>
                    <a:bodyPr/>
                    <a:lstStyle/>
                    <a:p>
                      <a:pPr>
                        <a:lnSpc>
                          <a:spcPct val="107000"/>
                        </a:lnSpc>
                        <a:spcAft>
                          <a:spcPts val="800"/>
                        </a:spcAft>
                      </a:pPr>
                      <a:r>
                        <a:rPr lang="en-US" sz="2800">
                          <a:effectLst/>
                        </a:rPr>
                        <a:t>||</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trả</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về</a:t>
                      </a:r>
                      <a:r>
                        <a:rPr lang="en-US" sz="200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true</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nếu</a:t>
                      </a:r>
                      <a:r>
                        <a:rPr lang="en-US" sz="2000" dirty="0">
                          <a:effectLst/>
                          <a:latin typeface="Times New Roman" panose="02020603050405020304" pitchFamily="18" charset="0"/>
                          <a:cs typeface="Times New Roman" panose="02020603050405020304" pitchFamily="18" charset="0"/>
                        </a:rPr>
                        <a:t> 1 </a:t>
                      </a:r>
                      <a:r>
                        <a:rPr lang="en-US" sz="2000" dirty="0" err="1">
                          <a:effectLst/>
                          <a:latin typeface="Times New Roman" panose="02020603050405020304" pitchFamily="18" charset="0"/>
                          <a:cs typeface="Times New Roman" panose="02020603050405020304" pitchFamily="18" charset="0"/>
                        </a:rPr>
                        <a:t>trong</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hai</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số</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hạng</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là</a:t>
                      </a:r>
                      <a:r>
                        <a:rPr lang="en-US" sz="200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true</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còn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lại</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trả</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về</a:t>
                      </a:r>
                      <a:r>
                        <a:rPr lang="en-US" sz="200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false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a:effectLst/>
                          <a:latin typeface="Times New Roman" panose="02020603050405020304" pitchFamily="18" charset="0"/>
                          <a:cs typeface="Times New Roman" panose="02020603050405020304" pitchFamily="18" charset="0"/>
                        </a:rPr>
                        <a:t>bool c = (a || b);  // true</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762614965"/>
                  </a:ext>
                </a:extLst>
              </a:tr>
              <a:tr h="753480">
                <a:tc>
                  <a:txBody>
                    <a:bodyPr/>
                    <a:lstStyle/>
                    <a:p>
                      <a:pPr>
                        <a:lnSpc>
                          <a:spcPct val="107000"/>
                        </a:lnSpc>
                        <a:spcAft>
                          <a:spcPts val="800"/>
                        </a:spcAft>
                      </a:pPr>
                      <a:r>
                        <a:rPr lang="en-US" sz="2800" dirty="0">
                          <a:effectLst/>
                        </a:rPr>
                        <a:t>!</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000" dirty="0" err="1">
                          <a:effectLst/>
                          <a:latin typeface="Times New Roman" panose="02020603050405020304" pitchFamily="18" charset="0"/>
                          <a:cs typeface="Times New Roman" panose="02020603050405020304" pitchFamily="18" charset="0"/>
                        </a:rPr>
                        <a:t>giá</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trị</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trả</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về</a:t>
                      </a:r>
                      <a:r>
                        <a:rPr lang="en-US" sz="2000" dirty="0">
                          <a:effectLst/>
                          <a:latin typeface="Times New Roman" panose="02020603050405020304" pitchFamily="18" charset="0"/>
                          <a:cs typeface="Times New Roman" panose="02020603050405020304" pitchFamily="18" charset="0"/>
                        </a:rPr>
                        <a:t> true </a:t>
                      </a:r>
                      <a:r>
                        <a:rPr lang="en-US" sz="2000" dirty="0" err="1">
                          <a:effectLst/>
                          <a:latin typeface="Times New Roman" panose="02020603050405020304" pitchFamily="18" charset="0"/>
                          <a:cs typeface="Times New Roman" panose="02020603050405020304" pitchFamily="18" charset="0"/>
                        </a:rPr>
                        <a:t>nếu</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số</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hạng</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là</a:t>
                      </a:r>
                      <a:r>
                        <a:rPr lang="en-US" sz="2000" dirty="0">
                          <a:effectLst/>
                          <a:latin typeface="Times New Roman" panose="02020603050405020304" pitchFamily="18" charset="0"/>
                          <a:cs typeface="Times New Roman" panose="02020603050405020304" pitchFamily="18" charset="0"/>
                        </a:rPr>
                        <a:t> false </a:t>
                      </a:r>
                      <a:r>
                        <a:rPr lang="en-US" sz="2000" dirty="0" err="1">
                          <a:effectLst/>
                          <a:latin typeface="Times New Roman" panose="02020603050405020304" pitchFamily="18" charset="0"/>
                          <a:cs typeface="Times New Roman" panose="02020603050405020304" pitchFamily="18" charset="0"/>
                        </a:rPr>
                        <a:t>và</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ngược</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lại</a:t>
                      </a:r>
                      <a:r>
                        <a:rPr lang="en-US" sz="2000" dirty="0">
                          <a:effectLst/>
                          <a:latin typeface="Times New Roman" panose="02020603050405020304" pitchFamily="18" charset="0"/>
                          <a:cs typeface="Times New Roman" panose="02020603050405020304" pitchFamily="18" charset="0"/>
                        </a:rPr>
                        <a:t>.</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ffectLst/>
                          <a:latin typeface="Times New Roman" panose="02020603050405020304" pitchFamily="18" charset="0"/>
                          <a:cs typeface="Times New Roman" panose="02020603050405020304" pitchFamily="18" charset="0"/>
                        </a:rPr>
                        <a:t>bool c = !a;  // true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204395832"/>
                  </a:ext>
                </a:extLst>
              </a:tr>
            </a:tbl>
          </a:graphicData>
        </a:graphic>
      </p:graphicFrame>
    </p:spTree>
    <p:extLst>
      <p:ext uri="{BB962C8B-B14F-4D97-AF65-F5344CB8AC3E}">
        <p14:creationId xmlns:p14="http://schemas.microsoft.com/office/powerpoint/2010/main" val="38810255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7C589-3C82-1A52-F746-3EB1EC2F9B31}"/>
              </a:ext>
            </a:extLst>
          </p:cNvPr>
          <p:cNvSpPr>
            <a:spLocks noGrp="1"/>
          </p:cNvSpPr>
          <p:nvPr>
            <p:ph type="title"/>
          </p:nvPr>
        </p:nvSpPr>
        <p:spPr/>
        <p:txBody>
          <a:bodyPr/>
          <a:lstStyle/>
          <a:p>
            <a:r>
              <a:rPr lang="vi-VN" b="1" dirty="0"/>
              <a:t>2.4	Câu </a:t>
            </a:r>
            <a:r>
              <a:rPr lang="vi-VN" b="1" dirty="0" err="1"/>
              <a:t>lệnh</a:t>
            </a:r>
            <a:r>
              <a:rPr lang="vi-VN" b="1" dirty="0"/>
              <a:t> </a:t>
            </a:r>
            <a:r>
              <a:rPr lang="vi-VN" b="1" dirty="0" err="1"/>
              <a:t>rẽ</a:t>
            </a:r>
            <a:r>
              <a:rPr lang="vi-VN" b="1" dirty="0"/>
              <a:t> </a:t>
            </a:r>
            <a:r>
              <a:rPr lang="vi-VN" b="1" dirty="0" err="1"/>
              <a:t>nhánh</a:t>
            </a:r>
            <a:r>
              <a:rPr lang="vi-VN" b="1" dirty="0"/>
              <a:t> </a:t>
            </a:r>
            <a:r>
              <a:rPr lang="vi-VN" b="1" dirty="0" err="1"/>
              <a:t>if</a:t>
            </a:r>
            <a:r>
              <a:rPr lang="vi-VN" b="1" dirty="0"/>
              <a:t>, </a:t>
            </a:r>
            <a:r>
              <a:rPr lang="vi-VN" b="1" dirty="0" err="1"/>
              <a:t>switch</a:t>
            </a:r>
            <a:endParaRPr lang="en-US" dirty="0"/>
          </a:p>
        </p:txBody>
      </p:sp>
      <p:sp>
        <p:nvSpPr>
          <p:cNvPr id="3" name="Text Placeholder 2">
            <a:extLst>
              <a:ext uri="{FF2B5EF4-FFF2-40B4-BE49-F238E27FC236}">
                <a16:creationId xmlns:a16="http://schemas.microsoft.com/office/drawing/2014/main" id="{0FB4A461-9C5B-7409-B4A3-520F3E9AB5F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540123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CA4EC-FF27-6304-8F05-590D7ACDF249}"/>
              </a:ext>
            </a:extLst>
          </p:cNvPr>
          <p:cNvSpPr>
            <a:spLocks noGrp="1"/>
          </p:cNvSpPr>
          <p:nvPr>
            <p:ph type="title"/>
          </p:nvPr>
        </p:nvSpPr>
        <p:spPr/>
        <p:txBody>
          <a:bodyPr>
            <a:normAutofit/>
          </a:bodyPr>
          <a:lstStyle/>
          <a:p>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Câu</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if</a:t>
            </a:r>
            <a:endParaRPr lang="en-US" sz="8000" dirty="0"/>
          </a:p>
        </p:txBody>
      </p:sp>
      <p:sp>
        <p:nvSpPr>
          <p:cNvPr id="3" name="Content Placeholder 2">
            <a:extLst>
              <a:ext uri="{FF2B5EF4-FFF2-40B4-BE49-F238E27FC236}">
                <a16:creationId xmlns:a16="http://schemas.microsoft.com/office/drawing/2014/main" id="{C1EE18D0-0AD9-5A70-8B3C-DCAE5051E5F0}"/>
              </a:ext>
            </a:extLst>
          </p:cNvPr>
          <p:cNvSpPr>
            <a:spLocks noGrp="1"/>
          </p:cNvSpPr>
          <p:nvPr>
            <p:ph idx="1"/>
          </p:nvPr>
        </p:nvSpPr>
        <p:spPr>
          <a:xfrm>
            <a:off x="1097280" y="1845734"/>
            <a:ext cx="10058400" cy="4356946"/>
          </a:xfrm>
        </p:spPr>
        <p:txBody>
          <a:bodyPr>
            <a:normAutofit fontScale="85000" lnSpcReduction="10000"/>
          </a:bodyPr>
          <a:lstStyle/>
          <a:p>
            <a:pPr>
              <a:lnSpc>
                <a:spcPct val="120000"/>
              </a:lnSpc>
              <a:spcBef>
                <a:spcPts val="0"/>
              </a:spcBef>
              <a:spcAft>
                <a:spcPts val="0"/>
              </a:spcAft>
            </a:pPr>
            <a:r>
              <a:rPr lang="en-US" sz="1800" b="1"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Cú</a:t>
            </a:r>
            <a:r>
              <a:rPr lang="en-US"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b="1"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pháp</a:t>
            </a:r>
            <a:r>
              <a:rPr lang="en-US"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b="1"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dạng</a:t>
            </a:r>
            <a:r>
              <a:rPr lang="en-US"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b="1"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đơn</a:t>
            </a:r>
            <a:r>
              <a:rPr lang="en-US"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b="1"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giản</a:t>
            </a:r>
            <a:r>
              <a:rPr lang="en-US"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câu_lệnh</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Câu</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lệnh</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thi</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hành</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nếu</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đúng</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pPr>
            <a:r>
              <a:rPr lang="en-US" sz="17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Hoặc</a:t>
            </a:r>
            <a:r>
              <a:rPr lang="en-US" sz="17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7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thi</a:t>
            </a:r>
            <a:r>
              <a:rPr lang="en-US" sz="17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7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hành</a:t>
            </a:r>
            <a:r>
              <a:rPr lang="en-US" sz="17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7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cả</a:t>
            </a:r>
            <a:r>
              <a:rPr lang="en-US" sz="17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7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khối</a:t>
            </a:r>
            <a:r>
              <a:rPr lang="en-US" sz="17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7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lệnh</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các_câu_lệnh</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Câu</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lệnh</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thi</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hành</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nếu</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đúng</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pPr>
            <a:r>
              <a:rPr lang="en-US" sz="1700" b="1"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Dạng</a:t>
            </a:r>
            <a:r>
              <a:rPr lang="en-US" sz="17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700" b="1"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đầy</a:t>
            </a:r>
            <a:r>
              <a:rPr lang="en-US" sz="17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700" b="1"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đủ</a:t>
            </a:r>
            <a:r>
              <a:rPr lang="en-US" sz="17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17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các_câu_lệnh</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Câu</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lệnh</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thi</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hành</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nếu</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đúng</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else</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các_câu_lệnh</a:t>
            </a: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Câu</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lệnh</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thi</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hành</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nếu</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7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7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sai</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7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20000"/>
              </a:lnSpc>
              <a:spcBef>
                <a:spcPts val="0"/>
              </a:spcBef>
              <a:spcAft>
                <a:spcPts val="0"/>
              </a:spcAft>
            </a:pPr>
            <a:endParaRPr lang="en-US" dirty="0"/>
          </a:p>
        </p:txBody>
      </p:sp>
    </p:spTree>
    <p:extLst>
      <p:ext uri="{BB962C8B-B14F-4D97-AF65-F5344CB8AC3E}">
        <p14:creationId xmlns:p14="http://schemas.microsoft.com/office/powerpoint/2010/main" val="492701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CA4EC-FF27-6304-8F05-590D7ACDF249}"/>
              </a:ext>
            </a:extLst>
          </p:cNvPr>
          <p:cNvSpPr>
            <a:spLocks noGrp="1"/>
          </p:cNvSpPr>
          <p:nvPr>
            <p:ph type="title"/>
          </p:nvPr>
        </p:nvSpPr>
        <p:spPr/>
        <p:txBody>
          <a:bodyPr>
            <a:normAutofit/>
          </a:bodyPr>
          <a:lstStyle/>
          <a:p>
            <a:r>
              <a:rPr lang="en-US" sz="3600" dirty="0" err="1">
                <a:solidFill>
                  <a:srgbClr val="17A2B8"/>
                </a:solidFill>
                <a:latin typeface="Segoe UI" panose="020B0502040204020203" pitchFamily="34" charset="0"/>
                <a:ea typeface="Times New Roman" panose="02020603050405020304" pitchFamily="18" charset="0"/>
                <a:cs typeface="Times New Roman" panose="02020603050405020304" pitchFamily="18" charset="0"/>
              </a:rPr>
              <a:t>Ví</a:t>
            </a:r>
            <a:r>
              <a:rPr lang="en-US" sz="3600" dirty="0">
                <a:solidFill>
                  <a:srgbClr val="17A2B8"/>
                </a:solidFill>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latin typeface="Segoe UI" panose="020B0502040204020203" pitchFamily="34" charset="0"/>
                <a:ea typeface="Times New Roman" panose="02020603050405020304" pitchFamily="18" charset="0"/>
                <a:cs typeface="Times New Roman" panose="02020603050405020304" pitchFamily="18" charset="0"/>
              </a:rPr>
              <a:t>dụ</a:t>
            </a:r>
            <a:r>
              <a:rPr lang="en-US" sz="3600" dirty="0">
                <a:solidFill>
                  <a:srgbClr val="17A2B8"/>
                </a:solidFill>
                <a:latin typeface="Segoe UI" panose="020B0502040204020203" pitchFamily="34" charset="0"/>
                <a:ea typeface="Times New Roman" panose="02020603050405020304" pitchFamily="18" charset="0"/>
                <a:cs typeface="Times New Roman" panose="02020603050405020304" pitchFamily="18" charset="0"/>
              </a:rPr>
              <a:t> 1: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Câu</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if</a:t>
            </a:r>
            <a:endParaRPr lang="en-US" sz="8000" dirty="0"/>
          </a:p>
        </p:txBody>
      </p:sp>
      <p:sp>
        <p:nvSpPr>
          <p:cNvPr id="3" name="Content Placeholder 2">
            <a:extLst>
              <a:ext uri="{FF2B5EF4-FFF2-40B4-BE49-F238E27FC236}">
                <a16:creationId xmlns:a16="http://schemas.microsoft.com/office/drawing/2014/main" id="{C1EE18D0-0AD9-5A70-8B3C-DCAE5051E5F0}"/>
              </a:ext>
            </a:extLst>
          </p:cNvPr>
          <p:cNvSpPr>
            <a:spLocks noGrp="1"/>
          </p:cNvSpPr>
          <p:nvPr>
            <p:ph idx="1"/>
          </p:nvPr>
        </p:nvSpPr>
        <p:spPr>
          <a:xfrm>
            <a:off x="1097280" y="1845734"/>
            <a:ext cx="10058400" cy="4356946"/>
          </a:xfrm>
        </p:spPr>
        <p:txBody>
          <a:bodyPr>
            <a:normAutofit fontScale="92500" lnSpcReduction="20000"/>
          </a:bodyPr>
          <a:lstStyle/>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number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1990</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((number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0</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$"{number}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chẵn</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In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ra</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1990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là</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chẵn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5</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b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 &gt;=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lớn</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hơn</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hoặc</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bằng</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b"</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else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nhỏ</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hơn</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b"</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//In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ra</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nhỏ</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hơn</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pPr>
            <a:endParaRPr lang="en-US" dirty="0"/>
          </a:p>
        </p:txBody>
      </p:sp>
    </p:spTree>
    <p:extLst>
      <p:ext uri="{BB962C8B-B14F-4D97-AF65-F5344CB8AC3E}">
        <p14:creationId xmlns:p14="http://schemas.microsoft.com/office/powerpoint/2010/main" val="35861100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CA4EC-FF27-6304-8F05-590D7ACDF249}"/>
              </a:ext>
            </a:extLst>
          </p:cNvPr>
          <p:cNvSpPr>
            <a:spLocks noGrp="1"/>
          </p:cNvSpPr>
          <p:nvPr>
            <p:ph type="title"/>
          </p:nvPr>
        </p:nvSpPr>
        <p:spPr/>
        <p:txBody>
          <a:bodyPr>
            <a:normAutofit/>
          </a:bodyPr>
          <a:lstStyle/>
          <a:p>
            <a:r>
              <a:rPr lang="en-US" sz="3600" dirty="0" err="1">
                <a:solidFill>
                  <a:srgbClr val="17A2B8"/>
                </a:solidFill>
                <a:latin typeface="Segoe UI" panose="020B0502040204020203" pitchFamily="34" charset="0"/>
                <a:ea typeface="Times New Roman" panose="02020603050405020304" pitchFamily="18" charset="0"/>
                <a:cs typeface="Times New Roman" panose="02020603050405020304" pitchFamily="18" charset="0"/>
              </a:rPr>
              <a:t>Ví</a:t>
            </a:r>
            <a:r>
              <a:rPr lang="en-US" sz="3600" dirty="0">
                <a:solidFill>
                  <a:srgbClr val="17A2B8"/>
                </a:solidFill>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latin typeface="Segoe UI" panose="020B0502040204020203" pitchFamily="34" charset="0"/>
                <a:ea typeface="Times New Roman" panose="02020603050405020304" pitchFamily="18" charset="0"/>
                <a:cs typeface="Times New Roman" panose="02020603050405020304" pitchFamily="18" charset="0"/>
              </a:rPr>
              <a:t>dụ</a:t>
            </a:r>
            <a:r>
              <a:rPr lang="en-US" sz="3600" dirty="0">
                <a:solidFill>
                  <a:srgbClr val="17A2B8"/>
                </a:solidFill>
                <a:latin typeface="Segoe UI" panose="020B0502040204020203" pitchFamily="34" charset="0"/>
                <a:ea typeface="Times New Roman" panose="02020603050405020304" pitchFamily="18" charset="0"/>
                <a:cs typeface="Times New Roman" panose="02020603050405020304" pitchFamily="18" charset="0"/>
              </a:rPr>
              <a:t> 2: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Câu</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6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36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if</a:t>
            </a:r>
            <a:endParaRPr lang="en-US" sz="8000" dirty="0"/>
          </a:p>
        </p:txBody>
      </p:sp>
      <p:sp>
        <p:nvSpPr>
          <p:cNvPr id="3" name="Content Placeholder 2">
            <a:extLst>
              <a:ext uri="{FF2B5EF4-FFF2-40B4-BE49-F238E27FC236}">
                <a16:creationId xmlns:a16="http://schemas.microsoft.com/office/drawing/2014/main" id="{C1EE18D0-0AD9-5A70-8B3C-DCAE5051E5F0}"/>
              </a:ext>
            </a:extLst>
          </p:cNvPr>
          <p:cNvSpPr>
            <a:spLocks noGrp="1"/>
          </p:cNvSpPr>
          <p:nvPr>
            <p:ph idx="1"/>
          </p:nvPr>
        </p:nvSpPr>
        <p:spPr>
          <a:xfrm>
            <a:off x="1097280" y="1845734"/>
            <a:ext cx="10058400" cy="4356946"/>
          </a:xfrm>
        </p:spPr>
        <p:txBody>
          <a:bodyPr>
            <a:normAutofit fontScale="92500" lnSpcReduction="20000"/>
          </a:bodyPr>
          <a:lstStyle/>
          <a:p>
            <a:pPr>
              <a:lnSpc>
                <a:spcPct val="120000"/>
              </a:lnSpc>
              <a:spcBef>
                <a:spcPts val="0"/>
              </a:spcBef>
              <a:spcAft>
                <a:spcPts val="0"/>
              </a:spcAft>
            </a:pP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Sau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else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bạn</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thể</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bắt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đầu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ngay</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một</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if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khác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để</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tạo</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ra</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cấu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trúc</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if else</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kiểm</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tra</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nhiều</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trường</a:t>
            </a:r>
            <a:r>
              <a:rPr lang="en-U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hợp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b =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 &gt;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lớn</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hơn</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hoặc</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bằng</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b"</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else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 &lt;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nhỏ</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hơn</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b"</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else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"Hai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 b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bằng</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nhau</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pPr>
            <a:endParaRPr lang="en-US" dirty="0"/>
          </a:p>
        </p:txBody>
      </p:sp>
    </p:spTree>
    <p:extLst>
      <p:ext uri="{BB962C8B-B14F-4D97-AF65-F5344CB8AC3E}">
        <p14:creationId xmlns:p14="http://schemas.microsoft.com/office/powerpoint/2010/main" val="32792678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CEBD1E-E4AE-0444-83B0-DA2080CFE7FD}"/>
              </a:ext>
            </a:extLst>
          </p:cNvPr>
          <p:cNvSpPr>
            <a:spLocks noGrp="1"/>
          </p:cNvSpPr>
          <p:nvPr>
            <p:ph idx="1"/>
          </p:nvPr>
        </p:nvSpPr>
        <p:spPr>
          <a:xfrm>
            <a:off x="1066800" y="1350546"/>
            <a:ext cx="10058400" cy="4978400"/>
          </a:xfrm>
        </p:spPr>
        <p:txBody>
          <a:bodyPr>
            <a:normAutofit fontScale="92500" lnSpcReduction="10000"/>
          </a:bodyPr>
          <a:lstStyle/>
          <a:p>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Khi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viết</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rs</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expr1 ?  expr2 : expr3;</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câu</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đó</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tương</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tương</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với</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(expr1)</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rs</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expr2;</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else</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rs</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expr3;</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nghĩa</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nếu</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biểu</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thức</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expr1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là</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true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lấy</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giá</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trị</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của</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expr2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và</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false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lấy</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expr3</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age = </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18</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mgs = (age &gt;= </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18</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Đủ</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điều</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kiện</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Không</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đủ</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điều</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kiện</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(mgs);</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//In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ra</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Đủ</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điều</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kiện</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Ví</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dụ</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tìm</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lớn</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nhất</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trong</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các</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số</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 b, c</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 = </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b = </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3.5</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c = </a:t>
            </a:r>
            <a:r>
              <a:rPr lang="en-US" sz="20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var</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max = a &gt;= b ?  a &gt;= c ? a : c : b &gt;=c ? b : c;</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Viết</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tường</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minh</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hơn</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max = (a &gt;= b) ?  (a &gt;= c ? a : c) : (b &gt;=c ? b : c);</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(max);</a:t>
            </a:r>
            <a:endParaRPr lang="en-US" dirty="0"/>
          </a:p>
        </p:txBody>
      </p:sp>
      <p:sp>
        <p:nvSpPr>
          <p:cNvPr id="4" name="Rectangle 1">
            <a:extLst>
              <a:ext uri="{FF2B5EF4-FFF2-40B4-BE49-F238E27FC236}">
                <a16:creationId xmlns:a16="http://schemas.microsoft.com/office/drawing/2014/main" id="{2000087C-1FCC-47B1-74CF-FACAAA089BA2}"/>
              </a:ext>
            </a:extLst>
          </p:cNvPr>
          <p:cNvSpPr>
            <a:spLocks noGrp="1" noChangeArrowheads="1"/>
          </p:cNvSpPr>
          <p:nvPr>
            <p:ph type="title"/>
          </p:nvPr>
        </p:nvSpPr>
        <p:spPr bwMode="auto">
          <a:xfrm>
            <a:off x="1066800" y="627271"/>
            <a:ext cx="7970323" cy="723275"/>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buClrTx/>
              <a:buSzTx/>
              <a:buFontTx/>
              <a:buNone/>
              <a:tabLst/>
            </a:pPr>
            <a:r>
              <a:rPr kumimoji="0" lang="en-US" altLang="en-US" sz="4000" b="0" i="0" u="none" strike="noStrike" cap="none" normalizeH="0" baseline="0" dirty="0" err="1">
                <a:ln>
                  <a:noFill/>
                </a:ln>
                <a:solidFill>
                  <a:srgbClr val="17A2B8"/>
                </a:solidFill>
                <a:effectLst/>
                <a:latin typeface="-apple-system"/>
              </a:rPr>
              <a:t>Câu</a:t>
            </a:r>
            <a:r>
              <a:rPr kumimoji="0" lang="en-US" altLang="en-US" sz="4000" b="0" i="0" u="none" strike="noStrike" cap="none" normalizeH="0" baseline="0" dirty="0">
                <a:ln>
                  <a:noFill/>
                </a:ln>
                <a:solidFill>
                  <a:srgbClr val="17A2B8"/>
                </a:solidFill>
                <a:effectLst/>
                <a:latin typeface="-apple-system"/>
              </a:rPr>
              <a:t> </a:t>
            </a:r>
            <a:r>
              <a:rPr kumimoji="0" lang="en-US" altLang="en-US" sz="4000" b="0" i="0" u="none" strike="noStrike" cap="none" normalizeH="0" baseline="0" dirty="0" err="1">
                <a:ln>
                  <a:noFill/>
                </a:ln>
                <a:solidFill>
                  <a:srgbClr val="17A2B8"/>
                </a:solidFill>
                <a:effectLst/>
                <a:latin typeface="-apple-system"/>
              </a:rPr>
              <a:t>lệnh</a:t>
            </a:r>
            <a:r>
              <a:rPr kumimoji="0" lang="en-US" altLang="en-US" sz="4000" b="0" i="0" u="none" strike="noStrike" cap="none" normalizeH="0" baseline="0" dirty="0">
                <a:ln>
                  <a:noFill/>
                </a:ln>
                <a:solidFill>
                  <a:srgbClr val="17A2B8"/>
                </a:solidFill>
                <a:effectLst/>
                <a:latin typeface="-apple-system"/>
              </a:rPr>
              <a:t> </a:t>
            </a:r>
            <a:r>
              <a:rPr kumimoji="0" lang="en-US" altLang="en-US" sz="4000" b="0" i="0" u="none" strike="noStrike" cap="none" normalizeH="0" baseline="0" dirty="0" err="1">
                <a:ln>
                  <a:noFill/>
                </a:ln>
                <a:solidFill>
                  <a:srgbClr val="17A2B8"/>
                </a:solidFill>
                <a:effectLst/>
                <a:latin typeface="-apple-system"/>
              </a:rPr>
              <a:t>ba</a:t>
            </a:r>
            <a:r>
              <a:rPr kumimoji="0" lang="en-US" altLang="en-US" sz="4000" b="0" i="0" u="none" strike="noStrike" cap="none" normalizeH="0" baseline="0" dirty="0">
                <a:ln>
                  <a:noFill/>
                </a:ln>
                <a:solidFill>
                  <a:srgbClr val="17A2B8"/>
                </a:solidFill>
                <a:effectLst/>
                <a:latin typeface="-apple-system"/>
              </a:rPr>
              <a:t> </a:t>
            </a:r>
            <a:r>
              <a:rPr kumimoji="0" lang="en-US" altLang="en-US" sz="4000" b="0" i="0" u="none" strike="noStrike" cap="none" normalizeH="0" baseline="0" dirty="0" err="1">
                <a:ln>
                  <a:noFill/>
                </a:ln>
                <a:solidFill>
                  <a:srgbClr val="17A2B8"/>
                </a:solidFill>
                <a:effectLst/>
                <a:latin typeface="-apple-system"/>
              </a:rPr>
              <a:t>thành</a:t>
            </a:r>
            <a:r>
              <a:rPr kumimoji="0" lang="en-US" altLang="en-US" sz="4000" b="0" i="0" u="none" strike="noStrike" cap="none" normalizeH="0" baseline="0" dirty="0">
                <a:ln>
                  <a:noFill/>
                </a:ln>
                <a:solidFill>
                  <a:srgbClr val="17A2B8"/>
                </a:solidFill>
                <a:effectLst/>
                <a:latin typeface="-apple-system"/>
              </a:rPr>
              <a:t> </a:t>
            </a:r>
            <a:r>
              <a:rPr kumimoji="0" lang="en-US" altLang="en-US" sz="4000" b="0" i="0" u="none" strike="noStrike" cap="none" normalizeH="0" baseline="0" dirty="0" err="1">
                <a:ln>
                  <a:noFill/>
                </a:ln>
                <a:solidFill>
                  <a:srgbClr val="17A2B8"/>
                </a:solidFill>
                <a:effectLst/>
                <a:latin typeface="-apple-system"/>
              </a:rPr>
              <a:t>phần</a:t>
            </a:r>
            <a:r>
              <a:rPr kumimoji="0" lang="en-US" altLang="en-US" sz="4000" b="0" i="0" u="none" strike="noStrike" cap="none" normalizeH="0" baseline="0" dirty="0">
                <a:ln>
                  <a:noFill/>
                </a:ln>
                <a:solidFill>
                  <a:srgbClr val="17A2B8"/>
                </a:solidFill>
                <a:effectLst/>
                <a:latin typeface="-apple-system"/>
              </a:rPr>
              <a:t> </a:t>
            </a:r>
            <a:r>
              <a:rPr kumimoji="0" lang="en-US" altLang="en-US" sz="4000" b="0" i="0" u="none" strike="noStrike" cap="none" normalizeH="0" baseline="0" dirty="0" err="1">
                <a:ln>
                  <a:noFill/>
                </a:ln>
                <a:solidFill>
                  <a:srgbClr val="17A2B8"/>
                </a:solidFill>
                <a:effectLst/>
                <a:latin typeface="-apple-system"/>
              </a:rPr>
              <a:t>với</a:t>
            </a:r>
            <a:r>
              <a:rPr kumimoji="0" lang="en-US" altLang="en-US" sz="4000" b="0" i="0" u="none" strike="noStrike" cap="none" normalizeH="0" baseline="0" dirty="0">
                <a:ln>
                  <a:noFill/>
                </a:ln>
                <a:solidFill>
                  <a:srgbClr val="17A2B8"/>
                </a:solidFill>
                <a:effectLst/>
                <a:latin typeface="-apple-system"/>
              </a:rPr>
              <a:t> </a:t>
            </a:r>
            <a:r>
              <a:rPr kumimoji="0" lang="en-US" altLang="en-US" sz="4000" b="0" i="0" u="none" strike="noStrike" cap="none" normalizeH="0" baseline="0" dirty="0" err="1">
                <a:ln>
                  <a:noFill/>
                </a:ln>
                <a:solidFill>
                  <a:srgbClr val="17A2B8"/>
                </a:solidFill>
                <a:effectLst/>
                <a:latin typeface="-apple-system"/>
              </a:rPr>
              <a:t>toán</a:t>
            </a:r>
            <a:r>
              <a:rPr kumimoji="0" lang="en-US" altLang="en-US" sz="4000" b="0" i="0" u="none" strike="noStrike" cap="none" normalizeH="0" baseline="0" dirty="0">
                <a:ln>
                  <a:noFill/>
                </a:ln>
                <a:solidFill>
                  <a:srgbClr val="17A2B8"/>
                </a:solidFill>
                <a:effectLst/>
                <a:latin typeface="-apple-system"/>
              </a:rPr>
              <a:t> </a:t>
            </a:r>
            <a:r>
              <a:rPr kumimoji="0" lang="en-US" altLang="en-US" sz="4000" b="0" i="0" u="none" strike="noStrike" cap="none" normalizeH="0" baseline="0" dirty="0" err="1">
                <a:ln>
                  <a:noFill/>
                </a:ln>
                <a:solidFill>
                  <a:srgbClr val="17A2B8"/>
                </a:solidFill>
                <a:effectLst/>
                <a:latin typeface="-apple-system"/>
              </a:rPr>
              <a:t>tử</a:t>
            </a:r>
            <a:r>
              <a:rPr kumimoji="0" lang="en-US" altLang="en-US" sz="4000" b="0" i="0" u="none" strike="noStrike" cap="none" normalizeH="0" baseline="0" dirty="0">
                <a:ln>
                  <a:noFill/>
                </a:ln>
                <a:solidFill>
                  <a:srgbClr val="17A2B8"/>
                </a:solidFill>
                <a:effectLst/>
                <a:latin typeface="-apple-system"/>
              </a:rPr>
              <a:t> </a:t>
            </a:r>
            <a:r>
              <a:rPr kumimoji="0" lang="en-US" altLang="en-US" sz="4400" b="0" i="0" u="none" strike="noStrike" cap="none" normalizeH="0" baseline="0" dirty="0">
                <a:ln>
                  <a:noFill/>
                </a:ln>
                <a:solidFill>
                  <a:srgbClr val="C22C72"/>
                </a:solidFill>
                <a:effectLst/>
                <a:latin typeface="SFMono-Regular"/>
              </a:rPr>
              <a:t>? :</a:t>
            </a:r>
            <a:endParaRPr kumimoji="0" lang="en-US" altLang="en-US" sz="4000" b="0" i="0" u="none" strike="noStrike" cap="none" normalizeH="0" baseline="0" dirty="0">
              <a:ln>
                <a:noFill/>
              </a:ln>
              <a:solidFill>
                <a:srgbClr val="17A2B8"/>
              </a:solidFill>
              <a:effectLst/>
              <a:latin typeface="-apple-system"/>
            </a:endParaRPr>
          </a:p>
        </p:txBody>
      </p:sp>
    </p:spTree>
    <p:extLst>
      <p:ext uri="{BB962C8B-B14F-4D97-AF65-F5344CB8AC3E}">
        <p14:creationId xmlns:p14="http://schemas.microsoft.com/office/powerpoint/2010/main" val="11942684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96D5C-BF94-0CA5-61E4-FD5FB305E102}"/>
              </a:ext>
            </a:extLst>
          </p:cNvPr>
          <p:cNvSpPr>
            <a:spLocks noGrp="1"/>
          </p:cNvSpPr>
          <p:nvPr>
            <p:ph type="title"/>
          </p:nvPr>
        </p:nvSpPr>
        <p:spPr>
          <a:xfrm>
            <a:off x="1097280" y="286603"/>
            <a:ext cx="10058400" cy="780197"/>
          </a:xfrm>
        </p:spPr>
        <p:txBody>
          <a:bodyPr>
            <a:normAutofit/>
          </a:bodyPr>
          <a:lstStyle/>
          <a:p>
            <a:pPr>
              <a:lnSpc>
                <a:spcPct val="100000"/>
              </a:lnSpc>
            </a:pP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Câu</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rẽ</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nhánh</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switch</a:t>
            </a:r>
            <a:endParaRPr lang="en-US" sz="7200" dirty="0"/>
          </a:p>
        </p:txBody>
      </p:sp>
      <p:sp>
        <p:nvSpPr>
          <p:cNvPr id="3" name="Content Placeholder 2">
            <a:extLst>
              <a:ext uri="{FF2B5EF4-FFF2-40B4-BE49-F238E27FC236}">
                <a16:creationId xmlns:a16="http://schemas.microsoft.com/office/drawing/2014/main" id="{07489717-643A-0408-0DAF-FC97B30A0E25}"/>
              </a:ext>
            </a:extLst>
          </p:cNvPr>
          <p:cNvSpPr>
            <a:spLocks noGrp="1"/>
          </p:cNvSpPr>
          <p:nvPr>
            <p:ph idx="1"/>
          </p:nvPr>
        </p:nvSpPr>
        <p:spPr>
          <a:xfrm>
            <a:off x="1097280" y="1513840"/>
            <a:ext cx="10058400" cy="4355254"/>
          </a:xfrm>
        </p:spPr>
        <p:txBody>
          <a:bodyPr>
            <a:normAutofit fontScale="92500" lnSpcReduction="10000"/>
          </a:bodyPr>
          <a:lstStyle/>
          <a:p>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Câu</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switch ... case</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áp</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dụng</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cho</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cấu</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trúc</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rẽ</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nhiều</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nhánh</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nó</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thay</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thế</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cho</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nhiều</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cầu</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20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else if</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b="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switch</a:t>
            </a:r>
            <a:r>
              <a:rPr lang="en-US" sz="200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(expr)</a:t>
            </a:r>
            <a:br>
              <a:rPr lang="en-US" sz="2000">
                <a:effectLst/>
                <a:latin typeface="Calibri" panose="020F0502020204030204" pitchFamily="34" charset="0"/>
                <a:ea typeface="Calibri" panose="020F0502020204030204" pitchFamily="34" charset="0"/>
                <a:cs typeface="Times New Roman" panose="02020603050405020304" pitchFamily="18" charset="0"/>
              </a:rPr>
            </a:br>
            <a:r>
              <a:rPr lang="en-US" sz="200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case</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expr1:</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Các</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lệnh</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thi</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hành</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nếu</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expr == expr1</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break</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case</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expr2:</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Các</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lệnh</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thi</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hành</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nếu</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expr == expr2</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break</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a:solidFill>
                  <a:srgbClr val="669955"/>
                </a:solidFill>
                <a:effectLst/>
                <a:latin typeface="Consolas" panose="020B0609020204030204" pitchFamily="49" charset="0"/>
                <a:ea typeface="Times New Roman" panose="02020603050405020304" pitchFamily="18" charset="0"/>
                <a:cs typeface="Courier New" panose="02070309020205020404" pitchFamily="49" charset="0"/>
              </a:rPr>
              <a:t>default</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break</a:t>
            </a: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br>
              <a:rPr lang="en-US" sz="2000" dirty="0">
                <a:effectLst/>
                <a:latin typeface="Calibri" panose="020F0502020204030204" pitchFamily="34" charset="0"/>
                <a:ea typeface="Calibri" panose="020F0502020204030204" pitchFamily="34" charset="0"/>
                <a:cs typeface="Times New Roman" panose="02020603050405020304" pitchFamily="18" charset="0"/>
              </a:rPr>
            </a:br>
            <a:r>
              <a:rPr lang="en-US" sz="20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dirty="0"/>
          </a:p>
        </p:txBody>
      </p:sp>
    </p:spTree>
    <p:extLst>
      <p:ext uri="{BB962C8B-B14F-4D97-AF65-F5344CB8AC3E}">
        <p14:creationId xmlns:p14="http://schemas.microsoft.com/office/powerpoint/2010/main" val="883030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96D5C-BF94-0CA5-61E4-FD5FB305E102}"/>
              </a:ext>
            </a:extLst>
          </p:cNvPr>
          <p:cNvSpPr>
            <a:spLocks noGrp="1"/>
          </p:cNvSpPr>
          <p:nvPr>
            <p:ph type="title"/>
          </p:nvPr>
        </p:nvSpPr>
        <p:spPr>
          <a:xfrm>
            <a:off x="1097280" y="286603"/>
            <a:ext cx="10058400" cy="780197"/>
          </a:xfrm>
        </p:spPr>
        <p:txBody>
          <a:bodyPr>
            <a:normAutofit/>
          </a:bodyPr>
          <a:lstStyle/>
          <a:p>
            <a:pPr>
              <a:lnSpc>
                <a:spcPct val="100000"/>
              </a:lnSpc>
            </a:pP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Ví</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dụ</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Câu</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rẽ</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nhánh</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switch</a:t>
            </a:r>
            <a:endParaRPr lang="en-US" sz="7200" dirty="0"/>
          </a:p>
        </p:txBody>
      </p:sp>
      <p:sp>
        <p:nvSpPr>
          <p:cNvPr id="3" name="Content Placeholder 2">
            <a:extLst>
              <a:ext uri="{FF2B5EF4-FFF2-40B4-BE49-F238E27FC236}">
                <a16:creationId xmlns:a16="http://schemas.microsoft.com/office/drawing/2014/main" id="{07489717-643A-0408-0DAF-FC97B30A0E25}"/>
              </a:ext>
            </a:extLst>
          </p:cNvPr>
          <p:cNvSpPr>
            <a:spLocks noGrp="1"/>
          </p:cNvSpPr>
          <p:nvPr>
            <p:ph idx="1"/>
          </p:nvPr>
        </p:nvSpPr>
        <p:spPr>
          <a:xfrm>
            <a:off x="1097280" y="1066800"/>
            <a:ext cx="10058400" cy="4802294"/>
          </a:xfrm>
        </p:spPr>
        <p:txBody>
          <a:bodyPr>
            <a:noAutofit/>
          </a:bodyPr>
          <a:lstStyle/>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number </a:t>
            </a:r>
            <a:r>
              <a:rPr lang="en-US" sz="180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a:t>
            </a:r>
            <a:r>
              <a:rPr lang="en-US" sz="180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switch</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(number)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case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"number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có</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giá</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trị</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một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break</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case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"number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có</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giá</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trị</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hai</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break</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669955"/>
                </a:solidFill>
                <a:effectLst/>
                <a:latin typeface="Consolas" panose="020B0609020204030204" pitchFamily="49" charset="0"/>
                <a:ea typeface="Times New Roman" panose="02020603050405020304" pitchFamily="18" charset="0"/>
                <a:cs typeface="Courier New" panose="02070309020205020404" pitchFamily="49" charset="0"/>
              </a:rPr>
              <a:t>default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"number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khác</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một</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và</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hai</a:t>
            </a:r>
            <a:r>
              <a:rPr lang="en-US" sz="1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break</a:t>
            </a: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//In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ra</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number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có</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giá</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trị</a:t>
            </a:r>
            <a:r>
              <a:rPr lang="en-US" sz="1800" dirty="0">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hai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55654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96D5C-BF94-0CA5-61E4-FD5FB305E102}"/>
              </a:ext>
            </a:extLst>
          </p:cNvPr>
          <p:cNvSpPr>
            <a:spLocks noGrp="1"/>
          </p:cNvSpPr>
          <p:nvPr>
            <p:ph type="title"/>
          </p:nvPr>
        </p:nvSpPr>
        <p:spPr>
          <a:xfrm>
            <a:off x="1097280" y="286603"/>
            <a:ext cx="10058400" cy="780197"/>
          </a:xfrm>
        </p:spPr>
        <p:txBody>
          <a:bodyPr>
            <a:normAutofit/>
          </a:bodyPr>
          <a:lstStyle/>
          <a:p>
            <a:pPr>
              <a:lnSpc>
                <a:spcPct val="100000"/>
              </a:lnSpc>
            </a:pP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Ví</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dụ</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Câu</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rẽ</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err="1">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nhánh</a:t>
            </a:r>
            <a:r>
              <a:rPr lang="en-US" sz="3200" dirty="0">
                <a:solidFill>
                  <a:srgbClr val="17A2B8"/>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3200" dirty="0">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switch</a:t>
            </a:r>
            <a:endParaRPr lang="en-US" sz="7200" dirty="0"/>
          </a:p>
        </p:txBody>
      </p:sp>
      <p:sp>
        <p:nvSpPr>
          <p:cNvPr id="3" name="Content Placeholder 2">
            <a:extLst>
              <a:ext uri="{FF2B5EF4-FFF2-40B4-BE49-F238E27FC236}">
                <a16:creationId xmlns:a16="http://schemas.microsoft.com/office/drawing/2014/main" id="{07489717-643A-0408-0DAF-FC97B30A0E25}"/>
              </a:ext>
            </a:extLst>
          </p:cNvPr>
          <p:cNvSpPr>
            <a:spLocks noGrp="1"/>
          </p:cNvSpPr>
          <p:nvPr>
            <p:ph idx="1"/>
          </p:nvPr>
        </p:nvSpPr>
        <p:spPr>
          <a:xfrm>
            <a:off x="1097280" y="1513840"/>
            <a:ext cx="10058400" cy="4355254"/>
          </a:xfrm>
        </p:spPr>
        <p:txBody>
          <a:bodyPr>
            <a:normAutofit fontScale="92500" lnSpcReduction="20000"/>
          </a:bodyPr>
          <a:lstStyle/>
          <a:p>
            <a:pPr>
              <a:lnSpc>
                <a:spcPct val="120000"/>
              </a:lnSpc>
              <a:spcBef>
                <a:spcPts val="0"/>
              </a:spcBef>
              <a:spcAft>
                <a:spcPts val="0"/>
              </a:spcAft>
            </a:pPr>
            <a:r>
              <a:rPr lang="en-US" sz="2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2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trên</a:t>
            </a:r>
            <a:r>
              <a:rPr lang="en-US" sz="2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nếu</a:t>
            </a:r>
            <a:r>
              <a:rPr lang="en-US" sz="2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sử</a:t>
            </a:r>
            <a:r>
              <a:rPr lang="en-US" sz="2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dụng</a:t>
            </a:r>
            <a:r>
              <a:rPr lang="en-US" sz="2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else if </a:t>
            </a:r>
            <a:r>
              <a:rPr lang="en-US" sz="2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thì</a:t>
            </a:r>
            <a:r>
              <a:rPr lang="en-US" sz="2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có</a:t>
            </a:r>
            <a:r>
              <a:rPr lang="en-US" sz="2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dạng</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number = </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(number == </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"number </a:t>
            </a:r>
            <a:r>
              <a:rPr lang="en-US" sz="2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có</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giá</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trị</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một</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else</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800" b="1"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(number == </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800" dirty="0" err="1">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"number </a:t>
            </a:r>
            <a:r>
              <a:rPr lang="en-US" sz="2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có</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giá</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trị</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800" dirty="0" err="1">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hai</a:t>
            </a:r>
            <a:r>
              <a:rPr lang="en-US" sz="2800" dirty="0">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426329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2268-9EFA-6AE1-6356-3429721AC490}"/>
              </a:ext>
            </a:extLst>
          </p:cNvPr>
          <p:cNvSpPr>
            <a:spLocks noGrp="1"/>
          </p:cNvSpPr>
          <p:nvPr>
            <p:ph type="title"/>
          </p:nvPr>
        </p:nvSpPr>
        <p:spPr/>
        <p:txBody>
          <a:bodyPr>
            <a:normAutofit/>
          </a:bodyPr>
          <a:lstStyle/>
          <a:p>
            <a:r>
              <a:rPr lang="en-US" b="1" dirty="0"/>
              <a:t>2.5	</a:t>
            </a:r>
            <a:r>
              <a:rPr lang="en-US" b="1" dirty="0" err="1"/>
              <a:t>Vòng</a:t>
            </a:r>
            <a:r>
              <a:rPr lang="en-US" b="1" dirty="0"/>
              <a:t> </a:t>
            </a:r>
            <a:r>
              <a:rPr lang="en-US" b="1" dirty="0" err="1"/>
              <a:t>lặp</a:t>
            </a:r>
            <a:r>
              <a:rPr lang="en-US" b="1" dirty="0"/>
              <a:t> </a:t>
            </a:r>
            <a:r>
              <a:rPr lang="en-US" b="1" dirty="0" err="1"/>
              <a:t>trong</a:t>
            </a:r>
            <a:r>
              <a:rPr lang="en-US" b="1" dirty="0"/>
              <a:t> </a:t>
            </a:r>
            <a:r>
              <a:rPr lang="en-US" b="1" dirty="0" err="1"/>
              <a:t>trong</a:t>
            </a:r>
            <a:r>
              <a:rPr lang="en-US" b="1" dirty="0"/>
              <a:t> C# </a:t>
            </a:r>
            <a:r>
              <a:rPr lang="en-US" b="1" dirty="0" err="1"/>
              <a:t>và</a:t>
            </a:r>
            <a:r>
              <a:rPr lang="en-US" b="1" dirty="0"/>
              <a:t> </a:t>
            </a:r>
            <a:r>
              <a:rPr lang="en-US" b="1" dirty="0" err="1"/>
              <a:t>câu</a:t>
            </a:r>
            <a:r>
              <a:rPr lang="en-US" b="1" dirty="0"/>
              <a:t> </a:t>
            </a:r>
            <a:r>
              <a:rPr lang="en-US" b="1" dirty="0" err="1"/>
              <a:t>lệnh</a:t>
            </a:r>
            <a:r>
              <a:rPr lang="en-US" b="1" dirty="0"/>
              <a:t> break continue </a:t>
            </a:r>
            <a:r>
              <a:rPr lang="en-US" b="1" dirty="0" err="1"/>
              <a:t>goto</a:t>
            </a:r>
            <a:r>
              <a:rPr lang="en-US" b="1" dirty="0"/>
              <a:t> </a:t>
            </a:r>
            <a:endParaRPr lang="en-US" dirty="0"/>
          </a:p>
        </p:txBody>
      </p:sp>
      <p:sp>
        <p:nvSpPr>
          <p:cNvPr id="3" name="Text Placeholder 2">
            <a:extLst>
              <a:ext uri="{FF2B5EF4-FFF2-40B4-BE49-F238E27FC236}">
                <a16:creationId xmlns:a16="http://schemas.microsoft.com/office/drawing/2014/main" id="{6C788654-C027-C187-03B2-21FBFAAA333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795528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1C0A-16CB-0ED9-521F-6459F9CEA961}"/>
              </a:ext>
            </a:extLst>
          </p:cNvPr>
          <p:cNvSpPr>
            <a:spLocks noGrp="1"/>
          </p:cNvSpPr>
          <p:nvPr>
            <p:ph type="title"/>
          </p:nvPr>
        </p:nvSpPr>
        <p:spPr/>
        <p:txBody>
          <a:bodyPr/>
          <a:lstStyle/>
          <a:p>
            <a:r>
              <a:rPr lang="en-US" b="0" i="0" dirty="0" err="1">
                <a:solidFill>
                  <a:srgbClr val="17A2B8"/>
                </a:solidFill>
                <a:effectLst/>
                <a:latin typeface="-apple-system"/>
              </a:rPr>
              <a:t>Vòng</a:t>
            </a:r>
            <a:r>
              <a:rPr lang="en-US" b="0" i="0" dirty="0">
                <a:solidFill>
                  <a:srgbClr val="17A2B8"/>
                </a:solidFill>
                <a:effectLst/>
                <a:latin typeface="-apple-system"/>
              </a:rPr>
              <a:t> </a:t>
            </a:r>
            <a:r>
              <a:rPr lang="en-US" b="0" i="0" dirty="0" err="1">
                <a:solidFill>
                  <a:srgbClr val="17A2B8"/>
                </a:solidFill>
                <a:effectLst/>
                <a:latin typeface="-apple-system"/>
              </a:rPr>
              <a:t>lặp</a:t>
            </a:r>
            <a:r>
              <a:rPr lang="en-US" b="0" i="0" dirty="0">
                <a:solidFill>
                  <a:srgbClr val="17A2B8"/>
                </a:solidFill>
                <a:effectLst/>
                <a:latin typeface="-apple-system"/>
              </a:rPr>
              <a:t> for </a:t>
            </a:r>
            <a:r>
              <a:rPr lang="en-US" b="0" i="0" dirty="0" err="1">
                <a:solidFill>
                  <a:srgbClr val="17A2B8"/>
                </a:solidFill>
                <a:effectLst/>
                <a:latin typeface="-apple-system"/>
              </a:rPr>
              <a:t>c#</a:t>
            </a:r>
            <a:endParaRPr lang="en-US" dirty="0"/>
          </a:p>
        </p:txBody>
      </p:sp>
      <p:sp>
        <p:nvSpPr>
          <p:cNvPr id="3" name="Content Placeholder 2">
            <a:extLst>
              <a:ext uri="{FF2B5EF4-FFF2-40B4-BE49-F238E27FC236}">
                <a16:creationId xmlns:a16="http://schemas.microsoft.com/office/drawing/2014/main" id="{34A0425E-7D16-62B2-5C85-FB6C45ED1326}"/>
              </a:ext>
            </a:extLst>
          </p:cNvPr>
          <p:cNvSpPr>
            <a:spLocks noGrp="1"/>
          </p:cNvSpPr>
          <p:nvPr>
            <p:ph idx="1"/>
          </p:nvPr>
        </p:nvSpPr>
        <p:spPr/>
        <p:txBody>
          <a:bodyPr>
            <a:normAutofit lnSpcReduction="10000"/>
          </a:bodyPr>
          <a:lstStyle/>
          <a:p>
            <a:r>
              <a:rPr lang="en-US" dirty="0"/>
              <a:t>for ( </a:t>
            </a:r>
            <a:r>
              <a:rPr lang="en-US" dirty="0" err="1"/>
              <a:t>khởi_tạo</a:t>
            </a:r>
            <a:r>
              <a:rPr lang="en-US" dirty="0"/>
              <a:t>; </a:t>
            </a:r>
            <a:r>
              <a:rPr lang="en-US" dirty="0" err="1"/>
              <a:t>điều_kiện</a:t>
            </a:r>
            <a:r>
              <a:rPr lang="en-US" dirty="0"/>
              <a:t>; </a:t>
            </a:r>
            <a:r>
              <a:rPr lang="en-US" dirty="0" err="1"/>
              <a:t>cập_nhật</a:t>
            </a:r>
            <a:r>
              <a:rPr lang="en-US" dirty="0"/>
              <a:t> )</a:t>
            </a:r>
          </a:p>
          <a:p>
            <a:r>
              <a:rPr lang="en-US" dirty="0"/>
              <a:t>{</a:t>
            </a:r>
          </a:p>
          <a:p>
            <a:r>
              <a:rPr lang="en-US" dirty="0"/>
              <a:t>  //</a:t>
            </a:r>
            <a:r>
              <a:rPr lang="en-US" dirty="0" err="1"/>
              <a:t>Các</a:t>
            </a:r>
            <a:r>
              <a:rPr lang="en-US" dirty="0"/>
              <a:t> </a:t>
            </a:r>
            <a:r>
              <a:rPr lang="en-US" dirty="0" err="1"/>
              <a:t>câu</a:t>
            </a:r>
            <a:r>
              <a:rPr lang="en-US" dirty="0"/>
              <a:t> </a:t>
            </a:r>
            <a:r>
              <a:rPr lang="en-US" dirty="0" err="1"/>
              <a:t>lệnh</a:t>
            </a:r>
            <a:r>
              <a:rPr lang="en-US" dirty="0"/>
              <a:t> </a:t>
            </a:r>
            <a:r>
              <a:rPr lang="en-US" dirty="0" err="1"/>
              <a:t>trong</a:t>
            </a:r>
            <a:r>
              <a:rPr lang="en-US" dirty="0"/>
              <a:t> </a:t>
            </a:r>
            <a:r>
              <a:rPr lang="en-US" dirty="0" err="1"/>
              <a:t>khối</a:t>
            </a:r>
            <a:endParaRPr lang="en-US" dirty="0"/>
          </a:p>
          <a:p>
            <a:r>
              <a:rPr lang="en-US" dirty="0"/>
              <a:t>}</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20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Câu</a:t>
            </a:r>
            <a:r>
              <a:rPr kumimoji="0" lang="en-US" altLang="en-US" sz="20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0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20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0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này</a:t>
            </a:r>
            <a:r>
              <a:rPr kumimoji="0" lang="en-US" altLang="en-US" sz="20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0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sẽ</a:t>
            </a:r>
            <a:r>
              <a:rPr kumimoji="0" lang="en-US" altLang="en-US" sz="20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0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hoạt</a:t>
            </a:r>
            <a:r>
              <a:rPr kumimoji="0" lang="en-US" altLang="en-US" sz="20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0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động</a:t>
            </a:r>
            <a:r>
              <a:rPr kumimoji="0" lang="en-US" altLang="en-US" sz="20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0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như</a:t>
            </a:r>
            <a:r>
              <a:rPr kumimoji="0" lang="en-US" altLang="en-US" sz="20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0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sau</a:t>
            </a:r>
            <a:r>
              <a:rPr kumimoji="0" lang="en-US" altLang="en-US" sz="20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a:t>
            </a:r>
            <a:endParaRPr kumimoji="0" lang="en-US" altLang="en-US" sz="20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2200" b="1"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1</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Đầu</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tiên</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nó</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thi</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hành</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câu</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tại</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khởi_tạo</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thường</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chỗ</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này</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ta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khởi</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tạo</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bộ</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đếm</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vòng</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như</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int </a:t>
            </a:r>
            <a:r>
              <a:rPr kumimoji="0" lang="en-US" altLang="en-US" sz="22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2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 = 1;</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j = 10;</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2200" b="1"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2</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Kiểm</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tra</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biểu</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thức</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logic </a:t>
            </a:r>
            <a:r>
              <a:rPr kumimoji="0" lang="en-US" altLang="en-US" sz="22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nếu</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true</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thì</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bắt</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đầu</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thi</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hành</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khối</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sau</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đó</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sang </a:t>
            </a:r>
            <a:r>
              <a:rPr kumimoji="0" lang="en-US" altLang="en-US" sz="2200" b="1"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3</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nếu</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false</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thì</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thoát</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lặp</a:t>
            </a:r>
            <a:endParaRPr kumimoji="0" lang="en-US" altLang="en-US" sz="2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2200" b="1"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3</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Thi</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hành</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biểu</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thức</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cập_nhật</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chỗ</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này</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ta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thường</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dùng</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để</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tăng</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giảm</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bộ</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đếm</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như</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2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thi</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hành</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xong</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thì</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quay </a:t>
            </a:r>
            <a:r>
              <a:rPr kumimoji="0" lang="en-US" altLang="en-US" sz="2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lại</a:t>
            </a:r>
            <a:r>
              <a:rPr kumimoji="0" lang="en-US" altLang="en-US" sz="2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200" b="1"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2</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endParaRPr lang="en-US" dirty="0"/>
          </a:p>
          <a:p>
            <a:pPr marL="0" indent="0">
              <a:buNone/>
            </a:pPr>
            <a:endParaRPr lang="en-US" dirty="0"/>
          </a:p>
        </p:txBody>
      </p:sp>
    </p:spTree>
    <p:extLst>
      <p:ext uri="{BB962C8B-B14F-4D97-AF65-F5344CB8AC3E}">
        <p14:creationId xmlns:p14="http://schemas.microsoft.com/office/powerpoint/2010/main" val="152450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1C0A-16CB-0ED9-521F-6459F9CEA961}"/>
              </a:ext>
            </a:extLst>
          </p:cNvPr>
          <p:cNvSpPr>
            <a:spLocks noGrp="1"/>
          </p:cNvSpPr>
          <p:nvPr>
            <p:ph type="title"/>
          </p:nvPr>
        </p:nvSpPr>
        <p:spPr>
          <a:xfrm>
            <a:off x="1066800" y="142240"/>
            <a:ext cx="10058400" cy="1148080"/>
          </a:xfrm>
        </p:spPr>
        <p:txBody>
          <a:bodyPr/>
          <a:lstStyle/>
          <a:p>
            <a:r>
              <a:rPr lang="en-US" b="0" i="0" dirty="0" err="1">
                <a:solidFill>
                  <a:srgbClr val="17A2B8"/>
                </a:solidFill>
                <a:effectLst/>
                <a:latin typeface="-apple-system"/>
              </a:rPr>
              <a:t>Ví</a:t>
            </a:r>
            <a:r>
              <a:rPr lang="en-US" b="0" i="0" dirty="0">
                <a:solidFill>
                  <a:srgbClr val="17A2B8"/>
                </a:solidFill>
                <a:effectLst/>
                <a:latin typeface="-apple-system"/>
              </a:rPr>
              <a:t> </a:t>
            </a:r>
            <a:r>
              <a:rPr lang="en-US" b="0" i="0" dirty="0" err="1">
                <a:solidFill>
                  <a:srgbClr val="17A2B8"/>
                </a:solidFill>
                <a:effectLst/>
                <a:latin typeface="-apple-system"/>
              </a:rPr>
              <a:t>dụ</a:t>
            </a:r>
            <a:r>
              <a:rPr lang="en-US" b="0" i="0" dirty="0">
                <a:solidFill>
                  <a:srgbClr val="17A2B8"/>
                </a:solidFill>
                <a:effectLst/>
                <a:latin typeface="-apple-system"/>
              </a:rPr>
              <a:t> </a:t>
            </a:r>
            <a:r>
              <a:rPr lang="en-US" b="0" i="0" dirty="0" err="1">
                <a:solidFill>
                  <a:srgbClr val="17A2B8"/>
                </a:solidFill>
                <a:effectLst/>
                <a:latin typeface="-apple-system"/>
              </a:rPr>
              <a:t>Vòng</a:t>
            </a:r>
            <a:r>
              <a:rPr lang="en-US" b="0" i="0" dirty="0">
                <a:solidFill>
                  <a:srgbClr val="17A2B8"/>
                </a:solidFill>
                <a:effectLst/>
                <a:latin typeface="-apple-system"/>
              </a:rPr>
              <a:t> </a:t>
            </a:r>
            <a:r>
              <a:rPr lang="en-US" b="0" i="0" dirty="0" err="1">
                <a:solidFill>
                  <a:srgbClr val="17A2B8"/>
                </a:solidFill>
                <a:effectLst/>
                <a:latin typeface="-apple-system"/>
              </a:rPr>
              <a:t>lặp</a:t>
            </a:r>
            <a:r>
              <a:rPr lang="en-US" b="0" i="0" dirty="0">
                <a:solidFill>
                  <a:srgbClr val="17A2B8"/>
                </a:solidFill>
                <a:effectLst/>
                <a:latin typeface="-apple-system"/>
              </a:rPr>
              <a:t> for </a:t>
            </a:r>
            <a:r>
              <a:rPr lang="en-US" b="0" i="0" dirty="0" err="1">
                <a:solidFill>
                  <a:srgbClr val="17A2B8"/>
                </a:solidFill>
                <a:effectLst/>
                <a:latin typeface="-apple-system"/>
              </a:rPr>
              <a:t>c#</a:t>
            </a:r>
            <a:endParaRPr lang="en-US" dirty="0"/>
          </a:p>
        </p:txBody>
      </p:sp>
      <p:sp>
        <p:nvSpPr>
          <p:cNvPr id="3" name="Content Placeholder 2">
            <a:extLst>
              <a:ext uri="{FF2B5EF4-FFF2-40B4-BE49-F238E27FC236}">
                <a16:creationId xmlns:a16="http://schemas.microsoft.com/office/drawing/2014/main" id="{34A0425E-7D16-62B2-5C85-FB6C45ED1326}"/>
              </a:ext>
            </a:extLst>
          </p:cNvPr>
          <p:cNvSpPr>
            <a:spLocks noGrp="1"/>
          </p:cNvSpPr>
          <p:nvPr>
            <p:ph idx="1"/>
          </p:nvPr>
        </p:nvSpPr>
        <p:spPr>
          <a:xfrm>
            <a:off x="1097280" y="1463040"/>
            <a:ext cx="10058400" cy="4406054"/>
          </a:xfrm>
        </p:spPr>
        <p:txBody>
          <a:bodyPr>
            <a:normAutofit/>
          </a:bodyPr>
          <a:lstStyle/>
          <a:p>
            <a:pPr marL="0" indent="0">
              <a:buNone/>
            </a:pPr>
            <a:r>
              <a:rPr kumimoji="0" lang="en-US" altLang="en-US" sz="28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for</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8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8</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 &lt;=</a:t>
            </a:r>
            <a:r>
              <a:rPr kumimoji="0" lang="en-US" altLang="en-US" sz="28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   </a:t>
            </a:r>
          </a:p>
          <a:p>
            <a:pPr marL="0" indent="0">
              <a:buNone/>
            </a:pP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8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8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8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8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8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pPr marL="0" indent="0">
              <a:buNone/>
            </a:pP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pPr marL="0" indent="0">
              <a:buNone/>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8</a:t>
            </a:r>
          </a:p>
          <a:p>
            <a:pPr marL="0" indent="0">
              <a:buNone/>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9</a:t>
            </a:r>
          </a:p>
          <a:p>
            <a:pPr marL="0" indent="0">
              <a:buNone/>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10</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indent="0">
              <a:buNone/>
            </a:pP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Trong</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câu</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for</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bạn</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có</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thể</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không</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có</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khởi_tạo</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cập_nhật</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nhưng</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dấu</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ngăn</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cách</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chúng</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vẫn</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phải</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có</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và</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quy</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trình</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các</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bước</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của</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for ở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trên</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sẽ</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bỏ</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qua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bước</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đó</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mà</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thực</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hiện</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bước</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tiếp</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theo</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luôn</a:t>
            </a:r>
            <a:r>
              <a:rPr kumimoji="0" lang="en-US" altLang="en-US"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20210908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1C0A-16CB-0ED9-521F-6459F9CEA961}"/>
              </a:ext>
            </a:extLst>
          </p:cNvPr>
          <p:cNvSpPr>
            <a:spLocks noGrp="1"/>
          </p:cNvSpPr>
          <p:nvPr>
            <p:ph type="title"/>
          </p:nvPr>
        </p:nvSpPr>
        <p:spPr/>
        <p:txBody>
          <a:bodyPr/>
          <a:lstStyle/>
          <a:p>
            <a:r>
              <a:rPr lang="en-US" b="0" i="0" dirty="0" err="1">
                <a:solidFill>
                  <a:srgbClr val="17A2B8"/>
                </a:solidFill>
                <a:effectLst/>
                <a:latin typeface="-apple-system"/>
              </a:rPr>
              <a:t>Ví</a:t>
            </a:r>
            <a:r>
              <a:rPr lang="en-US" b="0" i="0" dirty="0">
                <a:solidFill>
                  <a:srgbClr val="17A2B8"/>
                </a:solidFill>
                <a:effectLst/>
                <a:latin typeface="-apple-system"/>
              </a:rPr>
              <a:t> </a:t>
            </a:r>
            <a:r>
              <a:rPr lang="en-US" b="0" i="0" dirty="0" err="1">
                <a:solidFill>
                  <a:srgbClr val="17A2B8"/>
                </a:solidFill>
                <a:effectLst/>
                <a:latin typeface="-apple-system"/>
              </a:rPr>
              <a:t>dụ</a:t>
            </a:r>
            <a:r>
              <a:rPr lang="en-US" b="0" i="0" dirty="0">
                <a:solidFill>
                  <a:srgbClr val="17A2B8"/>
                </a:solidFill>
                <a:effectLst/>
                <a:latin typeface="-apple-system"/>
              </a:rPr>
              <a:t> </a:t>
            </a:r>
            <a:r>
              <a:rPr lang="en-US" b="0" i="0" dirty="0" err="1">
                <a:solidFill>
                  <a:srgbClr val="17A2B8"/>
                </a:solidFill>
                <a:effectLst/>
                <a:latin typeface="-apple-system"/>
              </a:rPr>
              <a:t>Vòng</a:t>
            </a:r>
            <a:r>
              <a:rPr lang="en-US" b="0" i="0" dirty="0">
                <a:solidFill>
                  <a:srgbClr val="17A2B8"/>
                </a:solidFill>
                <a:effectLst/>
                <a:latin typeface="-apple-system"/>
              </a:rPr>
              <a:t> </a:t>
            </a:r>
            <a:r>
              <a:rPr lang="en-US" b="0" i="0" dirty="0" err="1">
                <a:solidFill>
                  <a:srgbClr val="17A2B8"/>
                </a:solidFill>
                <a:effectLst/>
                <a:latin typeface="-apple-system"/>
              </a:rPr>
              <a:t>lặp</a:t>
            </a:r>
            <a:r>
              <a:rPr lang="en-US" b="0" i="0" dirty="0">
                <a:solidFill>
                  <a:srgbClr val="17A2B8"/>
                </a:solidFill>
                <a:effectLst/>
                <a:latin typeface="-apple-system"/>
              </a:rPr>
              <a:t> for </a:t>
            </a:r>
            <a:r>
              <a:rPr lang="en-US" b="0" i="0" dirty="0" err="1">
                <a:solidFill>
                  <a:srgbClr val="17A2B8"/>
                </a:solidFill>
                <a:effectLst/>
                <a:latin typeface="-apple-system"/>
              </a:rPr>
              <a:t>c#</a:t>
            </a:r>
            <a:endParaRPr lang="en-US" dirty="0"/>
          </a:p>
        </p:txBody>
      </p:sp>
      <p:sp>
        <p:nvSpPr>
          <p:cNvPr id="3" name="Content Placeholder 2">
            <a:extLst>
              <a:ext uri="{FF2B5EF4-FFF2-40B4-BE49-F238E27FC236}">
                <a16:creationId xmlns:a16="http://schemas.microsoft.com/office/drawing/2014/main" id="{34A0425E-7D16-62B2-5C85-FB6C45ED1326}"/>
              </a:ext>
            </a:extLst>
          </p:cNvPr>
          <p:cNvSpPr>
            <a:spLocks noGrp="1"/>
          </p:cNvSpPr>
          <p:nvPr>
            <p:ph idx="1"/>
          </p:nvPr>
        </p:nvSpPr>
        <p:spPr/>
        <p:txBody>
          <a:bodyPr>
            <a:normAutofit fontScale="70000" lnSpcReduction="20000"/>
          </a:bodyPr>
          <a:lstStyle/>
          <a:p>
            <a:pPr marL="0" indent="0">
              <a:lnSpc>
                <a:spcPct val="120000"/>
              </a:lnSpc>
              <a:spcBef>
                <a:spcPts val="600"/>
              </a:spcBef>
              <a:spcAft>
                <a:spcPts val="0"/>
              </a:spcAft>
              <a:buNone/>
            </a:pP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Ví</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dụ</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thiếu</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khởi_tạo</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và</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cập_nhật</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sẽ</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bỏ</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qua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bước</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1"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1</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và</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1"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3</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ví</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dụ</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In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ra</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các</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số</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chẵn</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từ</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10 </a:t>
            </a:r>
            <a:r>
              <a:rPr kumimoji="0" lang="en-US" altLang="en-US" sz="29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đến</a:t>
            </a:r>
            <a:r>
              <a:rPr kumimoji="0" lang="en-US" altLang="en-US" sz="29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20</a:t>
            </a:r>
            <a:endParaRPr kumimoji="0" lang="en-US" altLang="en-US" sz="2900" b="0" i="0" u="none" strike="noStrike" cap="none" normalizeH="0" baseline="0" dirty="0">
              <a:ln>
                <a:noFill/>
              </a:ln>
              <a:solidFill>
                <a:schemeClr val="tx1"/>
              </a:solidFill>
              <a:effectLst/>
              <a:latin typeface="Arial" panose="020B0604020202020204" pitchFamily="34" charset="0"/>
            </a:endParaRPr>
          </a:p>
          <a:p>
            <a:pPr marL="0" indent="0">
              <a:lnSpc>
                <a:spcPct val="120000"/>
              </a:lnSpc>
              <a:spcBef>
                <a:spcPts val="600"/>
              </a:spcBef>
              <a:spcAft>
                <a:spcPts val="0"/>
              </a:spcAft>
              <a:buNone/>
            </a:pPr>
            <a:r>
              <a:rPr kumimoji="0" lang="en-US" altLang="en-US" sz="29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9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j = </a:t>
            </a:r>
            <a:r>
              <a:rPr kumimoji="0" lang="en-US" altLang="en-US" sz="29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kumimoji="0" lang="en-US" altLang="en-US" sz="29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9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for</a:t>
            </a:r>
            <a:r>
              <a:rPr kumimoji="0" lang="en-US" altLang="en-US" sz="29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(;j &lt;=</a:t>
            </a:r>
            <a:r>
              <a:rPr kumimoji="0" lang="en-US" altLang="en-US" sz="29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20</a:t>
            </a:r>
            <a:r>
              <a:rPr kumimoji="0" lang="en-US" altLang="en-US" sz="29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p>
          <a:p>
            <a:pPr marL="292608" lvl="1" indent="0">
              <a:lnSpc>
                <a:spcPct val="120000"/>
              </a:lnSpc>
              <a:spcBef>
                <a:spcPts val="600"/>
              </a:spcBef>
              <a:spcAft>
                <a:spcPts val="0"/>
              </a:spcAft>
              <a:buNone/>
            </a:pPr>
            <a:r>
              <a:rPr kumimoji="0" lang="en-US" altLang="en-US" sz="27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kumimoji="0" lang="en-US" altLang="en-US" sz="27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7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7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7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j = "</a:t>
            </a:r>
            <a:r>
              <a:rPr kumimoji="0" lang="en-US" altLang="en-US" sz="27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j);    </a:t>
            </a:r>
          </a:p>
          <a:p>
            <a:pPr marL="292608" lvl="1" indent="0">
              <a:lnSpc>
                <a:spcPct val="120000"/>
              </a:lnSpc>
              <a:spcBef>
                <a:spcPts val="600"/>
              </a:spcBef>
              <a:spcAft>
                <a:spcPts val="0"/>
              </a:spcAft>
              <a:buNone/>
            </a:pPr>
            <a:r>
              <a:rPr kumimoji="0" lang="en-US" altLang="en-US" sz="27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j += </a:t>
            </a:r>
            <a:r>
              <a:rPr kumimoji="0" lang="en-US" altLang="en-US" sz="27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kumimoji="0" lang="en-US" altLang="en-US" sz="27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pPr marL="0" indent="0">
              <a:lnSpc>
                <a:spcPct val="120000"/>
              </a:lnSpc>
              <a:spcBef>
                <a:spcPts val="600"/>
              </a:spcBef>
              <a:spcAft>
                <a:spcPts val="0"/>
              </a:spcAft>
              <a:buNone/>
            </a:pPr>
            <a:r>
              <a:rPr kumimoji="0" lang="en-US" altLang="en-US" sz="29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p>
          <a:p>
            <a:pPr marL="0" indent="0">
              <a:lnSpc>
                <a:spcPct val="120000"/>
              </a:lnSpc>
              <a:spcBef>
                <a:spcPts val="600"/>
              </a:spcBef>
              <a:spcAft>
                <a:spcPts val="0"/>
              </a:spcAft>
              <a:buNone/>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j = 10</a:t>
            </a:r>
          </a:p>
          <a:p>
            <a:pPr marL="0" indent="0">
              <a:lnSpc>
                <a:spcPct val="120000"/>
              </a:lnSpc>
              <a:spcBef>
                <a:spcPts val="600"/>
              </a:spcBef>
              <a:spcAft>
                <a:spcPts val="0"/>
              </a:spcAft>
              <a:buNone/>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j = 12</a:t>
            </a:r>
          </a:p>
          <a:p>
            <a:pPr marL="0" indent="0">
              <a:lnSpc>
                <a:spcPct val="120000"/>
              </a:lnSpc>
              <a:spcBef>
                <a:spcPts val="600"/>
              </a:spcBef>
              <a:spcAft>
                <a:spcPts val="0"/>
              </a:spcAft>
              <a:buNone/>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j = 14</a:t>
            </a:r>
          </a:p>
          <a:p>
            <a:pPr marL="0" indent="0">
              <a:lnSpc>
                <a:spcPct val="120000"/>
              </a:lnSpc>
              <a:spcBef>
                <a:spcPts val="600"/>
              </a:spcBef>
              <a:spcAft>
                <a:spcPts val="0"/>
              </a:spcAft>
              <a:buNone/>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j = 16</a:t>
            </a:r>
          </a:p>
          <a:p>
            <a:pPr marL="0" indent="0">
              <a:lnSpc>
                <a:spcPct val="120000"/>
              </a:lnSpc>
              <a:spcBef>
                <a:spcPts val="600"/>
              </a:spcBef>
              <a:spcAft>
                <a:spcPts val="0"/>
              </a:spcAft>
              <a:buNone/>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j = 18</a:t>
            </a:r>
          </a:p>
          <a:p>
            <a:pPr marL="0" indent="0">
              <a:lnSpc>
                <a:spcPct val="120000"/>
              </a:lnSpc>
              <a:spcBef>
                <a:spcPts val="600"/>
              </a:spcBef>
              <a:spcAft>
                <a:spcPts val="0"/>
              </a:spcAft>
              <a:buNone/>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j = 20</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indent="0">
              <a:lnSpc>
                <a:spcPct val="120000"/>
              </a:lnSpc>
              <a:spcBef>
                <a:spcPts val="600"/>
              </a:spcBef>
              <a:spcAft>
                <a:spcPts val="0"/>
              </a:spcAft>
              <a:buNone/>
            </a:pPr>
            <a:endParaRPr lang="en-US" dirty="0"/>
          </a:p>
        </p:txBody>
      </p:sp>
    </p:spTree>
    <p:extLst>
      <p:ext uri="{BB962C8B-B14F-4D97-AF65-F5344CB8AC3E}">
        <p14:creationId xmlns:p14="http://schemas.microsoft.com/office/powerpoint/2010/main" val="1807564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1C0A-16CB-0ED9-521F-6459F9CEA961}"/>
              </a:ext>
            </a:extLst>
          </p:cNvPr>
          <p:cNvSpPr>
            <a:spLocks noGrp="1"/>
          </p:cNvSpPr>
          <p:nvPr>
            <p:ph type="title"/>
          </p:nvPr>
        </p:nvSpPr>
        <p:spPr/>
        <p:txBody>
          <a:bodyPr/>
          <a:lstStyle/>
          <a:p>
            <a:r>
              <a:rPr lang="en-US" b="0" i="0" dirty="0" err="1">
                <a:solidFill>
                  <a:srgbClr val="17A2B8"/>
                </a:solidFill>
                <a:effectLst/>
                <a:latin typeface="-apple-system"/>
              </a:rPr>
              <a:t>Ví</a:t>
            </a:r>
            <a:r>
              <a:rPr lang="en-US" b="0" i="0" dirty="0">
                <a:solidFill>
                  <a:srgbClr val="17A2B8"/>
                </a:solidFill>
                <a:effectLst/>
                <a:latin typeface="-apple-system"/>
              </a:rPr>
              <a:t> </a:t>
            </a:r>
            <a:r>
              <a:rPr lang="en-US" b="0" i="0" dirty="0" err="1">
                <a:solidFill>
                  <a:srgbClr val="17A2B8"/>
                </a:solidFill>
                <a:effectLst/>
                <a:latin typeface="-apple-system"/>
              </a:rPr>
              <a:t>dụ</a:t>
            </a:r>
            <a:r>
              <a:rPr lang="en-US" b="0" i="0" dirty="0">
                <a:solidFill>
                  <a:srgbClr val="17A2B8"/>
                </a:solidFill>
                <a:effectLst/>
                <a:latin typeface="-apple-system"/>
              </a:rPr>
              <a:t> </a:t>
            </a:r>
            <a:r>
              <a:rPr lang="en-US" b="0" i="0" dirty="0" err="1">
                <a:solidFill>
                  <a:srgbClr val="17A2B8"/>
                </a:solidFill>
                <a:effectLst/>
                <a:latin typeface="-apple-system"/>
              </a:rPr>
              <a:t>Vòng</a:t>
            </a:r>
            <a:r>
              <a:rPr lang="en-US" b="0" i="0" dirty="0">
                <a:solidFill>
                  <a:srgbClr val="17A2B8"/>
                </a:solidFill>
                <a:effectLst/>
                <a:latin typeface="-apple-system"/>
              </a:rPr>
              <a:t> </a:t>
            </a:r>
            <a:r>
              <a:rPr lang="en-US" b="0" i="0" dirty="0" err="1">
                <a:solidFill>
                  <a:srgbClr val="17A2B8"/>
                </a:solidFill>
                <a:effectLst/>
                <a:latin typeface="-apple-system"/>
              </a:rPr>
              <a:t>lặp</a:t>
            </a:r>
            <a:r>
              <a:rPr lang="en-US" b="0" i="0" dirty="0">
                <a:solidFill>
                  <a:srgbClr val="17A2B8"/>
                </a:solidFill>
                <a:effectLst/>
                <a:latin typeface="-apple-system"/>
              </a:rPr>
              <a:t> for </a:t>
            </a:r>
            <a:r>
              <a:rPr lang="en-US" b="0" i="0" dirty="0" err="1">
                <a:solidFill>
                  <a:srgbClr val="17A2B8"/>
                </a:solidFill>
                <a:effectLst/>
                <a:latin typeface="-apple-system"/>
              </a:rPr>
              <a:t>c#</a:t>
            </a:r>
            <a:endParaRPr lang="en-US" dirty="0"/>
          </a:p>
        </p:txBody>
      </p:sp>
      <p:sp>
        <p:nvSpPr>
          <p:cNvPr id="3" name="Content Placeholder 2">
            <a:extLst>
              <a:ext uri="{FF2B5EF4-FFF2-40B4-BE49-F238E27FC236}">
                <a16:creationId xmlns:a16="http://schemas.microsoft.com/office/drawing/2014/main" id="{34A0425E-7D16-62B2-5C85-FB6C45ED1326}"/>
              </a:ext>
            </a:extLst>
          </p:cNvPr>
          <p:cNvSpPr>
            <a:spLocks noGrp="1"/>
          </p:cNvSpPr>
          <p:nvPr>
            <p:ph idx="1"/>
          </p:nvPr>
        </p:nvSpPr>
        <p:spPr/>
        <p:txBody>
          <a:bodyPr>
            <a:normAutofit/>
          </a:bodyPr>
          <a:lstStyle/>
          <a:p>
            <a:pPr marL="0" indent="0">
              <a:lnSpc>
                <a:spcPct val="120000"/>
              </a:lnSpc>
              <a:spcBef>
                <a:spcPts val="600"/>
              </a:spcBef>
              <a:spcAft>
                <a:spcPts val="0"/>
              </a:spcAft>
              <a:buNone/>
            </a:pPr>
            <a:r>
              <a:rPr lang="en-US" sz="2800" dirty="0">
                <a:solidFill>
                  <a:srgbClr val="212529"/>
                </a:solidFill>
                <a:effectLst/>
                <a:latin typeface="Segoe UI" panose="020B0502040204020203" pitchFamily="34" charset="0"/>
                <a:ea typeface="Times New Roman" panose="02020603050405020304" pitchFamily="18" charset="0"/>
              </a:rPr>
              <a:t>Khi </a:t>
            </a:r>
            <a:r>
              <a:rPr lang="en-US" sz="2800" dirty="0" err="1">
                <a:solidFill>
                  <a:srgbClr val="212529"/>
                </a:solidFill>
                <a:effectLst/>
                <a:latin typeface="Segoe UI" panose="020B0502040204020203" pitchFamily="34" charset="0"/>
                <a:ea typeface="Times New Roman" panose="02020603050405020304" pitchFamily="18" charset="0"/>
              </a:rPr>
              <a:t>viết</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thiếu</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các</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thành</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phần</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như</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trên</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hết</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sức</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lưu</a:t>
            </a:r>
            <a:r>
              <a:rPr lang="en-US" sz="2800" dirty="0">
                <a:solidFill>
                  <a:srgbClr val="212529"/>
                </a:solidFill>
                <a:effectLst/>
                <a:latin typeface="Segoe UI" panose="020B0502040204020203" pitchFamily="34" charset="0"/>
                <a:ea typeface="Times New Roman" panose="02020603050405020304" pitchFamily="18" charset="0"/>
              </a:rPr>
              <a:t> ý </a:t>
            </a:r>
            <a:r>
              <a:rPr lang="en-US" sz="2800" dirty="0" err="1">
                <a:solidFill>
                  <a:srgbClr val="212529"/>
                </a:solidFill>
                <a:effectLst/>
                <a:latin typeface="Segoe UI" panose="020B0502040204020203" pitchFamily="34" charset="0"/>
                <a:ea typeface="Times New Roman" panose="02020603050405020304" pitchFamily="18" charset="0"/>
              </a:rPr>
              <a:t>để</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đảm</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bảo</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khởi</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tạo</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và</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lặp</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số</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lần</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hữu</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hãn</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nếu</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không</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dễ</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dần</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tới</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vòng</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lặp</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vộ</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tận</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ví</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dụ</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đây</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là</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vòng</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lặp</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vô</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tận</a:t>
            </a:r>
            <a:r>
              <a:rPr lang="en-US" sz="2800" dirty="0">
                <a:solidFill>
                  <a:srgbClr val="212529"/>
                </a:solidFill>
                <a:effectLst/>
                <a:latin typeface="Segoe UI" panose="020B0502040204020203" pitchFamily="34"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a:p>
            <a:pPr marL="0" indent="0">
              <a:lnSpc>
                <a:spcPct val="120000"/>
              </a:lnSpc>
              <a:spcBef>
                <a:spcPts val="600"/>
              </a:spcBef>
              <a:spcAft>
                <a:spcPts val="0"/>
              </a:spcAft>
              <a:buNone/>
            </a:pPr>
            <a:r>
              <a:rPr lang="en-US" sz="3200" dirty="0"/>
              <a:t>for (; ;) {}</a:t>
            </a:r>
          </a:p>
          <a:p>
            <a:pPr marL="0" indent="0">
              <a:lnSpc>
                <a:spcPct val="120000"/>
              </a:lnSpc>
              <a:spcBef>
                <a:spcPts val="600"/>
              </a:spcBef>
              <a:spcAft>
                <a:spcPts val="0"/>
              </a:spcAft>
              <a:buNone/>
            </a:pPr>
            <a:r>
              <a:rPr lang="en-US" sz="3200" dirty="0" err="1"/>
              <a:t>Hoặc</a:t>
            </a:r>
            <a:endParaRPr lang="en-US" sz="3200" dirty="0"/>
          </a:p>
          <a:p>
            <a:pPr marL="0" indent="0">
              <a:lnSpc>
                <a:spcPct val="120000"/>
              </a:lnSpc>
              <a:spcBef>
                <a:spcPts val="600"/>
              </a:spcBef>
              <a:spcAft>
                <a:spcPts val="0"/>
              </a:spcAft>
              <a:buNone/>
            </a:pPr>
            <a:r>
              <a:rPr lang="en-US" sz="3200" dirty="0"/>
              <a:t>for (; ;);</a:t>
            </a:r>
          </a:p>
          <a:p>
            <a:pPr marL="0" indent="0">
              <a:lnSpc>
                <a:spcPct val="120000"/>
              </a:lnSpc>
              <a:spcBef>
                <a:spcPts val="600"/>
              </a:spcBef>
              <a:spcAft>
                <a:spcPts val="0"/>
              </a:spcAft>
              <a:buNone/>
            </a:pPr>
            <a:endParaRPr lang="en-US" sz="3200" dirty="0"/>
          </a:p>
        </p:txBody>
      </p:sp>
    </p:spTree>
    <p:extLst>
      <p:ext uri="{BB962C8B-B14F-4D97-AF65-F5344CB8AC3E}">
        <p14:creationId xmlns:p14="http://schemas.microsoft.com/office/powerpoint/2010/main" val="24152462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7A826-84BD-3FA3-A77C-6B2EFD7F2AA7}"/>
              </a:ext>
            </a:extLst>
          </p:cNvPr>
          <p:cNvSpPr>
            <a:spLocks noGrp="1"/>
          </p:cNvSpPr>
          <p:nvPr>
            <p:ph type="title"/>
          </p:nvPr>
        </p:nvSpPr>
        <p:spPr/>
        <p:txBody>
          <a:bodyPr>
            <a:normAutofit/>
          </a:bodyPr>
          <a:lstStyle/>
          <a:p>
            <a:r>
              <a:rPr lang="en-US" sz="4400" b="0" dirty="0" err="1">
                <a:solidFill>
                  <a:srgbClr val="17A2B8"/>
                </a:solidFill>
                <a:effectLst/>
                <a:latin typeface="Segoe UI" panose="020B0502040204020203" pitchFamily="34" charset="0"/>
                <a:ea typeface="Times New Roman" panose="02020603050405020304" pitchFamily="18" charset="0"/>
              </a:rPr>
              <a:t>Vòng</a:t>
            </a:r>
            <a:r>
              <a:rPr lang="en-US" sz="4400" b="0" dirty="0">
                <a:solidFill>
                  <a:srgbClr val="17A2B8"/>
                </a:solidFill>
                <a:effectLst/>
                <a:latin typeface="Segoe UI" panose="020B0502040204020203" pitchFamily="34" charset="0"/>
                <a:ea typeface="Times New Roman" panose="02020603050405020304" pitchFamily="18" charset="0"/>
              </a:rPr>
              <a:t> </a:t>
            </a:r>
            <a:r>
              <a:rPr lang="en-US" sz="4400" b="0" dirty="0" err="1">
                <a:solidFill>
                  <a:srgbClr val="17A2B8"/>
                </a:solidFill>
                <a:effectLst/>
                <a:latin typeface="Segoe UI" panose="020B0502040204020203" pitchFamily="34" charset="0"/>
                <a:ea typeface="Times New Roman" panose="02020603050405020304" pitchFamily="18" charset="0"/>
              </a:rPr>
              <a:t>lặp</a:t>
            </a:r>
            <a:r>
              <a:rPr lang="en-US" sz="4400" b="0" dirty="0">
                <a:solidFill>
                  <a:srgbClr val="17A2B8"/>
                </a:solidFill>
                <a:effectLst/>
                <a:latin typeface="Segoe UI" panose="020B0502040204020203" pitchFamily="34" charset="0"/>
                <a:ea typeface="Times New Roman" panose="02020603050405020304" pitchFamily="18" charset="0"/>
              </a:rPr>
              <a:t> while </a:t>
            </a:r>
            <a:r>
              <a:rPr lang="en-US" sz="4400" b="0" dirty="0" err="1">
                <a:solidFill>
                  <a:srgbClr val="17A2B8"/>
                </a:solidFill>
                <a:effectLst/>
                <a:latin typeface="Segoe UI" panose="020B0502040204020203" pitchFamily="34" charset="0"/>
                <a:ea typeface="Times New Roman" panose="02020603050405020304" pitchFamily="18" charset="0"/>
              </a:rPr>
              <a:t>c#</a:t>
            </a:r>
            <a:endParaRPr lang="en-US" sz="9600" dirty="0"/>
          </a:p>
        </p:txBody>
      </p:sp>
      <p:sp>
        <p:nvSpPr>
          <p:cNvPr id="3" name="Content Placeholder 2">
            <a:extLst>
              <a:ext uri="{FF2B5EF4-FFF2-40B4-BE49-F238E27FC236}">
                <a16:creationId xmlns:a16="http://schemas.microsoft.com/office/drawing/2014/main" id="{F3B42274-B4D2-1057-D1B6-AD5B45EAAF92}"/>
              </a:ext>
            </a:extLst>
          </p:cNvPr>
          <p:cNvSpPr>
            <a:spLocks noGrp="1"/>
          </p:cNvSpPr>
          <p:nvPr>
            <p:ph idx="1"/>
          </p:nvPr>
        </p:nvSpPr>
        <p:spPr/>
        <p:txBody>
          <a:bodyPr>
            <a:normAutofit/>
          </a:bodyPr>
          <a:lstStyle/>
          <a:p>
            <a:r>
              <a:rPr lang="en-US" sz="2800" dirty="0" err="1">
                <a:solidFill>
                  <a:srgbClr val="212529"/>
                </a:solidFill>
                <a:effectLst/>
                <a:latin typeface="Segoe UI" panose="020B0502040204020203" pitchFamily="34" charset="0"/>
                <a:ea typeface="Times New Roman" panose="02020603050405020304" pitchFamily="18" charset="0"/>
              </a:rPr>
              <a:t>Cú</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pháp</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như</a:t>
            </a:r>
            <a:r>
              <a:rPr lang="en-US" sz="2800" dirty="0">
                <a:solidFill>
                  <a:srgbClr val="212529"/>
                </a:solidFill>
                <a:effectLst/>
                <a:latin typeface="Segoe UI" panose="020B0502040204020203" pitchFamily="34" charset="0"/>
                <a:ea typeface="Times New Roman" panose="02020603050405020304" pitchFamily="18" charset="0"/>
              </a:rPr>
              <a:t> </a:t>
            </a:r>
            <a:r>
              <a:rPr lang="en-US" sz="2800" dirty="0" err="1">
                <a:solidFill>
                  <a:srgbClr val="212529"/>
                </a:solidFill>
                <a:effectLst/>
                <a:latin typeface="Segoe UI" panose="020B0502040204020203" pitchFamily="34" charset="0"/>
                <a:ea typeface="Times New Roman" panose="02020603050405020304" pitchFamily="18" charset="0"/>
              </a:rPr>
              <a:t>sau</a:t>
            </a:r>
            <a:endParaRPr lang="en-US" sz="2800" dirty="0">
              <a:effectLst/>
              <a:latin typeface="Times New Roman" panose="02020603050405020304" pitchFamily="18" charset="0"/>
              <a:ea typeface="Times New Roman" panose="02020603050405020304" pitchFamily="18" charset="0"/>
            </a:endParaRPr>
          </a:p>
          <a:p>
            <a:r>
              <a:rPr kumimoji="0" lang="en-US" altLang="en-US" sz="32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while</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Lặp</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nếu</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bằng</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true</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US" altLang="en-US" sz="6000" b="0" i="0" u="none" strike="noStrike" cap="none" normalizeH="0" baseline="0" dirty="0">
              <a:ln>
                <a:noFill/>
              </a:ln>
              <a:solidFill>
                <a:schemeClr val="tx1"/>
              </a:solidFill>
              <a:effectLst/>
              <a:latin typeface="Arial" panose="020B0604020202020204" pitchFamily="34" charset="0"/>
            </a:endParaRPr>
          </a:p>
          <a:p>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Câu</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này</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đầu</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tiên</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kiểm</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tra</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nếu</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bằng</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true</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hành</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khối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nếu</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false</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thoát</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vòng</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hành</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xong</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lại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kiểm</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tra</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lại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và</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nếu</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vẫn</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bằng</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true</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lại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hành</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lại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khối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cứ</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thế</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cho</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đến</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khi</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điều_kiện</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32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là</a:t>
            </a:r>
            <a:r>
              <a:rPr kumimoji="0" lang="en-US" altLang="en-US" sz="32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false</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lang="en-US" sz="3200" dirty="0"/>
          </a:p>
        </p:txBody>
      </p:sp>
    </p:spTree>
    <p:extLst>
      <p:ext uri="{BB962C8B-B14F-4D97-AF65-F5344CB8AC3E}">
        <p14:creationId xmlns:p14="http://schemas.microsoft.com/office/powerpoint/2010/main" val="33942386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7A826-84BD-3FA3-A77C-6B2EFD7F2AA7}"/>
              </a:ext>
            </a:extLst>
          </p:cNvPr>
          <p:cNvSpPr>
            <a:spLocks noGrp="1"/>
          </p:cNvSpPr>
          <p:nvPr>
            <p:ph type="title"/>
          </p:nvPr>
        </p:nvSpPr>
        <p:spPr/>
        <p:txBody>
          <a:bodyPr>
            <a:normAutofit/>
          </a:bodyPr>
          <a:lstStyle/>
          <a:p>
            <a:r>
              <a:rPr lang="en-US" sz="4400" b="0" dirty="0" err="1">
                <a:solidFill>
                  <a:srgbClr val="17A2B8"/>
                </a:solidFill>
                <a:effectLst/>
                <a:latin typeface="Segoe UI" panose="020B0502040204020203" pitchFamily="34" charset="0"/>
                <a:ea typeface="Times New Roman" panose="02020603050405020304" pitchFamily="18" charset="0"/>
              </a:rPr>
              <a:t>Ví</a:t>
            </a:r>
            <a:r>
              <a:rPr lang="en-US" sz="4400" b="0" dirty="0">
                <a:solidFill>
                  <a:srgbClr val="17A2B8"/>
                </a:solidFill>
                <a:effectLst/>
                <a:latin typeface="Segoe UI" panose="020B0502040204020203" pitchFamily="34" charset="0"/>
                <a:ea typeface="Times New Roman" panose="02020603050405020304" pitchFamily="18" charset="0"/>
              </a:rPr>
              <a:t> </a:t>
            </a:r>
            <a:r>
              <a:rPr lang="en-US" sz="4400" b="0" dirty="0" err="1">
                <a:solidFill>
                  <a:srgbClr val="17A2B8"/>
                </a:solidFill>
                <a:effectLst/>
                <a:latin typeface="Segoe UI" panose="020B0502040204020203" pitchFamily="34" charset="0"/>
                <a:ea typeface="Times New Roman" panose="02020603050405020304" pitchFamily="18" charset="0"/>
              </a:rPr>
              <a:t>dụ</a:t>
            </a:r>
            <a:r>
              <a:rPr lang="en-US" sz="4400" b="0" dirty="0">
                <a:solidFill>
                  <a:srgbClr val="17A2B8"/>
                </a:solidFill>
                <a:effectLst/>
                <a:latin typeface="Segoe UI" panose="020B0502040204020203" pitchFamily="34" charset="0"/>
                <a:ea typeface="Times New Roman" panose="02020603050405020304" pitchFamily="18" charset="0"/>
              </a:rPr>
              <a:t> </a:t>
            </a:r>
            <a:r>
              <a:rPr lang="en-US" sz="4400" b="0" dirty="0" err="1">
                <a:solidFill>
                  <a:srgbClr val="17A2B8"/>
                </a:solidFill>
                <a:effectLst/>
                <a:latin typeface="Segoe UI" panose="020B0502040204020203" pitchFamily="34" charset="0"/>
                <a:ea typeface="Times New Roman" panose="02020603050405020304" pitchFamily="18" charset="0"/>
              </a:rPr>
              <a:t>Vòng</a:t>
            </a:r>
            <a:r>
              <a:rPr lang="en-US" sz="4400" b="0" dirty="0">
                <a:solidFill>
                  <a:srgbClr val="17A2B8"/>
                </a:solidFill>
                <a:effectLst/>
                <a:latin typeface="Segoe UI" panose="020B0502040204020203" pitchFamily="34" charset="0"/>
                <a:ea typeface="Times New Roman" panose="02020603050405020304" pitchFamily="18" charset="0"/>
              </a:rPr>
              <a:t> </a:t>
            </a:r>
            <a:r>
              <a:rPr lang="en-US" sz="4400" b="0" dirty="0" err="1">
                <a:solidFill>
                  <a:srgbClr val="17A2B8"/>
                </a:solidFill>
                <a:effectLst/>
                <a:latin typeface="Segoe UI" panose="020B0502040204020203" pitchFamily="34" charset="0"/>
                <a:ea typeface="Times New Roman" panose="02020603050405020304" pitchFamily="18" charset="0"/>
              </a:rPr>
              <a:t>lặp</a:t>
            </a:r>
            <a:r>
              <a:rPr lang="en-US" sz="4400" b="0" dirty="0">
                <a:solidFill>
                  <a:srgbClr val="17A2B8"/>
                </a:solidFill>
                <a:effectLst/>
                <a:latin typeface="Segoe UI" panose="020B0502040204020203" pitchFamily="34" charset="0"/>
                <a:ea typeface="Times New Roman" panose="02020603050405020304" pitchFamily="18" charset="0"/>
              </a:rPr>
              <a:t> while</a:t>
            </a:r>
            <a:endParaRPr lang="en-US" sz="9600" dirty="0"/>
          </a:p>
        </p:txBody>
      </p:sp>
      <p:sp>
        <p:nvSpPr>
          <p:cNvPr id="3" name="Content Placeholder 2">
            <a:extLst>
              <a:ext uri="{FF2B5EF4-FFF2-40B4-BE49-F238E27FC236}">
                <a16:creationId xmlns:a16="http://schemas.microsoft.com/office/drawing/2014/main" id="{F3B42274-B4D2-1057-D1B6-AD5B45EAAF92}"/>
              </a:ext>
            </a:extLst>
          </p:cNvPr>
          <p:cNvSpPr>
            <a:spLocks noGrp="1"/>
          </p:cNvSpPr>
          <p:nvPr>
            <p:ph idx="1"/>
          </p:nvPr>
        </p:nvSpPr>
        <p:spPr/>
        <p:txBody>
          <a:bodyPr>
            <a:normAutofit/>
          </a:bodyPr>
          <a:lstStyle/>
          <a:p>
            <a:r>
              <a:rPr kumimoji="0" lang="en-US" altLang="en-US" sz="32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32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8</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r>
              <a:rPr kumimoji="0" lang="en-US" altLang="en-US" sz="3200" b="1" i="0" u="none" strike="noStrike" cap="none" normalizeH="0" baseline="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while</a:t>
            </a:r>
            <a:r>
              <a:rPr kumimoji="0" lang="en-US" altLang="en-US" sz="3200" b="0" i="0" u="none" strike="noStrike" cap="none" normalizeH="0" baseline="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(i &lt;= </a:t>
            </a:r>
            <a:r>
              <a:rPr kumimoji="0" lang="en-US" altLang="en-US" sz="3200" b="0" i="0" u="none" strike="noStrike" cap="none" normalizeH="0" baseline="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kumimoji="0" lang="en-US" altLang="en-US" sz="3200" b="0" i="0" u="none" strike="noStrike" cap="none" normalizeH="0" baseline="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Console.</a:t>
            </a:r>
            <a:r>
              <a:rPr kumimoji="0" lang="en-US" altLang="en-US" sz="32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WriteLine</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32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32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32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32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32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p>
          <a:p>
            <a:pPr marL="0" indent="0">
              <a:buNone/>
            </a:pP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pPr marL="0" indent="0">
              <a:buNone/>
            </a:pPr>
            <a:r>
              <a:rPr kumimoji="0" lang="en-US" altLang="en-US" sz="32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p>
          <a:p>
            <a:pPr marL="0" indent="0">
              <a:buNone/>
            </a:pP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8// </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9// </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32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32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10</a:t>
            </a:r>
            <a:endParaRPr kumimoji="0" lang="en-US" altLang="en-US" sz="6000" b="0" i="0" u="none" strike="noStrike" cap="none" normalizeH="0" baseline="0" dirty="0">
              <a:ln>
                <a:noFill/>
              </a:ln>
              <a:solidFill>
                <a:schemeClr val="tx1"/>
              </a:solidFill>
              <a:effectLst/>
              <a:latin typeface="Arial" panose="020B0604020202020204" pitchFamily="34" charset="0"/>
            </a:endParaRPr>
          </a:p>
          <a:p>
            <a:endParaRPr lang="en-US" sz="3200" dirty="0"/>
          </a:p>
        </p:txBody>
      </p:sp>
    </p:spTree>
    <p:extLst>
      <p:ext uri="{BB962C8B-B14F-4D97-AF65-F5344CB8AC3E}">
        <p14:creationId xmlns:p14="http://schemas.microsoft.com/office/powerpoint/2010/main" val="29340421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07AB0-1069-9030-CD2B-1B1F8A9E27B1}"/>
              </a:ext>
            </a:extLst>
          </p:cNvPr>
          <p:cNvSpPr>
            <a:spLocks noGrp="1"/>
          </p:cNvSpPr>
          <p:nvPr>
            <p:ph type="title"/>
          </p:nvPr>
        </p:nvSpPr>
        <p:spPr/>
        <p:txBody>
          <a:bodyPr>
            <a:normAutofit/>
          </a:bodyPr>
          <a:lstStyle/>
          <a:p>
            <a:r>
              <a:rPr lang="en-US" sz="4400" b="0" dirty="0" err="1">
                <a:solidFill>
                  <a:srgbClr val="17A2B8"/>
                </a:solidFill>
                <a:effectLst/>
                <a:latin typeface="Segoe UI" panose="020B0502040204020203" pitchFamily="34" charset="0"/>
                <a:ea typeface="Times New Roman" panose="02020603050405020304" pitchFamily="18" charset="0"/>
              </a:rPr>
              <a:t>Vòng</a:t>
            </a:r>
            <a:r>
              <a:rPr lang="en-US" sz="4400" b="0" dirty="0">
                <a:solidFill>
                  <a:srgbClr val="17A2B8"/>
                </a:solidFill>
                <a:effectLst/>
                <a:latin typeface="Segoe UI" panose="020B0502040204020203" pitchFamily="34" charset="0"/>
                <a:ea typeface="Times New Roman" panose="02020603050405020304" pitchFamily="18" charset="0"/>
              </a:rPr>
              <a:t> </a:t>
            </a:r>
            <a:r>
              <a:rPr lang="en-US" sz="4400" b="0" dirty="0" err="1">
                <a:solidFill>
                  <a:srgbClr val="17A2B8"/>
                </a:solidFill>
                <a:effectLst/>
                <a:latin typeface="Segoe UI" panose="020B0502040204020203" pitchFamily="34" charset="0"/>
                <a:ea typeface="Times New Roman" panose="02020603050405020304" pitchFamily="18" charset="0"/>
              </a:rPr>
              <a:t>lặp</a:t>
            </a:r>
            <a:r>
              <a:rPr lang="en-US" sz="4400" b="0" dirty="0">
                <a:solidFill>
                  <a:srgbClr val="17A2B8"/>
                </a:solidFill>
                <a:effectLst/>
                <a:latin typeface="Segoe UI" panose="020B0502040204020203" pitchFamily="34" charset="0"/>
                <a:ea typeface="Times New Roman" panose="02020603050405020304" pitchFamily="18" charset="0"/>
              </a:rPr>
              <a:t> do ... while </a:t>
            </a:r>
            <a:endParaRPr lang="en-US" sz="9600" dirty="0"/>
          </a:p>
        </p:txBody>
      </p:sp>
      <p:sp>
        <p:nvSpPr>
          <p:cNvPr id="3" name="Content Placeholder 2">
            <a:extLst>
              <a:ext uri="{FF2B5EF4-FFF2-40B4-BE49-F238E27FC236}">
                <a16:creationId xmlns:a16="http://schemas.microsoft.com/office/drawing/2014/main" id="{1829FBEF-74C1-AE9A-C831-9604BD7ADB88}"/>
              </a:ext>
            </a:extLst>
          </p:cNvPr>
          <p:cNvSpPr>
            <a:spLocks noGrp="1"/>
          </p:cNvSpPr>
          <p:nvPr>
            <p:ph idx="1"/>
          </p:nvPr>
        </p:nvSpPr>
        <p:spPr>
          <a:xfrm>
            <a:off x="1085850" y="1834304"/>
            <a:ext cx="10322560" cy="4412826"/>
          </a:xfrm>
        </p:spPr>
        <p:txBody>
          <a:bodyPr>
            <a:normAutofit lnSpcReduction="10000"/>
          </a:bodyPr>
          <a:lstStyle/>
          <a:p>
            <a:r>
              <a:rPr lang="en-US" sz="2400" dirty="0" err="1">
                <a:solidFill>
                  <a:srgbClr val="212529"/>
                </a:solidFill>
                <a:effectLst/>
                <a:latin typeface="Segoe UI" panose="020B0502040204020203" pitchFamily="34" charset="0"/>
                <a:ea typeface="Times New Roman" panose="02020603050405020304" pitchFamily="18" charset="0"/>
              </a:rPr>
              <a:t>Cú</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pháp</a:t>
            </a:r>
            <a:r>
              <a:rPr lang="en-US" sz="2400" dirty="0">
                <a:solidFill>
                  <a:srgbClr val="212529"/>
                </a:solidFill>
                <a:latin typeface="Segoe UI" panose="020B0502040204020203" pitchFamily="34" charset="0"/>
                <a:ea typeface="Times New Roman" panose="02020603050405020304" pitchFamily="18" charset="0"/>
              </a:rPr>
              <a:t>:</a:t>
            </a:r>
          </a:p>
          <a:p>
            <a:r>
              <a:rPr lang="en-US" sz="2400" dirty="0">
                <a:effectLst/>
                <a:latin typeface="Times New Roman" panose="02020603050405020304" pitchFamily="18" charset="0"/>
                <a:ea typeface="Times New Roman" panose="02020603050405020304" pitchFamily="18" charset="0"/>
              </a:rPr>
              <a:t>do</a:t>
            </a:r>
          </a:p>
          <a:p>
            <a:r>
              <a:rPr lang="en-US" sz="2400" dirty="0">
                <a:effectLst/>
                <a:latin typeface="Times New Roman" panose="02020603050405020304" pitchFamily="18" charset="0"/>
                <a:ea typeface="Times New Roman" panose="02020603050405020304" pitchFamily="18" charset="0"/>
              </a:rPr>
              <a:t>{</a:t>
            </a:r>
          </a:p>
          <a:p>
            <a:r>
              <a:rPr lang="en-US" sz="2400" dirty="0">
                <a:effectLst/>
                <a:latin typeface="Times New Roman" panose="02020603050405020304" pitchFamily="18" charset="0"/>
                <a:ea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rPr>
              <a:t>Khối</a:t>
            </a:r>
            <a:r>
              <a:rPr lang="en-US" sz="2400" dirty="0">
                <a:effectLst/>
                <a:latin typeface="Times New Roman" panose="02020603050405020304" pitchFamily="18" charset="0"/>
                <a:ea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rPr>
              <a:t>lệnh</a:t>
            </a:r>
            <a:endParaRPr lang="en-US" sz="2400" dirty="0">
              <a:effectLst/>
              <a:latin typeface="Times New Roman" panose="02020603050405020304" pitchFamily="18" charset="0"/>
              <a:ea typeface="Times New Roman" panose="02020603050405020304" pitchFamily="18" charset="0"/>
            </a:endParaRPr>
          </a:p>
          <a:p>
            <a:r>
              <a:rPr lang="en-US" sz="2400" dirty="0">
                <a:effectLst/>
                <a:latin typeface="Times New Roman" panose="02020603050405020304" pitchFamily="18" charset="0"/>
                <a:ea typeface="Times New Roman" panose="02020603050405020304" pitchFamily="18" charset="0"/>
              </a:rPr>
              <a:t>}</a:t>
            </a:r>
          </a:p>
          <a:p>
            <a:r>
              <a:rPr lang="en-US" sz="2400" dirty="0">
                <a:effectLst/>
                <a:latin typeface="Times New Roman" panose="02020603050405020304" pitchFamily="18" charset="0"/>
                <a:ea typeface="Times New Roman" panose="02020603050405020304" pitchFamily="18" charset="0"/>
              </a:rPr>
              <a:t>while (</a:t>
            </a:r>
            <a:r>
              <a:rPr lang="en-US" sz="2400" dirty="0" err="1">
                <a:effectLst/>
                <a:latin typeface="Times New Roman" panose="02020603050405020304" pitchFamily="18" charset="0"/>
                <a:ea typeface="Times New Roman" panose="02020603050405020304" pitchFamily="18" charset="0"/>
              </a:rPr>
              <a:t>điều_kiện</a:t>
            </a:r>
            <a:r>
              <a:rPr lang="en-US" sz="2400" dirty="0">
                <a:effectLst/>
                <a:latin typeface="Times New Roman" panose="02020603050405020304" pitchFamily="18" charset="0"/>
                <a:ea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Vòng</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này</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khác</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16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while</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ở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chỗ</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nó</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thi</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hành</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khối</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trước</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sau</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đó</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mới</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kiểm</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tra</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điều_kiện</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kiểm</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tra</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thấy</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điều_kiện</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vẫn</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16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true</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thì</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tiếp</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Vòng</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16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do ... while</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khối</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bao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giờ</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cũng</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được</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thực</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hiện</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ít</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nhất</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một</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lần</a:t>
            </a:r>
            <a:r>
              <a:rPr kumimoji="0" lang="en-US" altLang="en-US" sz="24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74028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07AB0-1069-9030-CD2B-1B1F8A9E27B1}"/>
              </a:ext>
            </a:extLst>
          </p:cNvPr>
          <p:cNvSpPr>
            <a:spLocks noGrp="1"/>
          </p:cNvSpPr>
          <p:nvPr>
            <p:ph type="title"/>
          </p:nvPr>
        </p:nvSpPr>
        <p:spPr/>
        <p:txBody>
          <a:bodyPr>
            <a:normAutofit/>
          </a:bodyPr>
          <a:lstStyle/>
          <a:p>
            <a:r>
              <a:rPr lang="en-US" sz="4400" b="0" dirty="0" err="1">
                <a:solidFill>
                  <a:srgbClr val="17A2B8"/>
                </a:solidFill>
                <a:effectLst/>
                <a:latin typeface="Segoe UI" panose="020B0502040204020203" pitchFamily="34" charset="0"/>
                <a:ea typeface="Times New Roman" panose="02020603050405020304" pitchFamily="18" charset="0"/>
              </a:rPr>
              <a:t>Vòng</a:t>
            </a:r>
            <a:r>
              <a:rPr lang="en-US" sz="4400" b="0" dirty="0">
                <a:solidFill>
                  <a:srgbClr val="17A2B8"/>
                </a:solidFill>
                <a:effectLst/>
                <a:latin typeface="Segoe UI" panose="020B0502040204020203" pitchFamily="34" charset="0"/>
                <a:ea typeface="Times New Roman" panose="02020603050405020304" pitchFamily="18" charset="0"/>
              </a:rPr>
              <a:t> </a:t>
            </a:r>
            <a:r>
              <a:rPr lang="en-US" sz="4400" b="0" dirty="0" err="1">
                <a:solidFill>
                  <a:srgbClr val="17A2B8"/>
                </a:solidFill>
                <a:effectLst/>
                <a:latin typeface="Segoe UI" panose="020B0502040204020203" pitchFamily="34" charset="0"/>
                <a:ea typeface="Times New Roman" panose="02020603050405020304" pitchFamily="18" charset="0"/>
              </a:rPr>
              <a:t>lặp</a:t>
            </a:r>
            <a:r>
              <a:rPr lang="en-US" sz="4400" b="0" dirty="0">
                <a:solidFill>
                  <a:srgbClr val="17A2B8"/>
                </a:solidFill>
                <a:effectLst/>
                <a:latin typeface="Segoe UI" panose="020B0502040204020203" pitchFamily="34" charset="0"/>
                <a:ea typeface="Times New Roman" panose="02020603050405020304" pitchFamily="18" charset="0"/>
              </a:rPr>
              <a:t> do ... while </a:t>
            </a:r>
            <a:endParaRPr lang="en-US" sz="9600" dirty="0"/>
          </a:p>
        </p:txBody>
      </p:sp>
      <p:sp>
        <p:nvSpPr>
          <p:cNvPr id="3" name="Content Placeholder 2">
            <a:extLst>
              <a:ext uri="{FF2B5EF4-FFF2-40B4-BE49-F238E27FC236}">
                <a16:creationId xmlns:a16="http://schemas.microsoft.com/office/drawing/2014/main" id="{1829FBEF-74C1-AE9A-C831-9604BD7ADB88}"/>
              </a:ext>
            </a:extLst>
          </p:cNvPr>
          <p:cNvSpPr>
            <a:spLocks noGrp="1"/>
          </p:cNvSpPr>
          <p:nvPr>
            <p:ph idx="1"/>
          </p:nvPr>
        </p:nvSpPr>
        <p:spPr>
          <a:xfrm>
            <a:off x="1097280" y="1845734"/>
            <a:ext cx="10322560" cy="4412826"/>
          </a:xfrm>
        </p:spPr>
        <p:txBody>
          <a:bodyPr>
            <a:normAutofit fontScale="47500" lnSpcReduction="20000"/>
          </a:bodyPr>
          <a:lstStyle/>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In </a:t>
            </a:r>
            <a:r>
              <a:rPr kumimoji="0" lang="en-US" altLang="en-US" sz="3600" b="0" i="0" u="none" strike="noStrike" cap="none" normalizeH="0" baseline="0" dirty="0" err="1">
                <a:ln>
                  <a:noFill/>
                </a:ln>
                <a:solidFill>
                  <a:schemeClr val="tx1"/>
                </a:solidFill>
                <a:effectLst/>
                <a:latin typeface="Arial" panose="020B0604020202020204" pitchFamily="34" charset="0"/>
              </a:rPr>
              <a:t>ra</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các</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số</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chẵn</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int j = 10;</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do</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Console.WriteLine</a:t>
            </a:r>
            <a:r>
              <a:rPr kumimoji="0" lang="en-US" altLang="en-US" sz="3600" b="0" i="0" u="none" strike="noStrike" cap="none" normalizeH="0" baseline="0" dirty="0">
                <a:ln>
                  <a:noFill/>
                </a:ln>
                <a:solidFill>
                  <a:schemeClr val="tx1"/>
                </a:solidFill>
                <a:effectLst/>
                <a:latin typeface="Arial" panose="020B0604020202020204" pitchFamily="34" charset="0"/>
              </a:rPr>
              <a:t>("</a:t>
            </a:r>
            <a:r>
              <a:rPr kumimoji="0" lang="en-US" altLang="en-US" sz="3600" b="0" i="0" u="none" strike="noStrike" cap="none" normalizeH="0" baseline="0" dirty="0" err="1">
                <a:ln>
                  <a:noFill/>
                </a:ln>
                <a:solidFill>
                  <a:schemeClr val="tx1"/>
                </a:solidFill>
                <a:effectLst/>
                <a:latin typeface="Arial" panose="020B0604020202020204" pitchFamily="34" charset="0"/>
              </a:rPr>
              <a:t>Số</a:t>
            </a:r>
            <a:r>
              <a:rPr kumimoji="0" lang="en-US" altLang="en-US" sz="3600" b="0" i="0" u="none" strike="noStrike" cap="none" normalizeH="0" baseline="0" dirty="0">
                <a:ln>
                  <a:noFill/>
                </a:ln>
                <a:solidFill>
                  <a:schemeClr val="tx1"/>
                </a:solidFill>
                <a:effectLst/>
                <a:latin typeface="Arial" panose="020B0604020202020204" pitchFamily="34" charset="0"/>
              </a:rPr>
              <a:t> j = " + j);</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j += 2;</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while (j &lt;=20);</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Số</a:t>
            </a:r>
            <a:r>
              <a:rPr kumimoji="0" lang="en-US" altLang="en-US" sz="3600" b="0" i="0" u="none" strike="noStrike" cap="none" normalizeH="0" baseline="0" dirty="0">
                <a:ln>
                  <a:noFill/>
                </a:ln>
                <a:solidFill>
                  <a:schemeClr val="tx1"/>
                </a:solidFill>
                <a:effectLst/>
                <a:latin typeface="Arial" panose="020B0604020202020204" pitchFamily="34" charset="0"/>
              </a:rPr>
              <a:t> j = 10</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Số</a:t>
            </a:r>
            <a:r>
              <a:rPr kumimoji="0" lang="en-US" altLang="en-US" sz="3600" b="0" i="0" u="none" strike="noStrike" cap="none" normalizeH="0" baseline="0" dirty="0">
                <a:ln>
                  <a:noFill/>
                </a:ln>
                <a:solidFill>
                  <a:schemeClr val="tx1"/>
                </a:solidFill>
                <a:effectLst/>
                <a:latin typeface="Arial" panose="020B0604020202020204" pitchFamily="34" charset="0"/>
              </a:rPr>
              <a:t> j = 12</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Số</a:t>
            </a:r>
            <a:r>
              <a:rPr kumimoji="0" lang="en-US" altLang="en-US" sz="3600" b="0" i="0" u="none" strike="noStrike" cap="none" normalizeH="0" baseline="0" dirty="0">
                <a:ln>
                  <a:noFill/>
                </a:ln>
                <a:solidFill>
                  <a:schemeClr val="tx1"/>
                </a:solidFill>
                <a:effectLst/>
                <a:latin typeface="Arial" panose="020B0604020202020204" pitchFamily="34" charset="0"/>
              </a:rPr>
              <a:t> j = 14</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Số</a:t>
            </a:r>
            <a:r>
              <a:rPr kumimoji="0" lang="en-US" altLang="en-US" sz="3600" b="0" i="0" u="none" strike="noStrike" cap="none" normalizeH="0" baseline="0" dirty="0">
                <a:ln>
                  <a:noFill/>
                </a:ln>
                <a:solidFill>
                  <a:schemeClr val="tx1"/>
                </a:solidFill>
                <a:effectLst/>
                <a:latin typeface="Arial" panose="020B0604020202020204" pitchFamily="34" charset="0"/>
              </a:rPr>
              <a:t> j = 16</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Số</a:t>
            </a:r>
            <a:r>
              <a:rPr kumimoji="0" lang="en-US" altLang="en-US" sz="3600" b="0" i="0" u="none" strike="noStrike" cap="none" normalizeH="0" baseline="0" dirty="0">
                <a:ln>
                  <a:noFill/>
                </a:ln>
                <a:solidFill>
                  <a:schemeClr val="tx1"/>
                </a:solidFill>
                <a:effectLst/>
                <a:latin typeface="Arial" panose="020B0604020202020204" pitchFamily="34" charset="0"/>
              </a:rPr>
              <a:t> j = 18</a:t>
            </a:r>
          </a:p>
          <a:p>
            <a:pPr>
              <a:lnSpc>
                <a:spcPct val="120000"/>
              </a:lnSpc>
              <a:spcBef>
                <a:spcPts val="0"/>
              </a:spcBef>
            </a:pP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Số</a:t>
            </a:r>
            <a:r>
              <a:rPr kumimoji="0" lang="en-US" altLang="en-US" sz="3600" b="0" i="0" u="none" strike="noStrike" cap="none" normalizeH="0" baseline="0" dirty="0">
                <a:ln>
                  <a:noFill/>
                </a:ln>
                <a:solidFill>
                  <a:schemeClr val="tx1"/>
                </a:solidFill>
                <a:effectLst/>
                <a:latin typeface="Arial" panose="020B0604020202020204" pitchFamily="34" charset="0"/>
              </a:rPr>
              <a:t> j = 20</a:t>
            </a:r>
          </a:p>
          <a:p>
            <a:pPr>
              <a:lnSpc>
                <a:spcPct val="120000"/>
              </a:lnSpc>
              <a:spcBef>
                <a:spcPts val="0"/>
              </a:spcBef>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64123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9EF1C-7F62-2782-F478-D937E33CC35F}"/>
              </a:ext>
            </a:extLst>
          </p:cNvPr>
          <p:cNvSpPr>
            <a:spLocks noGrp="1"/>
          </p:cNvSpPr>
          <p:nvPr>
            <p:ph type="title"/>
          </p:nvPr>
        </p:nvSpPr>
        <p:spPr/>
        <p:txBody>
          <a:bodyPr>
            <a:normAutofit/>
          </a:bodyPr>
          <a:lstStyle/>
          <a:p>
            <a:r>
              <a:rPr lang="en-US" sz="4000" b="0" dirty="0" err="1">
                <a:solidFill>
                  <a:srgbClr val="17A2B8"/>
                </a:solidFill>
                <a:effectLst/>
                <a:latin typeface="Segoe UI" panose="020B0502040204020203" pitchFamily="34" charset="0"/>
                <a:ea typeface="Times New Roman" panose="02020603050405020304" pitchFamily="18" charset="0"/>
              </a:rPr>
              <a:t>Lệnh</a:t>
            </a:r>
            <a:r>
              <a:rPr lang="en-US" sz="4000" b="0" dirty="0">
                <a:solidFill>
                  <a:srgbClr val="17A2B8"/>
                </a:solidFill>
                <a:effectLst/>
                <a:latin typeface="Segoe UI" panose="020B0502040204020203" pitchFamily="34" charset="0"/>
                <a:ea typeface="Times New Roman" panose="02020603050405020304" pitchFamily="18" charset="0"/>
              </a:rPr>
              <a:t> break </a:t>
            </a:r>
            <a:r>
              <a:rPr lang="en-US" sz="4000" b="0" dirty="0" err="1">
                <a:solidFill>
                  <a:srgbClr val="17A2B8"/>
                </a:solidFill>
                <a:effectLst/>
                <a:latin typeface="Segoe UI" panose="020B0502040204020203" pitchFamily="34" charset="0"/>
                <a:ea typeface="Times New Roman" panose="02020603050405020304" pitchFamily="18" charset="0"/>
              </a:rPr>
              <a:t>và</a:t>
            </a:r>
            <a:r>
              <a:rPr lang="en-US" sz="4000" b="0" dirty="0">
                <a:solidFill>
                  <a:srgbClr val="17A2B8"/>
                </a:solidFill>
                <a:effectLst/>
                <a:latin typeface="Segoe UI" panose="020B0502040204020203" pitchFamily="34" charset="0"/>
                <a:ea typeface="Times New Roman" panose="02020603050405020304" pitchFamily="18" charset="0"/>
              </a:rPr>
              <a:t> continue </a:t>
            </a:r>
            <a:r>
              <a:rPr lang="en-US" sz="4000" b="0" dirty="0" err="1">
                <a:solidFill>
                  <a:srgbClr val="17A2B8"/>
                </a:solidFill>
                <a:effectLst/>
                <a:latin typeface="Segoe UI" panose="020B0502040204020203" pitchFamily="34" charset="0"/>
                <a:ea typeface="Times New Roman" panose="02020603050405020304" pitchFamily="18" charset="0"/>
              </a:rPr>
              <a:t>trong</a:t>
            </a:r>
            <a:r>
              <a:rPr lang="en-US" sz="4000" b="0" dirty="0">
                <a:solidFill>
                  <a:srgbClr val="17A2B8"/>
                </a:solidFill>
                <a:effectLst/>
                <a:latin typeface="Segoe UI" panose="020B0502040204020203" pitchFamily="34" charset="0"/>
                <a:ea typeface="Times New Roman" panose="02020603050405020304" pitchFamily="18" charset="0"/>
              </a:rPr>
              <a:t> C#</a:t>
            </a:r>
            <a:endParaRPr lang="en-US" sz="8800" dirty="0"/>
          </a:p>
        </p:txBody>
      </p:sp>
      <p:sp>
        <p:nvSpPr>
          <p:cNvPr id="3" name="Content Placeholder 2">
            <a:extLst>
              <a:ext uri="{FF2B5EF4-FFF2-40B4-BE49-F238E27FC236}">
                <a16:creationId xmlns:a16="http://schemas.microsoft.com/office/drawing/2014/main" id="{A299389A-E1D4-F4DC-9514-7610E857F862}"/>
              </a:ext>
            </a:extLst>
          </p:cNvPr>
          <p:cNvSpPr>
            <a:spLocks noGrp="1"/>
          </p:cNvSpPr>
          <p:nvPr>
            <p:ph idx="1"/>
          </p:nvPr>
        </p:nvSpPr>
        <p:spPr/>
        <p:txBody>
          <a:bodyPr>
            <a:normAutofit lnSpcReduction="10000"/>
          </a:bodyPr>
          <a:lstStyle/>
          <a:p>
            <a:pPr marL="0" indent="0">
              <a:buNone/>
            </a:pP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Hai </a:t>
            </a:r>
            <a:r>
              <a:rPr kumimoji="0" lang="en-US" altLang="en-US" sz="28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18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break</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18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continue</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hỗ</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trợ</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việc</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điều</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hướng</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các</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vòng</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28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Trong</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vòng</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nếu</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gặp</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18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break</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vòng</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sẽ</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thoát</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ngay</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lập</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tức</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và</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chuyển</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đến</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các</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câu</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lệnh</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sau</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vòng</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800" b="0" i="0" u="none" strike="noStrike" cap="none" normalizeH="0" baseline="0" dirty="0" err="1">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lặp</a:t>
            </a:r>
            <a:r>
              <a:rPr kumimoji="0" lang="en-US" altLang="en-US" sz="2800" b="0" i="0" u="none" strike="noStrike" cap="none" normalizeH="0" baseline="0" dirty="0">
                <a:ln>
                  <a:noFill/>
                </a:ln>
                <a:solidFill>
                  <a:srgbClr val="5C0B26"/>
                </a:solidFill>
                <a:effectLst/>
                <a:latin typeface="Segoe UI" panose="020B0502040204020203" pitchFamily="34" charset="0"/>
                <a:ea typeface="Times New Roman" panose="02020603050405020304" pitchFamily="18" charset="0"/>
                <a:cs typeface="Segoe UI" panose="020B0502040204020203" pitchFamily="34" charset="0"/>
              </a:rPr>
              <a:t>.</a:t>
            </a:r>
            <a:endPar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Trong</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vòng</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lặp</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nếu</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gặp</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1800" b="0" i="0" u="none" strike="noStrike" cap="none" normalizeH="0" baseline="0" dirty="0">
                <a:ln>
                  <a:noFill/>
                </a:ln>
                <a:solidFill>
                  <a:srgbClr val="C22C72"/>
                </a:solidFill>
                <a:effectLst/>
                <a:latin typeface="Consolas" panose="020B0609020204030204" pitchFamily="49" charset="0"/>
                <a:ea typeface="Calibri" panose="020F0502020204030204" pitchFamily="34" charset="0"/>
                <a:cs typeface="Courier New" panose="02070309020205020404" pitchFamily="49" charset="0"/>
              </a:rPr>
              <a:t>continue</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thì</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tương</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đương</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việc</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đến</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cuối</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khối</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lệnh</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của</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lần</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lặp</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đó</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bắt</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đầu</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thực</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hiện</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lần</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lặp</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mới</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 </a:t>
            </a:r>
            <a:r>
              <a:rPr kumimoji="0" lang="en-US" altLang="en-US" sz="2400" b="0" i="0" u="none" strike="noStrike" cap="none" normalizeH="0" baseline="0" dirty="0" err="1">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ngay</a:t>
            </a:r>
            <a:r>
              <a:rPr kumimoji="0" lang="en-US" altLang="en-US" sz="2400" b="0" i="0" u="none" strike="noStrike" cap="none" normalizeH="0" baseline="0" dirty="0">
                <a:ln>
                  <a:noFill/>
                </a:ln>
                <a:solidFill>
                  <a:srgbClr val="5C0B26"/>
                </a:solidFill>
                <a:effectLst/>
                <a:latin typeface="Segoe UI" panose="020B0502040204020203" pitchFamily="34" charset="0"/>
                <a:ea typeface="Calibri" panose="020F0502020204030204" pitchFamily="34" charset="0"/>
                <a:cs typeface="Segoe UI" panose="020B0502040204020203" pitchFamily="34" charset="0"/>
              </a:rPr>
              <a:t>).</a:t>
            </a:r>
            <a:r>
              <a:rPr kumimoji="0" lang="en-US" altLang="en-US" sz="14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a:p>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//In </a:t>
            </a:r>
            <a:r>
              <a:rPr kumimoji="0" lang="en-US" altLang="en-US" sz="28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ra</a:t>
            </a:r>
            <a:r>
              <a:rPr kumimoji="0" lang="en-US" altLang="en-US" sz="28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các</a:t>
            </a:r>
            <a:r>
              <a:rPr kumimoji="0" lang="en-US" altLang="en-US" sz="28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8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chia </a:t>
            </a:r>
            <a:r>
              <a:rPr kumimoji="0" lang="en-US" altLang="en-US" sz="28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hết</a:t>
            </a:r>
            <a:r>
              <a:rPr kumimoji="0" lang="en-US" altLang="en-US" sz="28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cho</a:t>
            </a:r>
            <a:r>
              <a:rPr kumimoji="0" lang="en-US" altLang="en-US" sz="28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3</a:t>
            </a:r>
          </a:p>
          <a:p>
            <a:r>
              <a:rPr kumimoji="0" lang="en-US" altLang="en-US" sz="28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for</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8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&lt;= </a:t>
            </a:r>
            <a:r>
              <a:rPr kumimoji="0" lang="en-US" altLang="en-US" sz="28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20</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8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   </a:t>
            </a:r>
          </a:p>
          <a:p>
            <a:pPr lvl="1"/>
            <a:r>
              <a:rPr kumimoji="0" lang="en-US" altLang="en-US" sz="24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if</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4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4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0</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continue</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Chạy</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ngay</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vòng</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lặp</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tiếp</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4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4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4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4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4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pPr marL="201168" lvl="1" indent="0">
              <a:buNone/>
            </a:pP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12//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15//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18</a:t>
            </a:r>
            <a:endParaRPr kumimoji="0" lang="en-US" altLang="en-US" sz="4800" b="0" i="0" u="none" strike="noStrike" cap="none" normalizeH="0" baseline="0" dirty="0">
              <a:ln>
                <a:noFill/>
              </a:ln>
              <a:solidFill>
                <a:schemeClr val="tx1"/>
              </a:solidFill>
              <a:effectLst/>
              <a:latin typeface="Arial" panose="020B0604020202020204" pitchFamily="34" charset="0"/>
            </a:endParaRPr>
          </a:p>
          <a:p>
            <a:endParaRPr lang="en-US" sz="2800" dirty="0"/>
          </a:p>
        </p:txBody>
      </p:sp>
    </p:spTree>
    <p:extLst>
      <p:ext uri="{BB962C8B-B14F-4D97-AF65-F5344CB8AC3E}">
        <p14:creationId xmlns:p14="http://schemas.microsoft.com/office/powerpoint/2010/main" val="28032754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9EF1C-7F62-2782-F478-D937E33CC35F}"/>
              </a:ext>
            </a:extLst>
          </p:cNvPr>
          <p:cNvSpPr>
            <a:spLocks noGrp="1"/>
          </p:cNvSpPr>
          <p:nvPr>
            <p:ph type="title"/>
          </p:nvPr>
        </p:nvSpPr>
        <p:spPr/>
        <p:txBody>
          <a:bodyPr>
            <a:normAutofit/>
          </a:bodyPr>
          <a:lstStyle/>
          <a:p>
            <a:r>
              <a:rPr lang="en-US" sz="4000" b="0" dirty="0" err="1">
                <a:solidFill>
                  <a:srgbClr val="17A2B8"/>
                </a:solidFill>
                <a:effectLst/>
                <a:latin typeface="Segoe UI" panose="020B0502040204020203" pitchFamily="34" charset="0"/>
                <a:ea typeface="Times New Roman" panose="02020603050405020304" pitchFamily="18" charset="0"/>
              </a:rPr>
              <a:t>Lệnh</a:t>
            </a:r>
            <a:r>
              <a:rPr lang="en-US" sz="4000" b="0" dirty="0">
                <a:solidFill>
                  <a:srgbClr val="17A2B8"/>
                </a:solidFill>
                <a:effectLst/>
                <a:latin typeface="Segoe UI" panose="020B0502040204020203" pitchFamily="34" charset="0"/>
                <a:ea typeface="Times New Roman" panose="02020603050405020304" pitchFamily="18" charset="0"/>
              </a:rPr>
              <a:t> break </a:t>
            </a:r>
            <a:r>
              <a:rPr lang="en-US" sz="4000" b="0" dirty="0" err="1">
                <a:solidFill>
                  <a:srgbClr val="17A2B8"/>
                </a:solidFill>
                <a:effectLst/>
                <a:latin typeface="Segoe UI" panose="020B0502040204020203" pitchFamily="34" charset="0"/>
                <a:ea typeface="Times New Roman" panose="02020603050405020304" pitchFamily="18" charset="0"/>
              </a:rPr>
              <a:t>và</a:t>
            </a:r>
            <a:r>
              <a:rPr lang="en-US" sz="4000" b="0" dirty="0">
                <a:solidFill>
                  <a:srgbClr val="17A2B8"/>
                </a:solidFill>
                <a:effectLst/>
                <a:latin typeface="Segoe UI" panose="020B0502040204020203" pitchFamily="34" charset="0"/>
                <a:ea typeface="Times New Roman" panose="02020603050405020304" pitchFamily="18" charset="0"/>
              </a:rPr>
              <a:t> continue </a:t>
            </a:r>
            <a:r>
              <a:rPr lang="en-US" sz="4000" b="0" dirty="0" err="1">
                <a:solidFill>
                  <a:srgbClr val="17A2B8"/>
                </a:solidFill>
                <a:effectLst/>
                <a:latin typeface="Segoe UI" panose="020B0502040204020203" pitchFamily="34" charset="0"/>
                <a:ea typeface="Times New Roman" panose="02020603050405020304" pitchFamily="18" charset="0"/>
              </a:rPr>
              <a:t>trong</a:t>
            </a:r>
            <a:r>
              <a:rPr lang="en-US" sz="4000" b="0" dirty="0">
                <a:solidFill>
                  <a:srgbClr val="17A2B8"/>
                </a:solidFill>
                <a:effectLst/>
                <a:latin typeface="Segoe UI" panose="020B0502040204020203" pitchFamily="34" charset="0"/>
                <a:ea typeface="Times New Roman" panose="02020603050405020304" pitchFamily="18" charset="0"/>
              </a:rPr>
              <a:t> C#</a:t>
            </a:r>
            <a:endParaRPr lang="en-US" sz="8800" dirty="0"/>
          </a:p>
        </p:txBody>
      </p:sp>
      <p:sp>
        <p:nvSpPr>
          <p:cNvPr id="3" name="Content Placeholder 2">
            <a:extLst>
              <a:ext uri="{FF2B5EF4-FFF2-40B4-BE49-F238E27FC236}">
                <a16:creationId xmlns:a16="http://schemas.microsoft.com/office/drawing/2014/main" id="{A299389A-E1D4-F4DC-9514-7610E857F862}"/>
              </a:ext>
            </a:extLst>
          </p:cNvPr>
          <p:cNvSpPr>
            <a:spLocks noGrp="1"/>
          </p:cNvSpPr>
          <p:nvPr>
            <p:ph idx="1"/>
          </p:nvPr>
        </p:nvSpPr>
        <p:spPr/>
        <p:txBody>
          <a:bodyPr>
            <a:normAutofit fontScale="92500" lnSpcReduction="10000"/>
          </a:bodyPr>
          <a:lstStyle/>
          <a:p>
            <a:r>
              <a:rPr lang="en-US" sz="2800" dirty="0" err="1"/>
              <a:t>Ví</a:t>
            </a:r>
            <a:r>
              <a:rPr lang="en-US" sz="2800" dirty="0"/>
              <a:t> </a:t>
            </a:r>
            <a:r>
              <a:rPr lang="en-US" sz="2800" dirty="0" err="1"/>
              <a:t>dụ</a:t>
            </a:r>
            <a:r>
              <a:rPr lang="en-US" sz="2800" dirty="0"/>
              <a:t> in </a:t>
            </a:r>
            <a:r>
              <a:rPr lang="en-US" sz="2800" dirty="0" err="1"/>
              <a:t>ra</a:t>
            </a:r>
            <a:r>
              <a:rPr lang="en-US" sz="2800" dirty="0"/>
              <a:t> </a:t>
            </a:r>
            <a:r>
              <a:rPr lang="en-US" sz="2800" dirty="0" err="1"/>
              <a:t>các</a:t>
            </a:r>
            <a:r>
              <a:rPr lang="en-US" sz="2800" dirty="0"/>
              <a:t> </a:t>
            </a:r>
            <a:r>
              <a:rPr lang="en-US" sz="2800" dirty="0" err="1"/>
              <a:t>số</a:t>
            </a:r>
            <a:r>
              <a:rPr lang="en-US" sz="2800" dirty="0"/>
              <a:t> </a:t>
            </a:r>
            <a:r>
              <a:rPr lang="en-US" sz="2800" dirty="0" err="1"/>
              <a:t>từ</a:t>
            </a:r>
            <a:r>
              <a:rPr lang="en-US" sz="2800" dirty="0"/>
              <a:t> 1 </a:t>
            </a:r>
            <a:r>
              <a:rPr lang="en-US" sz="2800" dirty="0" err="1"/>
              <a:t>đến</a:t>
            </a:r>
            <a:r>
              <a:rPr lang="en-US" sz="2800" dirty="0"/>
              <a:t> 10</a:t>
            </a:r>
          </a:p>
          <a:p>
            <a:r>
              <a:rPr lang="en-US" sz="2800" dirty="0"/>
              <a:t>int </a:t>
            </a:r>
            <a:r>
              <a:rPr lang="en-US" sz="2800" dirty="0" err="1"/>
              <a:t>i</a:t>
            </a:r>
            <a:r>
              <a:rPr lang="en-US" sz="2800" dirty="0"/>
              <a:t> = 0;</a:t>
            </a:r>
          </a:p>
          <a:p>
            <a:r>
              <a:rPr lang="en-US" sz="2800" dirty="0">
                <a:solidFill>
                  <a:srgbClr val="0070C0"/>
                </a:solidFill>
              </a:rPr>
              <a:t>while</a:t>
            </a:r>
            <a:r>
              <a:rPr lang="en-US" sz="2800" dirty="0"/>
              <a:t> (true)</a:t>
            </a:r>
          </a:p>
          <a:p>
            <a:r>
              <a:rPr lang="en-US" sz="2800" dirty="0"/>
              <a:t>{</a:t>
            </a:r>
          </a:p>
          <a:p>
            <a:r>
              <a:rPr lang="en-US" sz="2800" dirty="0"/>
              <a:t>     </a:t>
            </a:r>
            <a:r>
              <a:rPr lang="en-US" sz="2800" dirty="0" err="1"/>
              <a:t>Console.Write</a:t>
            </a:r>
            <a:r>
              <a:rPr lang="en-US" sz="2800" dirty="0"/>
              <a:t>(" " + ++</a:t>
            </a:r>
            <a:r>
              <a:rPr lang="en-US" sz="2800" dirty="0" err="1"/>
              <a:t>i</a:t>
            </a:r>
            <a:r>
              <a:rPr lang="en-US" sz="2800" dirty="0"/>
              <a:t>);</a:t>
            </a:r>
          </a:p>
          <a:p>
            <a:r>
              <a:rPr lang="en-US" sz="2800" dirty="0"/>
              <a:t>     </a:t>
            </a:r>
            <a:r>
              <a:rPr lang="en-US" sz="2800" b="1" dirty="0">
                <a:solidFill>
                  <a:srgbClr val="0070C0"/>
                </a:solidFill>
              </a:rPr>
              <a:t>if</a:t>
            </a:r>
            <a:r>
              <a:rPr lang="en-US" sz="2800" dirty="0"/>
              <a:t> (</a:t>
            </a:r>
            <a:r>
              <a:rPr lang="en-US" sz="2800" dirty="0" err="1"/>
              <a:t>i</a:t>
            </a:r>
            <a:r>
              <a:rPr lang="en-US" sz="2800" dirty="0"/>
              <a:t> == 10)	 break;  // </a:t>
            </a:r>
            <a:r>
              <a:rPr lang="en-US" sz="2800" dirty="0" err="1"/>
              <a:t>Thoát</a:t>
            </a:r>
            <a:r>
              <a:rPr lang="en-US" sz="2800" dirty="0"/>
              <a:t> </a:t>
            </a:r>
            <a:r>
              <a:rPr lang="en-US" sz="2800" dirty="0" err="1"/>
              <a:t>lặp</a:t>
            </a:r>
            <a:endParaRPr lang="en-US" sz="2800" dirty="0"/>
          </a:p>
          <a:p>
            <a:r>
              <a:rPr lang="en-US" sz="2800" dirty="0"/>
              <a:t>} </a:t>
            </a:r>
          </a:p>
          <a:p>
            <a:r>
              <a:rPr lang="en-US" sz="2800" dirty="0"/>
              <a:t>// 1 2 3 4 5 6 7 8 9 10</a:t>
            </a:r>
          </a:p>
          <a:p>
            <a:endParaRPr lang="en-US" sz="2800" dirty="0"/>
          </a:p>
        </p:txBody>
      </p:sp>
    </p:spTree>
    <p:extLst>
      <p:ext uri="{BB962C8B-B14F-4D97-AF65-F5344CB8AC3E}">
        <p14:creationId xmlns:p14="http://schemas.microsoft.com/office/powerpoint/2010/main" val="24272005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590CD-D7F8-12CB-04D9-03E096917E17}"/>
              </a:ext>
            </a:extLst>
          </p:cNvPr>
          <p:cNvSpPr>
            <a:spLocks noGrp="1"/>
          </p:cNvSpPr>
          <p:nvPr>
            <p:ph type="title"/>
          </p:nvPr>
        </p:nvSpPr>
        <p:spPr/>
        <p:txBody>
          <a:bodyPr>
            <a:noAutofit/>
          </a:bodyPr>
          <a:lstStyle/>
          <a:p>
            <a:r>
              <a:rPr lang="en-US" sz="9600" i="1" dirty="0">
                <a:effectLst/>
                <a:latin typeface="Times New Roman" panose="02020603050405020304" pitchFamily="18" charset="0"/>
                <a:ea typeface="Times New Roman" panose="02020603050405020304" pitchFamily="18" charset="0"/>
              </a:rPr>
              <a:t>2.6	</a:t>
            </a:r>
            <a:r>
              <a:rPr lang="en-US" sz="9600" i="1" dirty="0" err="1">
                <a:effectLst/>
                <a:latin typeface="Times New Roman" panose="02020603050405020304" pitchFamily="18" charset="0"/>
                <a:ea typeface="Times New Roman" panose="02020603050405020304" pitchFamily="18" charset="0"/>
              </a:rPr>
              <a:t>Dữ</a:t>
            </a:r>
            <a:r>
              <a:rPr lang="en-US" sz="9600" i="1" dirty="0">
                <a:effectLst/>
                <a:latin typeface="Times New Roman" panose="02020603050405020304" pitchFamily="18" charset="0"/>
                <a:ea typeface="Times New Roman" panose="02020603050405020304" pitchFamily="18" charset="0"/>
              </a:rPr>
              <a:t> </a:t>
            </a:r>
            <a:r>
              <a:rPr lang="en-US" sz="9600" i="1" dirty="0" err="1">
                <a:effectLst/>
                <a:latin typeface="Times New Roman" panose="02020603050405020304" pitchFamily="18" charset="0"/>
                <a:ea typeface="Times New Roman" panose="02020603050405020304" pitchFamily="18" charset="0"/>
              </a:rPr>
              <a:t>liệu</a:t>
            </a:r>
            <a:r>
              <a:rPr lang="en-US" sz="9600" i="1" dirty="0">
                <a:effectLst/>
                <a:latin typeface="Times New Roman" panose="02020603050405020304" pitchFamily="18" charset="0"/>
                <a:ea typeface="Times New Roman" panose="02020603050405020304" pitchFamily="18" charset="0"/>
              </a:rPr>
              <a:t> </a:t>
            </a:r>
            <a:r>
              <a:rPr lang="en-US" sz="9600" i="1" dirty="0" err="1">
                <a:effectLst/>
                <a:latin typeface="Times New Roman" panose="02020603050405020304" pitchFamily="18" charset="0"/>
                <a:ea typeface="Times New Roman" panose="02020603050405020304" pitchFamily="18" charset="0"/>
              </a:rPr>
              <a:t>kiểu</a:t>
            </a:r>
            <a:r>
              <a:rPr lang="en-US" sz="9600" i="1" dirty="0">
                <a:effectLst/>
                <a:latin typeface="Times New Roman" panose="02020603050405020304" pitchFamily="18" charset="0"/>
                <a:ea typeface="Times New Roman" panose="02020603050405020304" pitchFamily="18" charset="0"/>
              </a:rPr>
              <a:t> </a:t>
            </a:r>
            <a:r>
              <a:rPr lang="en-US" sz="9600" i="1" dirty="0" err="1">
                <a:effectLst/>
                <a:latin typeface="Times New Roman" panose="02020603050405020304" pitchFamily="18" charset="0"/>
                <a:ea typeface="Times New Roman" panose="02020603050405020304" pitchFamily="18" charset="0"/>
              </a:rPr>
              <a:t>mảng</a:t>
            </a:r>
            <a:endParaRPr lang="en-US" sz="119500" dirty="0"/>
          </a:p>
        </p:txBody>
      </p:sp>
      <p:sp>
        <p:nvSpPr>
          <p:cNvPr id="3" name="Text Placeholder 2">
            <a:extLst>
              <a:ext uri="{FF2B5EF4-FFF2-40B4-BE49-F238E27FC236}">
                <a16:creationId xmlns:a16="http://schemas.microsoft.com/office/drawing/2014/main" id="{224CA22E-B326-1F29-9863-199A5070042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56435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F815E-9752-5717-BEC7-F7D378BB7B63}"/>
              </a:ext>
            </a:extLst>
          </p:cNvPr>
          <p:cNvSpPr>
            <a:spLocks noGrp="1"/>
          </p:cNvSpPr>
          <p:nvPr>
            <p:ph type="title"/>
          </p:nvPr>
        </p:nvSpPr>
        <p:spPr/>
        <p:txBody>
          <a:bodyPr/>
          <a:lstStyle/>
          <a:p>
            <a:r>
              <a:rPr lang="en-US" sz="4800" i="1" dirty="0">
                <a:solidFill>
                  <a:srgbClr val="0070C0"/>
                </a:solidFill>
                <a:effectLst/>
                <a:latin typeface="Times New Roman" panose="02020603050405020304" pitchFamily="18" charset="0"/>
                <a:ea typeface="Times New Roman" panose="02020603050405020304" pitchFamily="18" charset="0"/>
              </a:rPr>
              <a:t>2.6	</a:t>
            </a:r>
            <a:r>
              <a:rPr lang="en-US" sz="4800" i="1" dirty="0" err="1">
                <a:solidFill>
                  <a:srgbClr val="0070C0"/>
                </a:solidFill>
                <a:effectLst/>
                <a:latin typeface="Times New Roman" panose="02020603050405020304" pitchFamily="18" charset="0"/>
                <a:ea typeface="Times New Roman" panose="02020603050405020304" pitchFamily="18" charset="0"/>
              </a:rPr>
              <a:t>Dữ</a:t>
            </a:r>
            <a:r>
              <a:rPr lang="en-US" sz="4800" i="1" dirty="0">
                <a:solidFill>
                  <a:srgbClr val="0070C0"/>
                </a:solidFill>
                <a:effectLst/>
                <a:latin typeface="Times New Roman" panose="02020603050405020304" pitchFamily="18" charset="0"/>
                <a:ea typeface="Times New Roman" panose="02020603050405020304" pitchFamily="18" charset="0"/>
              </a:rPr>
              <a:t> </a:t>
            </a:r>
            <a:r>
              <a:rPr lang="en-US" sz="4800" i="1" dirty="0" err="1">
                <a:solidFill>
                  <a:srgbClr val="0070C0"/>
                </a:solidFill>
                <a:effectLst/>
                <a:latin typeface="Times New Roman" panose="02020603050405020304" pitchFamily="18" charset="0"/>
                <a:ea typeface="Times New Roman" panose="02020603050405020304" pitchFamily="18" charset="0"/>
              </a:rPr>
              <a:t>liệu</a:t>
            </a:r>
            <a:r>
              <a:rPr lang="en-US" sz="4800" i="1" dirty="0">
                <a:solidFill>
                  <a:srgbClr val="0070C0"/>
                </a:solidFill>
                <a:effectLst/>
                <a:latin typeface="Times New Roman" panose="02020603050405020304" pitchFamily="18" charset="0"/>
                <a:ea typeface="Times New Roman" panose="02020603050405020304" pitchFamily="18" charset="0"/>
              </a:rPr>
              <a:t> </a:t>
            </a:r>
            <a:r>
              <a:rPr lang="en-US" sz="4800" i="1" dirty="0" err="1">
                <a:solidFill>
                  <a:srgbClr val="0070C0"/>
                </a:solidFill>
                <a:effectLst/>
                <a:latin typeface="Times New Roman" panose="02020603050405020304" pitchFamily="18" charset="0"/>
                <a:ea typeface="Times New Roman" panose="02020603050405020304" pitchFamily="18" charset="0"/>
              </a:rPr>
              <a:t>kiểu</a:t>
            </a:r>
            <a:r>
              <a:rPr lang="en-US" sz="4800" i="1" dirty="0">
                <a:solidFill>
                  <a:srgbClr val="0070C0"/>
                </a:solidFill>
                <a:effectLst/>
                <a:latin typeface="Times New Roman" panose="02020603050405020304" pitchFamily="18" charset="0"/>
                <a:ea typeface="Times New Roman" panose="02020603050405020304" pitchFamily="18" charset="0"/>
              </a:rPr>
              <a:t> </a:t>
            </a:r>
            <a:r>
              <a:rPr lang="en-US" sz="4800" i="1" dirty="0" err="1">
                <a:solidFill>
                  <a:srgbClr val="0070C0"/>
                </a:solidFill>
                <a:effectLst/>
                <a:latin typeface="Times New Roman" panose="02020603050405020304" pitchFamily="18" charset="0"/>
                <a:ea typeface="Times New Roman" panose="02020603050405020304" pitchFamily="18" charset="0"/>
              </a:rPr>
              <a:t>mảng</a:t>
            </a:r>
            <a:r>
              <a:rPr lang="en-US" sz="4800" i="1" dirty="0">
                <a:solidFill>
                  <a:srgbClr val="0070C0"/>
                </a:solidFill>
                <a:effectLst/>
                <a:latin typeface="Times New Roman" panose="02020603050405020304" pitchFamily="18" charset="0"/>
                <a:ea typeface="Times New Roman" panose="02020603050405020304" pitchFamily="18" charset="0"/>
              </a:rPr>
              <a:t> </a:t>
            </a:r>
            <a:endParaRPr lang="en-US" dirty="0">
              <a:solidFill>
                <a:srgbClr val="0070C0"/>
              </a:solidFill>
            </a:endParaRPr>
          </a:p>
        </p:txBody>
      </p:sp>
      <p:sp>
        <p:nvSpPr>
          <p:cNvPr id="3" name="Content Placeholder 2">
            <a:extLst>
              <a:ext uri="{FF2B5EF4-FFF2-40B4-BE49-F238E27FC236}">
                <a16:creationId xmlns:a16="http://schemas.microsoft.com/office/drawing/2014/main" id="{A38993E4-8F5C-B3D1-AC86-196CA6CAD13C}"/>
              </a:ext>
            </a:extLst>
          </p:cNvPr>
          <p:cNvSpPr>
            <a:spLocks noGrp="1"/>
          </p:cNvSpPr>
          <p:nvPr>
            <p:ph idx="1"/>
          </p:nvPr>
        </p:nvSpPr>
        <p:spPr/>
        <p:txBody>
          <a:bodyPr>
            <a:normAutofit/>
          </a:bodyPr>
          <a:lstStyle/>
          <a:p>
            <a:pPr algn="just">
              <a:lnSpc>
                <a:spcPct val="100000"/>
              </a:lnSpc>
              <a:spcBef>
                <a:spcPts val="300"/>
              </a:spcBef>
              <a:spcAft>
                <a:spcPts val="300"/>
              </a:spcAft>
            </a:pPr>
            <a:r>
              <a:rPr lang="en-US" sz="4800" dirty="0">
                <a:solidFill>
                  <a:srgbClr val="0070C0"/>
                </a:solidFill>
                <a:effectLst/>
                <a:latin typeface="Times New Roman" panose="02020603050405020304" pitchFamily="18" charset="0"/>
                <a:ea typeface="Times New Roman" panose="02020603050405020304" pitchFamily="18" charset="0"/>
              </a:rPr>
              <a:t>2.6.1	</a:t>
            </a:r>
            <a:r>
              <a:rPr lang="en-US" sz="4800" dirty="0" err="1">
                <a:solidFill>
                  <a:srgbClr val="0070C0"/>
                </a:solidFill>
                <a:effectLst/>
                <a:latin typeface="Times New Roman" panose="02020603050405020304" pitchFamily="18" charset="0"/>
                <a:ea typeface="Times New Roman" panose="02020603050405020304" pitchFamily="18" charset="0"/>
              </a:rPr>
              <a:t>Mảng</a:t>
            </a:r>
            <a:r>
              <a:rPr lang="en-US" sz="4800" dirty="0">
                <a:solidFill>
                  <a:srgbClr val="0070C0"/>
                </a:solidFill>
                <a:effectLst/>
                <a:latin typeface="Times New Roman" panose="02020603050405020304" pitchFamily="18" charset="0"/>
                <a:ea typeface="Times New Roman" panose="02020603050405020304" pitchFamily="18" charset="0"/>
              </a:rPr>
              <a:t> </a:t>
            </a:r>
            <a:r>
              <a:rPr lang="en-US" sz="4800" dirty="0" err="1">
                <a:solidFill>
                  <a:srgbClr val="0070C0"/>
                </a:solidFill>
                <a:effectLst/>
                <a:latin typeface="Times New Roman" panose="02020603050405020304" pitchFamily="18" charset="0"/>
                <a:ea typeface="Times New Roman" panose="02020603050405020304" pitchFamily="18" charset="0"/>
              </a:rPr>
              <a:t>một</a:t>
            </a:r>
            <a:r>
              <a:rPr lang="en-US" sz="4800" dirty="0">
                <a:solidFill>
                  <a:srgbClr val="0070C0"/>
                </a:solidFill>
                <a:effectLst/>
                <a:latin typeface="Times New Roman" panose="02020603050405020304" pitchFamily="18" charset="0"/>
                <a:ea typeface="Times New Roman" panose="02020603050405020304" pitchFamily="18" charset="0"/>
              </a:rPr>
              <a:t> </a:t>
            </a:r>
            <a:r>
              <a:rPr lang="en-US" sz="4800" dirty="0" err="1">
                <a:solidFill>
                  <a:srgbClr val="0070C0"/>
                </a:solidFill>
                <a:effectLst/>
                <a:latin typeface="Times New Roman" panose="02020603050405020304" pitchFamily="18" charset="0"/>
                <a:ea typeface="Times New Roman" panose="02020603050405020304" pitchFamily="18" charset="0"/>
              </a:rPr>
              <a:t>chiều</a:t>
            </a:r>
            <a:r>
              <a:rPr lang="en-US" sz="4800" dirty="0">
                <a:solidFill>
                  <a:srgbClr val="0070C0"/>
                </a:solidFill>
                <a:effectLst/>
                <a:latin typeface="Times New Roman" panose="02020603050405020304" pitchFamily="18" charset="0"/>
                <a:ea typeface="Times New Roman" panose="02020603050405020304" pitchFamily="18" charset="0"/>
              </a:rPr>
              <a:t> </a:t>
            </a:r>
          </a:p>
          <a:p>
            <a:pPr algn="just">
              <a:lnSpc>
                <a:spcPct val="100000"/>
              </a:lnSpc>
              <a:spcBef>
                <a:spcPts val="300"/>
              </a:spcBef>
              <a:spcAft>
                <a:spcPts val="300"/>
              </a:spcAft>
            </a:pPr>
            <a:r>
              <a:rPr lang="en-US" sz="4800" dirty="0">
                <a:solidFill>
                  <a:srgbClr val="0070C0"/>
                </a:solidFill>
                <a:effectLst/>
                <a:latin typeface="Times New Roman" panose="02020603050405020304" pitchFamily="18" charset="0"/>
                <a:ea typeface="Times New Roman" panose="02020603050405020304" pitchFamily="18" charset="0"/>
              </a:rPr>
              <a:t>2.6.2	</a:t>
            </a:r>
            <a:r>
              <a:rPr lang="en-US" sz="4800" dirty="0" err="1">
                <a:solidFill>
                  <a:srgbClr val="0070C0"/>
                </a:solidFill>
                <a:effectLst/>
                <a:latin typeface="Times New Roman" panose="02020603050405020304" pitchFamily="18" charset="0"/>
                <a:ea typeface="Times New Roman" panose="02020603050405020304" pitchFamily="18" charset="0"/>
              </a:rPr>
              <a:t>Mảng</a:t>
            </a:r>
            <a:r>
              <a:rPr lang="en-US" sz="4800" dirty="0">
                <a:solidFill>
                  <a:srgbClr val="0070C0"/>
                </a:solidFill>
                <a:effectLst/>
                <a:latin typeface="Times New Roman" panose="02020603050405020304" pitchFamily="18" charset="0"/>
                <a:ea typeface="Times New Roman" panose="02020603050405020304" pitchFamily="18" charset="0"/>
              </a:rPr>
              <a:t> </a:t>
            </a:r>
            <a:r>
              <a:rPr lang="en-US" sz="4800" dirty="0" err="1">
                <a:solidFill>
                  <a:srgbClr val="0070C0"/>
                </a:solidFill>
                <a:effectLst/>
                <a:latin typeface="Times New Roman" panose="02020603050405020304" pitchFamily="18" charset="0"/>
                <a:ea typeface="Times New Roman" panose="02020603050405020304" pitchFamily="18" charset="0"/>
              </a:rPr>
              <a:t>nhiều</a:t>
            </a:r>
            <a:r>
              <a:rPr lang="en-US" sz="4800" dirty="0">
                <a:solidFill>
                  <a:srgbClr val="0070C0"/>
                </a:solidFill>
                <a:effectLst/>
                <a:latin typeface="Times New Roman" panose="02020603050405020304" pitchFamily="18" charset="0"/>
                <a:ea typeface="Times New Roman" panose="02020603050405020304" pitchFamily="18" charset="0"/>
              </a:rPr>
              <a:t> </a:t>
            </a:r>
            <a:r>
              <a:rPr lang="en-US" sz="4800" dirty="0" err="1">
                <a:solidFill>
                  <a:srgbClr val="0070C0"/>
                </a:solidFill>
                <a:effectLst/>
                <a:latin typeface="Times New Roman" panose="02020603050405020304" pitchFamily="18" charset="0"/>
                <a:ea typeface="Times New Roman" panose="02020603050405020304" pitchFamily="18" charset="0"/>
              </a:rPr>
              <a:t>chiều</a:t>
            </a:r>
            <a:r>
              <a:rPr lang="en-US" sz="4800" dirty="0">
                <a:solidFill>
                  <a:srgbClr val="0070C0"/>
                </a:solidFill>
                <a:effectLst/>
                <a:latin typeface="Times New Roman" panose="02020603050405020304" pitchFamily="18" charset="0"/>
                <a:ea typeface="Times New Roman" panose="02020603050405020304" pitchFamily="18" charset="0"/>
              </a:rPr>
              <a:t>.</a:t>
            </a:r>
          </a:p>
          <a:p>
            <a:pPr algn="just">
              <a:lnSpc>
                <a:spcPct val="100000"/>
              </a:lnSpc>
              <a:spcBef>
                <a:spcPts val="300"/>
              </a:spcBef>
              <a:spcAft>
                <a:spcPts val="300"/>
              </a:spcAft>
            </a:pPr>
            <a:r>
              <a:rPr lang="en-US" sz="4800" dirty="0">
                <a:solidFill>
                  <a:srgbClr val="0070C0"/>
                </a:solidFill>
                <a:effectLst/>
                <a:latin typeface="Times New Roman" panose="02020603050405020304" pitchFamily="18" charset="0"/>
                <a:ea typeface="Times New Roman" panose="02020603050405020304" pitchFamily="18" charset="0"/>
              </a:rPr>
              <a:t>2.6.3	</a:t>
            </a:r>
            <a:r>
              <a:rPr lang="en-US" sz="4800" dirty="0" err="1">
                <a:solidFill>
                  <a:srgbClr val="0070C0"/>
                </a:solidFill>
                <a:effectLst/>
                <a:latin typeface="Times New Roman" panose="02020603050405020304" pitchFamily="18" charset="0"/>
                <a:ea typeface="Times New Roman" panose="02020603050405020304" pitchFamily="18" charset="0"/>
              </a:rPr>
              <a:t>Mảng</a:t>
            </a:r>
            <a:r>
              <a:rPr lang="en-US" sz="4800" dirty="0">
                <a:solidFill>
                  <a:srgbClr val="0070C0"/>
                </a:solidFill>
                <a:effectLst/>
                <a:latin typeface="Times New Roman" panose="02020603050405020304" pitchFamily="18" charset="0"/>
                <a:ea typeface="Times New Roman" panose="02020603050405020304" pitchFamily="18" charset="0"/>
              </a:rPr>
              <a:t> </a:t>
            </a:r>
            <a:r>
              <a:rPr lang="en-US" sz="4800" dirty="0" err="1">
                <a:solidFill>
                  <a:srgbClr val="0070C0"/>
                </a:solidFill>
                <a:effectLst/>
                <a:latin typeface="Times New Roman" panose="02020603050405020304" pitchFamily="18" charset="0"/>
                <a:ea typeface="Times New Roman" panose="02020603050405020304" pitchFamily="18" charset="0"/>
              </a:rPr>
              <a:t>ziczac</a:t>
            </a:r>
            <a:endParaRPr lang="en-US" sz="4800" dirty="0">
              <a:solidFill>
                <a:srgbClr val="0070C0"/>
              </a:solidFill>
              <a:effectLst/>
              <a:latin typeface="Times New Roman" panose="02020603050405020304" pitchFamily="18" charset="0"/>
              <a:ea typeface="Times New Roman" panose="02020603050405020304" pitchFamily="18" charset="0"/>
            </a:endParaRPr>
          </a:p>
          <a:p>
            <a:pPr>
              <a:lnSpc>
                <a:spcPct val="100000"/>
              </a:lnSpc>
            </a:pPr>
            <a:endParaRPr lang="en-US" sz="5400" dirty="0">
              <a:solidFill>
                <a:srgbClr val="0070C0"/>
              </a:solidFill>
            </a:endParaRPr>
          </a:p>
        </p:txBody>
      </p:sp>
    </p:spTree>
    <p:extLst>
      <p:ext uri="{BB962C8B-B14F-4D97-AF65-F5344CB8AC3E}">
        <p14:creationId xmlns:p14="http://schemas.microsoft.com/office/powerpoint/2010/main" val="7018284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4AEDE-A460-1380-D584-71F50CB6164A}"/>
              </a:ext>
            </a:extLst>
          </p:cNvPr>
          <p:cNvSpPr>
            <a:spLocks noGrp="1"/>
          </p:cNvSpPr>
          <p:nvPr>
            <p:ph type="title"/>
          </p:nvPr>
        </p:nvSpPr>
        <p:spPr/>
        <p:txBody>
          <a:bodyPr/>
          <a:lstStyle/>
          <a:p>
            <a:r>
              <a:rPr lang="en-US" sz="8000" dirty="0">
                <a:solidFill>
                  <a:srgbClr val="0070C0"/>
                </a:solidFill>
                <a:effectLst/>
                <a:latin typeface="Times New Roman" panose="02020603050405020304" pitchFamily="18" charset="0"/>
                <a:ea typeface="Times New Roman" panose="02020603050405020304" pitchFamily="18" charset="0"/>
              </a:rPr>
              <a:t>2.6.1	</a:t>
            </a:r>
            <a:r>
              <a:rPr lang="en-US" sz="8000" dirty="0" err="1">
                <a:solidFill>
                  <a:srgbClr val="0070C0"/>
                </a:solidFill>
                <a:effectLst/>
                <a:latin typeface="Times New Roman" panose="02020603050405020304" pitchFamily="18" charset="0"/>
                <a:ea typeface="Times New Roman" panose="02020603050405020304" pitchFamily="18" charset="0"/>
              </a:rPr>
              <a:t>Mảng</a:t>
            </a:r>
            <a:r>
              <a:rPr lang="en-US" sz="8000" dirty="0">
                <a:solidFill>
                  <a:srgbClr val="0070C0"/>
                </a:solidFill>
                <a:effectLst/>
                <a:latin typeface="Times New Roman" panose="02020603050405020304" pitchFamily="18" charset="0"/>
                <a:ea typeface="Times New Roman" panose="02020603050405020304" pitchFamily="18" charset="0"/>
              </a:rPr>
              <a:t> </a:t>
            </a:r>
            <a:r>
              <a:rPr lang="en-US" sz="8000" dirty="0" err="1">
                <a:solidFill>
                  <a:srgbClr val="0070C0"/>
                </a:solidFill>
                <a:effectLst/>
                <a:latin typeface="Times New Roman" panose="02020603050405020304" pitchFamily="18" charset="0"/>
                <a:ea typeface="Times New Roman" panose="02020603050405020304" pitchFamily="18" charset="0"/>
              </a:rPr>
              <a:t>một</a:t>
            </a:r>
            <a:r>
              <a:rPr lang="en-US" sz="8000" dirty="0">
                <a:solidFill>
                  <a:srgbClr val="0070C0"/>
                </a:solidFill>
                <a:effectLst/>
                <a:latin typeface="Times New Roman" panose="02020603050405020304" pitchFamily="18" charset="0"/>
                <a:ea typeface="Times New Roman" panose="02020603050405020304" pitchFamily="18" charset="0"/>
              </a:rPr>
              <a:t> </a:t>
            </a:r>
            <a:r>
              <a:rPr lang="en-US" sz="8000" dirty="0" err="1">
                <a:solidFill>
                  <a:srgbClr val="0070C0"/>
                </a:solidFill>
                <a:effectLst/>
                <a:latin typeface="Times New Roman" panose="02020603050405020304" pitchFamily="18" charset="0"/>
                <a:ea typeface="Times New Roman" panose="02020603050405020304" pitchFamily="18" charset="0"/>
              </a:rPr>
              <a:t>chiều</a:t>
            </a:r>
            <a:r>
              <a:rPr lang="en-US" sz="8000" dirty="0">
                <a:solidFill>
                  <a:srgbClr val="0070C0"/>
                </a:solidFill>
                <a:effectLst/>
                <a:latin typeface="Times New Roman" panose="02020603050405020304" pitchFamily="18" charset="0"/>
                <a:ea typeface="Times New Roman" panose="02020603050405020304" pitchFamily="18" charset="0"/>
              </a:rPr>
              <a:t> </a:t>
            </a:r>
            <a:br>
              <a:rPr lang="en-US" sz="8000" dirty="0">
                <a:solidFill>
                  <a:srgbClr val="0070C0"/>
                </a:solidFill>
                <a:effectLst/>
                <a:latin typeface="Times New Roman" panose="02020603050405020304" pitchFamily="18" charset="0"/>
                <a:ea typeface="Times New Roman" panose="02020603050405020304" pitchFamily="18" charset="0"/>
              </a:rPr>
            </a:br>
            <a:endParaRPr lang="en-US" dirty="0"/>
          </a:p>
        </p:txBody>
      </p:sp>
      <p:sp>
        <p:nvSpPr>
          <p:cNvPr id="3" name="Text Placeholder 2">
            <a:extLst>
              <a:ext uri="{FF2B5EF4-FFF2-40B4-BE49-F238E27FC236}">
                <a16:creationId xmlns:a16="http://schemas.microsoft.com/office/drawing/2014/main" id="{56220C79-4F32-7107-6EB5-8FF9E0FA5C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853315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FAADB9-5525-F047-8ED1-FC6F857D5F16}"/>
              </a:ext>
            </a:extLst>
          </p:cNvPr>
          <p:cNvSpPr>
            <a:spLocks noGrp="1"/>
          </p:cNvSpPr>
          <p:nvPr>
            <p:ph type="title"/>
          </p:nvPr>
        </p:nvSpPr>
        <p:spPr/>
        <p:txBody>
          <a:bodyPr>
            <a:normAutofit/>
          </a:bodyPr>
          <a:lstStyle/>
          <a:p>
            <a:pPr algn="just">
              <a:lnSpc>
                <a:spcPct val="100000"/>
              </a:lnSpc>
              <a:spcBef>
                <a:spcPts val="300"/>
              </a:spcBef>
              <a:spcAft>
                <a:spcPts val="300"/>
              </a:spcAft>
            </a:pPr>
            <a:r>
              <a:rPr lang="en-US" sz="4400" dirty="0" err="1">
                <a:solidFill>
                  <a:srgbClr val="0070C0"/>
                </a:solidFill>
                <a:latin typeface="Times New Roman" panose="02020603050405020304" pitchFamily="18" charset="0"/>
                <a:ea typeface="Times New Roman" panose="02020603050405020304" pitchFamily="18" charset="0"/>
              </a:rPr>
              <a:t>Khai</a:t>
            </a:r>
            <a:r>
              <a:rPr lang="en-US" sz="4400" dirty="0">
                <a:solidFill>
                  <a:srgbClr val="0070C0"/>
                </a:solidFill>
                <a:latin typeface="Times New Roman" panose="02020603050405020304" pitchFamily="18" charset="0"/>
                <a:ea typeface="Times New Roman" panose="02020603050405020304" pitchFamily="18" charset="0"/>
              </a:rPr>
              <a:t> </a:t>
            </a:r>
            <a:r>
              <a:rPr lang="en-US" sz="4400" dirty="0" err="1">
                <a:solidFill>
                  <a:srgbClr val="0070C0"/>
                </a:solidFill>
                <a:latin typeface="Times New Roman" panose="02020603050405020304" pitchFamily="18" charset="0"/>
                <a:ea typeface="Times New Roman" panose="02020603050405020304" pitchFamily="18" charset="0"/>
              </a:rPr>
              <a:t>báo</a:t>
            </a:r>
            <a:r>
              <a:rPr lang="en-US" sz="4400" dirty="0">
                <a:solidFill>
                  <a:srgbClr val="0070C0"/>
                </a:solidFill>
                <a:latin typeface="Times New Roman" panose="02020603050405020304" pitchFamily="18" charset="0"/>
                <a:ea typeface="Times New Roman" panose="02020603050405020304" pitchFamily="18" charset="0"/>
              </a:rPr>
              <a:t> </a:t>
            </a:r>
            <a:r>
              <a:rPr lang="en-US" sz="4400" dirty="0" err="1">
                <a:solidFill>
                  <a:srgbClr val="0070C0"/>
                </a:solidFill>
                <a:latin typeface="Times New Roman" panose="02020603050405020304" pitchFamily="18" charset="0"/>
                <a:ea typeface="Times New Roman" panose="02020603050405020304" pitchFamily="18" charset="0"/>
              </a:rPr>
              <a:t>m</a:t>
            </a:r>
            <a:r>
              <a:rPr lang="en-US" sz="4400" dirty="0" err="1">
                <a:solidFill>
                  <a:srgbClr val="0070C0"/>
                </a:solidFill>
                <a:effectLst/>
                <a:latin typeface="Times New Roman" panose="02020603050405020304" pitchFamily="18" charset="0"/>
                <a:ea typeface="Times New Roman" panose="02020603050405020304" pitchFamily="18" charset="0"/>
              </a:rPr>
              <a:t>ảng</a:t>
            </a:r>
            <a:r>
              <a:rPr lang="en-US" sz="4400" dirty="0">
                <a:solidFill>
                  <a:srgbClr val="0070C0"/>
                </a:solidFill>
                <a:effectLst/>
                <a:latin typeface="Times New Roman" panose="02020603050405020304" pitchFamily="18" charset="0"/>
                <a:ea typeface="Times New Roman" panose="02020603050405020304" pitchFamily="18" charset="0"/>
              </a:rPr>
              <a:t> </a:t>
            </a:r>
            <a:r>
              <a:rPr lang="en-US" sz="4400" dirty="0" err="1">
                <a:solidFill>
                  <a:srgbClr val="0070C0"/>
                </a:solidFill>
                <a:effectLst/>
                <a:latin typeface="Times New Roman" panose="02020603050405020304" pitchFamily="18" charset="0"/>
                <a:ea typeface="Times New Roman" panose="02020603050405020304" pitchFamily="18" charset="0"/>
              </a:rPr>
              <a:t>một</a:t>
            </a:r>
            <a:r>
              <a:rPr lang="en-US" sz="4400" dirty="0">
                <a:solidFill>
                  <a:srgbClr val="0070C0"/>
                </a:solidFill>
                <a:effectLst/>
                <a:latin typeface="Times New Roman" panose="02020603050405020304" pitchFamily="18" charset="0"/>
                <a:ea typeface="Times New Roman" panose="02020603050405020304" pitchFamily="18" charset="0"/>
              </a:rPr>
              <a:t> </a:t>
            </a:r>
            <a:r>
              <a:rPr lang="en-US" sz="4400" dirty="0" err="1">
                <a:solidFill>
                  <a:srgbClr val="0070C0"/>
                </a:solidFill>
                <a:effectLst/>
                <a:latin typeface="Times New Roman" panose="02020603050405020304" pitchFamily="18" charset="0"/>
                <a:ea typeface="Times New Roman" panose="02020603050405020304" pitchFamily="18" charset="0"/>
              </a:rPr>
              <a:t>chiều</a:t>
            </a:r>
            <a:r>
              <a:rPr lang="en-US" sz="4400" dirty="0">
                <a:solidFill>
                  <a:srgbClr val="0070C0"/>
                </a:solidFill>
                <a:effectLst/>
                <a:latin typeface="Times New Roman" panose="02020603050405020304" pitchFamily="18" charset="0"/>
                <a:ea typeface="Times New Roman" panose="02020603050405020304" pitchFamily="18" charset="0"/>
              </a:rPr>
              <a:t> </a:t>
            </a:r>
          </a:p>
        </p:txBody>
      </p:sp>
      <p:sp>
        <p:nvSpPr>
          <p:cNvPr id="5" name="Content Placeholder 4">
            <a:extLst>
              <a:ext uri="{FF2B5EF4-FFF2-40B4-BE49-F238E27FC236}">
                <a16:creationId xmlns:a16="http://schemas.microsoft.com/office/drawing/2014/main" id="{E551CA5E-B9AC-92D2-1E19-B457C307E819}"/>
              </a:ext>
            </a:extLst>
          </p:cNvPr>
          <p:cNvSpPr>
            <a:spLocks noGrp="1"/>
          </p:cNvSpPr>
          <p:nvPr>
            <p:ph idx="1"/>
          </p:nvPr>
        </p:nvSpPr>
        <p:spPr/>
        <p:txBody>
          <a:bodyPr>
            <a:normAutofit/>
          </a:bodyPr>
          <a:lstStyle/>
          <a:p>
            <a:r>
              <a:rPr lang="en-US" sz="2500" dirty="0" err="1">
                <a:solidFill>
                  <a:srgbClr val="212529"/>
                </a:solidFill>
                <a:effectLst/>
                <a:latin typeface="Segoe UI" panose="020B0502040204020203" pitchFamily="34" charset="0"/>
                <a:ea typeface="Calibri" panose="020F0502020204030204" pitchFamily="34" charset="0"/>
              </a:rPr>
              <a:t>Cú</a:t>
            </a:r>
            <a:r>
              <a:rPr lang="en-US" sz="2500" dirty="0">
                <a:solidFill>
                  <a:srgbClr val="212529"/>
                </a:solidFill>
                <a:effectLst/>
                <a:latin typeface="Segoe UI" panose="020B0502040204020203" pitchFamily="34" charset="0"/>
                <a:ea typeface="Calibri" panose="020F0502020204030204" pitchFamily="34" charset="0"/>
              </a:rPr>
              <a:t> </a:t>
            </a:r>
            <a:r>
              <a:rPr lang="en-US" sz="2500" dirty="0" err="1">
                <a:solidFill>
                  <a:srgbClr val="212529"/>
                </a:solidFill>
                <a:effectLst/>
                <a:latin typeface="Segoe UI" panose="020B0502040204020203" pitchFamily="34" charset="0"/>
                <a:ea typeface="Calibri" panose="020F0502020204030204" pitchFamily="34" charset="0"/>
              </a:rPr>
              <a:t>pháp</a:t>
            </a:r>
            <a:r>
              <a:rPr lang="en-US" sz="2500" dirty="0">
                <a:solidFill>
                  <a:srgbClr val="212529"/>
                </a:solidFill>
                <a:effectLst/>
                <a:latin typeface="Segoe UI" panose="020B0502040204020203" pitchFamily="34" charset="0"/>
                <a:ea typeface="Calibri" panose="020F0502020204030204" pitchFamily="34" charset="0"/>
              </a:rPr>
              <a:t>:</a:t>
            </a:r>
          </a:p>
          <a:p>
            <a:r>
              <a:rPr lang="en-US" sz="2500" dirty="0" err="1">
                <a:solidFill>
                  <a:srgbClr val="212529"/>
                </a:solidFill>
                <a:latin typeface="Segoe UI" panose="020B0502040204020203" pitchFamily="34" charset="0"/>
                <a:ea typeface="Calibri" panose="020F0502020204030204" pitchFamily="34" charset="0"/>
              </a:rPr>
              <a:t>Kiểu_Dữ_Liệu</a:t>
            </a:r>
            <a:r>
              <a:rPr lang="en-US" sz="2500" dirty="0">
                <a:solidFill>
                  <a:srgbClr val="212529"/>
                </a:solidFill>
                <a:latin typeface="Segoe UI" panose="020B0502040204020203" pitchFamily="34" charset="0"/>
                <a:ea typeface="Calibri" panose="020F0502020204030204" pitchFamily="34" charset="0"/>
              </a:rPr>
              <a:t>[] </a:t>
            </a:r>
            <a:r>
              <a:rPr lang="en-US" sz="2500" dirty="0" err="1">
                <a:solidFill>
                  <a:srgbClr val="212529"/>
                </a:solidFill>
                <a:latin typeface="Segoe UI" panose="020B0502040204020203" pitchFamily="34" charset="0"/>
                <a:ea typeface="Calibri" panose="020F0502020204030204" pitchFamily="34" charset="0"/>
              </a:rPr>
              <a:t>Tên_Biến_Mảng</a:t>
            </a:r>
            <a:r>
              <a:rPr lang="en-US" sz="2500" dirty="0">
                <a:solidFill>
                  <a:srgbClr val="212529"/>
                </a:solidFill>
                <a:latin typeface="Segoe UI" panose="020B0502040204020203" pitchFamily="34" charset="0"/>
                <a:ea typeface="Calibri" panose="020F0502020204030204" pitchFamily="34" charset="0"/>
              </a:rPr>
              <a:t>;</a:t>
            </a:r>
            <a:endParaRPr lang="en-US" sz="2500" dirty="0">
              <a:solidFill>
                <a:srgbClr val="212529"/>
              </a:solidFill>
              <a:effectLst/>
              <a:latin typeface="Segoe UI" panose="020B0502040204020203" pitchFamily="34" charset="0"/>
              <a:ea typeface="Calibri" panose="020F0502020204030204" pitchFamily="34" charset="0"/>
            </a:endParaRPr>
          </a:p>
          <a:p>
            <a:r>
              <a:rPr lang="en-US" sz="2500" dirty="0" err="1"/>
              <a:t>Ví</a:t>
            </a:r>
            <a:r>
              <a:rPr lang="en-US" sz="2500" dirty="0"/>
              <a:t> </a:t>
            </a:r>
            <a:r>
              <a:rPr lang="en-US" sz="2500" dirty="0" err="1"/>
              <a:t>dụ</a:t>
            </a:r>
            <a:r>
              <a:rPr lang="en-US" sz="2500" dirty="0"/>
              <a:t>: </a:t>
            </a:r>
          </a:p>
          <a:p>
            <a:r>
              <a:rPr lang="vi-VN" sz="2500" dirty="0" err="1"/>
              <a:t>int</a:t>
            </a:r>
            <a:r>
              <a:rPr lang="vi-VN" sz="2500" dirty="0"/>
              <a:t>[] </a:t>
            </a:r>
            <a:r>
              <a:rPr lang="vi-VN" sz="2500" dirty="0" err="1"/>
              <a:t>bienMang</a:t>
            </a:r>
            <a:r>
              <a:rPr lang="vi-VN" sz="2500" dirty="0"/>
              <a:t>; // khai </a:t>
            </a:r>
            <a:r>
              <a:rPr lang="vi-VN" sz="2500" dirty="0" err="1"/>
              <a:t>báo</a:t>
            </a:r>
            <a:r>
              <a:rPr lang="vi-VN" sz="2500" dirty="0"/>
              <a:t> </a:t>
            </a:r>
            <a:r>
              <a:rPr lang="vi-VN" sz="2500" dirty="0" err="1"/>
              <a:t>biến</a:t>
            </a:r>
            <a:r>
              <a:rPr lang="vi-VN" sz="2500" dirty="0"/>
              <a:t> </a:t>
            </a:r>
            <a:r>
              <a:rPr lang="vi-VN" sz="2500" dirty="0" err="1"/>
              <a:t>mảng</a:t>
            </a:r>
            <a:r>
              <a:rPr lang="vi-VN" sz="2500" dirty="0"/>
              <a:t> </a:t>
            </a:r>
            <a:r>
              <a:rPr lang="vi-VN" sz="2500" dirty="0" err="1"/>
              <a:t>kiểu</a:t>
            </a:r>
            <a:r>
              <a:rPr lang="vi-VN" sz="2500" dirty="0"/>
              <a:t> </a:t>
            </a:r>
            <a:r>
              <a:rPr lang="vi-VN" sz="2500" dirty="0" err="1"/>
              <a:t>phần</a:t>
            </a:r>
            <a:r>
              <a:rPr lang="vi-VN" sz="2500" dirty="0"/>
              <a:t> </a:t>
            </a:r>
            <a:r>
              <a:rPr lang="vi-VN" sz="2500" dirty="0" err="1"/>
              <a:t>tử</a:t>
            </a:r>
            <a:r>
              <a:rPr lang="vi-VN" sz="2500" dirty="0"/>
              <a:t> </a:t>
            </a:r>
            <a:r>
              <a:rPr lang="vi-VN" sz="2500" dirty="0" err="1"/>
              <a:t>là</a:t>
            </a:r>
            <a:r>
              <a:rPr lang="vi-VN" sz="2500" dirty="0"/>
              <a:t> </a:t>
            </a:r>
            <a:r>
              <a:rPr lang="vi-VN" sz="2500" dirty="0" err="1"/>
              <a:t>int</a:t>
            </a:r>
            <a:r>
              <a:rPr lang="vi-VN" sz="2500" dirty="0"/>
              <a:t> (chưa </a:t>
            </a:r>
            <a:r>
              <a:rPr lang="vi-VN" sz="2500" dirty="0" err="1"/>
              <a:t>khởi</a:t>
            </a:r>
            <a:r>
              <a:rPr lang="vi-VN" sz="2500" dirty="0"/>
              <a:t> </a:t>
            </a:r>
            <a:r>
              <a:rPr lang="vi-VN" sz="2500" dirty="0" err="1"/>
              <a:t>tạo</a:t>
            </a:r>
            <a:r>
              <a:rPr lang="vi-VN" sz="2500" dirty="0"/>
              <a:t>)</a:t>
            </a:r>
            <a:endParaRPr lang="en-US" sz="2500" dirty="0"/>
          </a:p>
        </p:txBody>
      </p:sp>
    </p:spTree>
    <p:extLst>
      <p:ext uri="{BB962C8B-B14F-4D97-AF65-F5344CB8AC3E}">
        <p14:creationId xmlns:p14="http://schemas.microsoft.com/office/powerpoint/2010/main" val="36787498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D596-6E99-3E65-687A-A3120A0FADD5}"/>
              </a:ext>
            </a:extLst>
          </p:cNvPr>
          <p:cNvSpPr>
            <a:spLocks noGrp="1"/>
          </p:cNvSpPr>
          <p:nvPr>
            <p:ph type="title"/>
          </p:nvPr>
        </p:nvSpPr>
        <p:spPr/>
        <p:txBody>
          <a:bodyPr>
            <a:normAutofit/>
          </a:bodyPr>
          <a:lstStyle/>
          <a:p>
            <a:r>
              <a:rPr lang="en-US" b="0" dirty="0" err="1">
                <a:solidFill>
                  <a:srgbClr val="17A2B8"/>
                </a:solidFill>
                <a:effectLst/>
                <a:latin typeface="Segoe UI" panose="020B0502040204020203" pitchFamily="34" charset="0"/>
                <a:ea typeface="Times New Roman" panose="02020603050405020304" pitchFamily="18" charset="0"/>
              </a:rPr>
              <a:t>Khởi</a:t>
            </a:r>
            <a:r>
              <a:rPr lang="en-US" b="0" dirty="0">
                <a:solidFill>
                  <a:srgbClr val="17A2B8"/>
                </a:solidFill>
                <a:effectLst/>
                <a:latin typeface="Segoe UI" panose="020B0502040204020203" pitchFamily="34" charset="0"/>
                <a:ea typeface="Times New Roman" panose="02020603050405020304" pitchFamily="18" charset="0"/>
              </a:rPr>
              <a:t> </a:t>
            </a:r>
            <a:r>
              <a:rPr lang="en-US" b="0" dirty="0" err="1">
                <a:solidFill>
                  <a:srgbClr val="17A2B8"/>
                </a:solidFill>
                <a:effectLst/>
                <a:latin typeface="Segoe UI" panose="020B0502040204020203" pitchFamily="34" charset="0"/>
                <a:ea typeface="Times New Roman" panose="02020603050405020304" pitchFamily="18" charset="0"/>
              </a:rPr>
              <a:t>tạo</a:t>
            </a:r>
            <a:r>
              <a:rPr lang="en-US" b="0" dirty="0">
                <a:solidFill>
                  <a:srgbClr val="17A2B8"/>
                </a:solidFill>
                <a:effectLst/>
                <a:latin typeface="Segoe UI" panose="020B0502040204020203" pitchFamily="34" charset="0"/>
                <a:ea typeface="Times New Roman" panose="02020603050405020304" pitchFamily="18" charset="0"/>
              </a:rPr>
              <a:t> </a:t>
            </a:r>
            <a:r>
              <a:rPr lang="en-US" b="0" dirty="0" err="1">
                <a:solidFill>
                  <a:srgbClr val="17A2B8"/>
                </a:solidFill>
                <a:effectLst/>
                <a:latin typeface="Segoe UI" panose="020B0502040204020203" pitchFamily="34" charset="0"/>
                <a:ea typeface="Times New Roman" panose="02020603050405020304" pitchFamily="18" charset="0"/>
              </a:rPr>
              <a:t>mảng</a:t>
            </a:r>
            <a:r>
              <a:rPr lang="en-US" b="0" dirty="0">
                <a:solidFill>
                  <a:srgbClr val="17A2B8"/>
                </a:solidFill>
                <a:effectLst/>
                <a:latin typeface="Segoe UI" panose="020B0502040204020203" pitchFamily="34" charset="0"/>
                <a:ea typeface="Times New Roman" panose="02020603050405020304" pitchFamily="18" charset="0"/>
              </a:rPr>
              <a:t> 1 </a:t>
            </a:r>
            <a:r>
              <a:rPr lang="en-US" b="0" dirty="0" err="1">
                <a:solidFill>
                  <a:srgbClr val="17A2B8"/>
                </a:solidFill>
                <a:effectLst/>
                <a:latin typeface="Segoe UI" panose="020B0502040204020203" pitchFamily="34" charset="0"/>
                <a:ea typeface="Times New Roman" panose="02020603050405020304" pitchFamily="18" charset="0"/>
              </a:rPr>
              <a:t>chiều</a:t>
            </a:r>
            <a:endParaRPr lang="en-US" sz="11500" b="1" dirty="0"/>
          </a:p>
        </p:txBody>
      </p:sp>
      <p:sp>
        <p:nvSpPr>
          <p:cNvPr id="3" name="Content Placeholder 2">
            <a:extLst>
              <a:ext uri="{FF2B5EF4-FFF2-40B4-BE49-F238E27FC236}">
                <a16:creationId xmlns:a16="http://schemas.microsoft.com/office/drawing/2014/main" id="{E3F4B0A7-0B90-460D-8E77-58000ED3485B}"/>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Cách</a:t>
            </a:r>
            <a:r>
              <a:rPr kumimoji="0" lang="en-US" altLang="en-US" sz="2000" b="1"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int[]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bienMang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new</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5</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string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studentNames</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new</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string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US" altLang="en-US" sz="1600" b="0" i="0" u="none" strike="noStrike" cap="none" normalizeH="0" baseline="0" dirty="0">
              <a:ln>
                <a:noFill/>
              </a:ln>
              <a:solidFill>
                <a:schemeClr val="tx1"/>
              </a:solidFill>
              <a:effectLst/>
            </a:endParaRPr>
          </a:p>
          <a:p>
            <a:pPr marL="0" indent="0">
              <a:buNone/>
            </a:pPr>
            <a:r>
              <a:rPr kumimoji="0" lang="en-US" altLang="en-US" sz="2000" b="1"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Cách</a:t>
            </a:r>
            <a:r>
              <a:rPr kumimoji="0" lang="en-US" altLang="en-US" sz="2000" b="1"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2:</a:t>
            </a:r>
          </a:p>
          <a:p>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mảng</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3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phần</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tử</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chuỗi</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ký</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tự</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mỗi</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phần</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tử</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được</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gán</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ngay</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giá</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trị</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chuỗi</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cụ</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thể</a:t>
            </a:r>
            <a:endPar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endParaRPr>
          </a:p>
          <a:p>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string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productNames</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new</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string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Iphone</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"Samsung"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"Nokia"</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mảng</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3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phần</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tử</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double,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mỗi</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phần</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tử</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được</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gán</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giá</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trị</a:t>
            </a:r>
            <a:r>
              <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luôn</a:t>
            </a:r>
            <a:endParaRPr kumimoji="0" lang="en-US" altLang="en-US" sz="20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endParaRPr>
          </a:p>
          <a:p>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double</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productPrices</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new</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double</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200.5</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10.1</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32732241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4D2B-927F-1CFB-BCC6-BD7E68B79625}"/>
              </a:ext>
            </a:extLst>
          </p:cNvPr>
          <p:cNvSpPr>
            <a:spLocks noGrp="1"/>
          </p:cNvSpPr>
          <p:nvPr>
            <p:ph type="title"/>
          </p:nvPr>
        </p:nvSpPr>
        <p:spPr/>
        <p:txBody>
          <a:bodyPr/>
          <a:lstStyle/>
          <a:p>
            <a:r>
              <a:rPr lang="en-US" b="0" dirty="0" err="1">
                <a:solidFill>
                  <a:srgbClr val="17A2B8"/>
                </a:solidFill>
                <a:effectLst/>
                <a:latin typeface="Segoe UI" panose="020B0502040204020203" pitchFamily="34" charset="0"/>
                <a:ea typeface="Times New Roman" panose="02020603050405020304" pitchFamily="18" charset="0"/>
              </a:rPr>
              <a:t>Khởi</a:t>
            </a:r>
            <a:r>
              <a:rPr lang="en-US" b="0" dirty="0">
                <a:solidFill>
                  <a:srgbClr val="17A2B8"/>
                </a:solidFill>
                <a:effectLst/>
                <a:latin typeface="Segoe UI" panose="020B0502040204020203" pitchFamily="34" charset="0"/>
                <a:ea typeface="Times New Roman" panose="02020603050405020304" pitchFamily="18" charset="0"/>
              </a:rPr>
              <a:t> </a:t>
            </a:r>
            <a:r>
              <a:rPr lang="en-US" b="0" dirty="0" err="1">
                <a:solidFill>
                  <a:srgbClr val="17A2B8"/>
                </a:solidFill>
                <a:effectLst/>
                <a:latin typeface="Segoe UI" panose="020B0502040204020203" pitchFamily="34" charset="0"/>
                <a:ea typeface="Times New Roman" panose="02020603050405020304" pitchFamily="18" charset="0"/>
              </a:rPr>
              <a:t>tạo</a:t>
            </a:r>
            <a:r>
              <a:rPr lang="en-US" b="0" dirty="0">
                <a:solidFill>
                  <a:srgbClr val="17A2B8"/>
                </a:solidFill>
                <a:effectLst/>
                <a:latin typeface="Segoe UI" panose="020B0502040204020203" pitchFamily="34" charset="0"/>
                <a:ea typeface="Times New Roman" panose="02020603050405020304" pitchFamily="18" charset="0"/>
              </a:rPr>
              <a:t> </a:t>
            </a:r>
            <a:r>
              <a:rPr lang="en-US" b="0" dirty="0" err="1">
                <a:solidFill>
                  <a:srgbClr val="17A2B8"/>
                </a:solidFill>
                <a:effectLst/>
                <a:latin typeface="Segoe UI" panose="020B0502040204020203" pitchFamily="34" charset="0"/>
                <a:ea typeface="Times New Roman" panose="02020603050405020304" pitchFamily="18" charset="0"/>
              </a:rPr>
              <a:t>mảng</a:t>
            </a:r>
            <a:r>
              <a:rPr lang="en-US" b="0" dirty="0">
                <a:solidFill>
                  <a:srgbClr val="17A2B8"/>
                </a:solidFill>
                <a:effectLst/>
                <a:latin typeface="Segoe UI" panose="020B0502040204020203" pitchFamily="34" charset="0"/>
                <a:ea typeface="Times New Roman" panose="02020603050405020304" pitchFamily="18" charset="0"/>
              </a:rPr>
              <a:t> 1 </a:t>
            </a:r>
            <a:r>
              <a:rPr lang="en-US" b="0" dirty="0" err="1">
                <a:solidFill>
                  <a:srgbClr val="17A2B8"/>
                </a:solidFill>
                <a:effectLst/>
                <a:latin typeface="Segoe UI" panose="020B0502040204020203" pitchFamily="34" charset="0"/>
                <a:ea typeface="Times New Roman" panose="02020603050405020304" pitchFamily="18" charset="0"/>
              </a:rPr>
              <a:t>chiều</a:t>
            </a:r>
            <a:endParaRPr lang="en-US" dirty="0"/>
          </a:p>
        </p:txBody>
      </p:sp>
      <p:sp>
        <p:nvSpPr>
          <p:cNvPr id="3" name="Content Placeholder 2">
            <a:extLst>
              <a:ext uri="{FF2B5EF4-FFF2-40B4-BE49-F238E27FC236}">
                <a16:creationId xmlns:a16="http://schemas.microsoft.com/office/drawing/2014/main" id="{31593A67-BBA6-1CDC-91E8-E6C7714AF14E}"/>
              </a:ext>
            </a:extLst>
          </p:cNvPr>
          <p:cNvSpPr>
            <a:spLocks noGrp="1"/>
          </p:cNvSpPr>
          <p:nvPr>
            <p:ph idx="1"/>
          </p:nvPr>
        </p:nvSpPr>
        <p:spPr/>
        <p:txBody>
          <a:bodyPr/>
          <a:lstStyle/>
          <a:p>
            <a:r>
              <a:rPr kumimoji="0" lang="en-US" altLang="en-US" b="1" i="0" u="none" strike="noStrike" cap="none" normalizeH="0" baseline="0" dirty="0" err="1">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Cách</a:t>
            </a:r>
            <a:r>
              <a:rPr kumimoji="0" lang="en-US" altLang="en-US" b="1"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 3:</a:t>
            </a:r>
          </a:p>
          <a:p>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string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productNames</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new</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string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Iphone</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"Samsung"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"Nokia"</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double</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productPrices</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new</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double</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200.5</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10.1</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US" altLang="en-US" sz="4400" b="0" i="0" u="none" strike="noStrike" cap="none" normalizeH="0" baseline="0" dirty="0">
              <a:ln>
                <a:noFill/>
              </a:ln>
              <a:solidFill>
                <a:schemeClr val="tx1"/>
              </a:solidFill>
              <a:effectLst/>
              <a:latin typeface="Arial" panose="020B0604020202020204" pitchFamily="34" charset="0"/>
            </a:endParaRPr>
          </a:p>
          <a:p>
            <a:r>
              <a:rPr lang="en-US" b="1" dirty="0" err="1"/>
              <a:t>Cách</a:t>
            </a:r>
            <a:r>
              <a:rPr lang="en-US" b="1" dirty="0"/>
              <a:t> 4:</a:t>
            </a:r>
          </a:p>
          <a:p>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string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productNames</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err="1">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Iphone</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"Samsung"</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"Nokia"</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double</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productPrices</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200.5</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10.1</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28333885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14DC2-6579-4008-9CD9-DBCC115527BA}"/>
              </a:ext>
            </a:extLst>
          </p:cNvPr>
          <p:cNvSpPr>
            <a:spLocks noGrp="1"/>
          </p:cNvSpPr>
          <p:nvPr>
            <p:ph type="title"/>
          </p:nvPr>
        </p:nvSpPr>
        <p:spPr/>
        <p:txBody>
          <a:bodyPr>
            <a:normAutofit/>
          </a:bodyPr>
          <a:lstStyle/>
          <a:p>
            <a:r>
              <a:rPr lang="en-US" sz="3600" b="0" dirty="0" err="1">
                <a:solidFill>
                  <a:srgbClr val="17A2B8"/>
                </a:solidFill>
                <a:effectLst/>
                <a:latin typeface="Segoe UI" panose="020B0502040204020203" pitchFamily="34" charset="0"/>
                <a:ea typeface="Times New Roman" panose="02020603050405020304" pitchFamily="18" charset="0"/>
              </a:rPr>
              <a:t>Truy</a:t>
            </a:r>
            <a:r>
              <a:rPr lang="en-US" sz="3600" b="0" dirty="0">
                <a:solidFill>
                  <a:srgbClr val="17A2B8"/>
                </a:solidFill>
                <a:effectLst/>
                <a:latin typeface="Segoe UI" panose="020B0502040204020203" pitchFamily="34" charset="0"/>
                <a:ea typeface="Times New Roman" panose="02020603050405020304" pitchFamily="18" charset="0"/>
              </a:rPr>
              <a:t> </a:t>
            </a:r>
            <a:r>
              <a:rPr lang="en-US" sz="3600" b="0" dirty="0" err="1">
                <a:solidFill>
                  <a:srgbClr val="17A2B8"/>
                </a:solidFill>
                <a:effectLst/>
                <a:latin typeface="Segoe UI" panose="020B0502040204020203" pitchFamily="34" charset="0"/>
                <a:ea typeface="Times New Roman" panose="02020603050405020304" pitchFamily="18" charset="0"/>
              </a:rPr>
              <a:t>cập</a:t>
            </a:r>
            <a:r>
              <a:rPr lang="en-US" sz="3600" b="0" dirty="0">
                <a:solidFill>
                  <a:srgbClr val="17A2B8"/>
                </a:solidFill>
                <a:effectLst/>
                <a:latin typeface="Segoe UI" panose="020B0502040204020203" pitchFamily="34" charset="0"/>
                <a:ea typeface="Times New Roman" panose="02020603050405020304" pitchFamily="18" charset="0"/>
              </a:rPr>
              <a:t> </a:t>
            </a:r>
            <a:r>
              <a:rPr lang="en-US" sz="3600" b="0" dirty="0" err="1">
                <a:solidFill>
                  <a:srgbClr val="17A2B8"/>
                </a:solidFill>
                <a:effectLst/>
                <a:latin typeface="Segoe UI" panose="020B0502040204020203" pitchFamily="34" charset="0"/>
                <a:ea typeface="Times New Roman" panose="02020603050405020304" pitchFamily="18" charset="0"/>
              </a:rPr>
              <a:t>phần</a:t>
            </a:r>
            <a:r>
              <a:rPr lang="en-US" sz="3600" b="0" dirty="0">
                <a:solidFill>
                  <a:srgbClr val="17A2B8"/>
                </a:solidFill>
                <a:effectLst/>
                <a:latin typeface="Segoe UI" panose="020B0502040204020203" pitchFamily="34" charset="0"/>
                <a:ea typeface="Times New Roman" panose="02020603050405020304" pitchFamily="18" charset="0"/>
              </a:rPr>
              <a:t> </a:t>
            </a:r>
            <a:r>
              <a:rPr lang="en-US" sz="3600" b="0" dirty="0" err="1">
                <a:solidFill>
                  <a:srgbClr val="17A2B8"/>
                </a:solidFill>
                <a:effectLst/>
                <a:latin typeface="Segoe UI" panose="020B0502040204020203" pitchFamily="34" charset="0"/>
                <a:ea typeface="Times New Roman" panose="02020603050405020304" pitchFamily="18" charset="0"/>
              </a:rPr>
              <a:t>tử</a:t>
            </a:r>
            <a:r>
              <a:rPr lang="en-US" sz="3600" b="0" dirty="0">
                <a:solidFill>
                  <a:srgbClr val="17A2B8"/>
                </a:solidFill>
                <a:effectLst/>
                <a:latin typeface="Segoe UI" panose="020B0502040204020203" pitchFamily="34" charset="0"/>
                <a:ea typeface="Times New Roman" panose="02020603050405020304" pitchFamily="18" charset="0"/>
              </a:rPr>
              <a:t> </a:t>
            </a:r>
            <a:r>
              <a:rPr lang="en-US" sz="3600" b="0" dirty="0" err="1">
                <a:solidFill>
                  <a:srgbClr val="17A2B8"/>
                </a:solidFill>
                <a:effectLst/>
                <a:latin typeface="Segoe UI" panose="020B0502040204020203" pitchFamily="34" charset="0"/>
                <a:ea typeface="Times New Roman" panose="02020603050405020304" pitchFamily="18" charset="0"/>
              </a:rPr>
              <a:t>mảng</a:t>
            </a:r>
            <a:r>
              <a:rPr lang="en-US" sz="3600" b="0" dirty="0">
                <a:solidFill>
                  <a:srgbClr val="17A2B8"/>
                </a:solidFill>
                <a:effectLst/>
                <a:latin typeface="Segoe UI" panose="020B0502040204020203" pitchFamily="34" charset="0"/>
                <a:ea typeface="Times New Roman" panose="02020603050405020304" pitchFamily="18" charset="0"/>
              </a:rPr>
              <a:t> 1 </a:t>
            </a:r>
            <a:r>
              <a:rPr lang="en-US" sz="3600" b="0" dirty="0" err="1">
                <a:solidFill>
                  <a:srgbClr val="17A2B8"/>
                </a:solidFill>
                <a:effectLst/>
                <a:latin typeface="Segoe UI" panose="020B0502040204020203" pitchFamily="34" charset="0"/>
                <a:ea typeface="Times New Roman" panose="02020603050405020304" pitchFamily="18" charset="0"/>
              </a:rPr>
              <a:t>chiều</a:t>
            </a:r>
            <a:endParaRPr lang="en-US" sz="8000" dirty="0"/>
          </a:p>
        </p:txBody>
      </p:sp>
      <p:sp>
        <p:nvSpPr>
          <p:cNvPr id="3" name="Content Placeholder 2">
            <a:extLst>
              <a:ext uri="{FF2B5EF4-FFF2-40B4-BE49-F238E27FC236}">
                <a16:creationId xmlns:a16="http://schemas.microsoft.com/office/drawing/2014/main" id="{33937D46-BAD9-72E5-9C32-D82DF13014F3}"/>
              </a:ext>
            </a:extLst>
          </p:cNvPr>
          <p:cNvSpPr>
            <a:spLocks noGrp="1"/>
          </p:cNvSpPr>
          <p:nvPr>
            <p:ph idx="1"/>
          </p:nvPr>
        </p:nvSpPr>
        <p:spPr/>
        <p:txBody>
          <a:bodyPr>
            <a:normAutofit fontScale="925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Các</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phần</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tử</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mảng</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được</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truy</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cập</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thông</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qua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ký</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hiệu</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16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biến-mảng</a:t>
            </a:r>
            <a:r>
              <a:rPr kumimoji="0" lang="en-US" altLang="en-US" sz="16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6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chỉ-số</a:t>
            </a:r>
            <a:r>
              <a:rPr kumimoji="0" lang="en-US" altLang="en-US" sz="16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trong</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đó</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1600" b="0" i="0" u="none" strike="noStrike" cap="none" normalizeH="0" baseline="0" dirty="0" err="1">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chỉ-số</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là</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thứ</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tự</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của</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phần</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tử</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trong</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mảng</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các</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phần</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tử</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mảng</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có</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chỉ</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số</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từ</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1600" b="0" i="0" u="none" strike="noStrike" cap="none" normalizeH="0" baseline="0" dirty="0">
                <a:ln>
                  <a:noFill/>
                </a:ln>
                <a:solidFill>
                  <a:srgbClr val="C22C72"/>
                </a:solidFill>
                <a:effectLst/>
                <a:latin typeface="Consolas" panose="020B0609020204030204" pitchFamily="49" charset="0"/>
                <a:ea typeface="Times New Roman" panose="02020603050405020304" pitchFamily="18" charset="0"/>
                <a:cs typeface="Courier New" panose="02070309020205020404" pitchFamily="49" charset="0"/>
              </a:rPr>
              <a:t>0</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trở</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err="1">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đi</a:t>
            </a:r>
            <a:r>
              <a:rPr kumimoji="0" lang="en-US"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16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16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myArray</a:t>
            </a:r>
            <a:r>
              <a:rPr kumimoji="0" lang="en-US" altLang="en-US" sz="16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16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a:t>
            </a:r>
            <a:r>
              <a:rPr kumimoji="0" lang="en-US" altLang="en-US" sz="16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6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kumimoji="0" lang="en-US" altLang="en-US" sz="16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6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5</a:t>
            </a:r>
            <a:r>
              <a:rPr kumimoji="0" lang="en-US" altLang="en-US" sz="16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6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19</a:t>
            </a:r>
            <a:r>
              <a:rPr kumimoji="0" lang="en-US" altLang="en-US" sz="16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444444"/>
              </a:solidFill>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444444"/>
              </a:solidFill>
              <a:effectLst/>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444444"/>
              </a:solidFill>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444444"/>
              </a:solidFill>
              <a:effectLst/>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444444"/>
              </a:solidFill>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444444"/>
              </a:solidFill>
              <a:effectLst/>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444444"/>
              </a:solidFill>
              <a:latin typeface="Consolas" panose="020B060902020403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444444"/>
              </a:solidFill>
              <a:effectLst/>
              <a:latin typeface="Consolas" panose="020B0609020204030204" pitchFamily="49" charset="0"/>
              <a:cs typeface="Courier New" panose="02070309020205020404" pitchFamily="49" charset="0"/>
            </a:endParaRPr>
          </a:p>
          <a:p>
            <a:pPr marL="0" indent="0" eaLnBrk="0" fontAlgn="base" hangingPunct="0">
              <a:lnSpc>
                <a:spcPct val="100000"/>
              </a:lnSpc>
              <a:spcBef>
                <a:spcPct val="0"/>
              </a:spcBef>
              <a:spcAft>
                <a:spcPct val="0"/>
              </a:spcAft>
              <a:buClrTx/>
              <a:buSzTx/>
              <a:buNone/>
            </a:pPr>
            <a:r>
              <a:rPr kumimoji="0" lang="en-US" altLang="en-US" sz="24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 = </a:t>
            </a:r>
            <a:r>
              <a:rPr kumimoji="0" lang="en-US" altLang="en-US" sz="24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myArray</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4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p>
          <a:p>
            <a:pPr marL="0" indent="0" eaLnBrk="0" fontAlgn="base" hangingPunct="0">
              <a:lnSpc>
                <a:spcPct val="100000"/>
              </a:lnSpc>
              <a:spcBef>
                <a:spcPct val="0"/>
              </a:spcBef>
              <a:spcAft>
                <a:spcPct val="0"/>
              </a:spcAft>
              <a:buClrTx/>
              <a:buSzTx/>
              <a:buNone/>
            </a:pP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đọc</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phần</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tử</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chỉ</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2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phần</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tử</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thứ</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3)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của</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mảng</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  5</a:t>
            </a:r>
          </a:p>
          <a:p>
            <a:pPr marL="0" indent="0" eaLnBrk="0" fontAlgn="base" hangingPunct="0">
              <a:lnSpc>
                <a:spcPct val="100000"/>
              </a:lnSpc>
              <a:spcBef>
                <a:spcPct val="0"/>
              </a:spcBef>
              <a:spcAft>
                <a:spcPct val="0"/>
              </a:spcAft>
              <a:buClrTx/>
              <a:buSzTx/>
              <a:buNone/>
            </a:pPr>
            <a:r>
              <a:rPr kumimoji="0" lang="en-US" altLang="en-US" sz="24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myArray</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4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4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100</a:t>
            </a:r>
            <a:r>
              <a:rPr kumimoji="0" lang="en-US" altLang="en-US" sz="24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p>
          <a:p>
            <a:pPr marL="0" indent="0" eaLnBrk="0" fontAlgn="base" hangingPunct="0">
              <a:lnSpc>
                <a:spcPct val="100000"/>
              </a:lnSpc>
              <a:spcBef>
                <a:spcPct val="0"/>
              </a:spcBef>
              <a:spcAft>
                <a:spcPct val="0"/>
              </a:spcAft>
              <a:buClrTx/>
              <a:buSzTx/>
              <a:buNone/>
            </a:pP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Gán</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100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vào</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phần</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tử</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có</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chỉ</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số</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3, 19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thay</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thế</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400" b="0" i="0" u="none" strike="noStrike" cap="none" normalizeH="0" baseline="0" dirty="0" err="1">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bởi</a:t>
            </a:r>
            <a:r>
              <a:rPr kumimoji="0" lang="en-US" altLang="en-US" sz="2400" b="0" i="0" u="none" strike="noStrike" cap="none" normalizeH="0" baseline="0" dirty="0">
                <a:ln>
                  <a:noFill/>
                </a:ln>
                <a:solidFill>
                  <a:srgbClr val="697070"/>
                </a:solidFill>
                <a:effectLst/>
                <a:latin typeface="Consolas" panose="020B0609020204030204" pitchFamily="49" charset="0"/>
                <a:ea typeface="Times New Roman" panose="02020603050405020304" pitchFamily="18" charset="0"/>
                <a:cs typeface="Courier New" panose="02070309020205020404" pitchFamily="49" charset="0"/>
              </a:rPr>
              <a:t> 100</a:t>
            </a:r>
            <a:endParaRPr kumimoji="0" lang="en-US" altLang="en-US"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endParaRPr lang="en-US" dirty="0"/>
          </a:p>
        </p:txBody>
      </p:sp>
      <p:graphicFrame>
        <p:nvGraphicFramePr>
          <p:cNvPr id="5" name="Table 4">
            <a:extLst>
              <a:ext uri="{FF2B5EF4-FFF2-40B4-BE49-F238E27FC236}">
                <a16:creationId xmlns:a16="http://schemas.microsoft.com/office/drawing/2014/main" id="{28C82BB3-6708-6E83-FAA2-373DFC1B5DB8}"/>
              </a:ext>
            </a:extLst>
          </p:cNvPr>
          <p:cNvGraphicFramePr>
            <a:graphicFrameLocks noGrp="1"/>
          </p:cNvGraphicFramePr>
          <p:nvPr>
            <p:extLst>
              <p:ext uri="{D42A27DB-BD31-4B8C-83A1-F6EECF244321}">
                <p14:modId xmlns:p14="http://schemas.microsoft.com/office/powerpoint/2010/main" val="448393203"/>
              </p:ext>
            </p:extLst>
          </p:nvPr>
        </p:nvGraphicFramePr>
        <p:xfrm>
          <a:off x="1097280" y="2939624"/>
          <a:ext cx="6305235" cy="1367283"/>
        </p:xfrm>
        <a:graphic>
          <a:graphicData uri="http://schemas.openxmlformats.org/drawingml/2006/table">
            <a:tbl>
              <a:tblPr firstRow="1" firstCol="1" bandRow="1">
                <a:tableStyleId>{5C22544A-7EE6-4342-B048-85BDC9FD1C3A}</a:tableStyleId>
              </a:tblPr>
              <a:tblGrid>
                <a:gridCol w="1261047">
                  <a:extLst>
                    <a:ext uri="{9D8B030D-6E8A-4147-A177-3AD203B41FA5}">
                      <a16:colId xmlns:a16="http://schemas.microsoft.com/office/drawing/2014/main" val="234046576"/>
                    </a:ext>
                  </a:extLst>
                </a:gridCol>
                <a:gridCol w="1261047">
                  <a:extLst>
                    <a:ext uri="{9D8B030D-6E8A-4147-A177-3AD203B41FA5}">
                      <a16:colId xmlns:a16="http://schemas.microsoft.com/office/drawing/2014/main" val="2621128304"/>
                    </a:ext>
                  </a:extLst>
                </a:gridCol>
                <a:gridCol w="1261047">
                  <a:extLst>
                    <a:ext uri="{9D8B030D-6E8A-4147-A177-3AD203B41FA5}">
                      <a16:colId xmlns:a16="http://schemas.microsoft.com/office/drawing/2014/main" val="3959340106"/>
                    </a:ext>
                  </a:extLst>
                </a:gridCol>
                <a:gridCol w="1261047">
                  <a:extLst>
                    <a:ext uri="{9D8B030D-6E8A-4147-A177-3AD203B41FA5}">
                      <a16:colId xmlns:a16="http://schemas.microsoft.com/office/drawing/2014/main" val="1396445597"/>
                    </a:ext>
                  </a:extLst>
                </a:gridCol>
                <a:gridCol w="1261047">
                  <a:extLst>
                    <a:ext uri="{9D8B030D-6E8A-4147-A177-3AD203B41FA5}">
                      <a16:colId xmlns:a16="http://schemas.microsoft.com/office/drawing/2014/main" val="957996142"/>
                    </a:ext>
                  </a:extLst>
                </a:gridCol>
              </a:tblGrid>
              <a:tr h="309563">
                <a:tc>
                  <a:txBody>
                    <a:bodyPr/>
                    <a:lstStyle/>
                    <a:p>
                      <a:pPr>
                        <a:lnSpc>
                          <a:spcPct val="107000"/>
                        </a:lnSpc>
                        <a:spcAft>
                          <a:spcPts val="800"/>
                        </a:spcAft>
                      </a:pPr>
                      <a:r>
                        <a:rPr lang="en-US" sz="2800">
                          <a:effectLst/>
                        </a:rPr>
                        <a:t>chỉ số</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800">
                          <a:effectLst/>
                        </a:rPr>
                        <a:t>[0]</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800">
                          <a:effectLst/>
                        </a:rPr>
                        <a:t>[1]</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800">
                          <a:effectLst/>
                        </a:rPr>
                        <a:t>[2]</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800">
                          <a:effectLst/>
                        </a:rPr>
                        <a:t>[3]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444093616"/>
                  </a:ext>
                </a:extLst>
              </a:tr>
              <a:tr h="309563">
                <a:tc>
                  <a:txBody>
                    <a:bodyPr/>
                    <a:lstStyle/>
                    <a:p>
                      <a:pPr>
                        <a:lnSpc>
                          <a:spcPct val="107000"/>
                        </a:lnSpc>
                        <a:spcAft>
                          <a:spcPts val="800"/>
                        </a:spcAft>
                      </a:pPr>
                      <a:r>
                        <a:rPr lang="en-US" sz="2800">
                          <a:effectLst/>
                        </a:rPr>
                        <a:t>giá trị phần tử</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800">
                          <a:effectLst/>
                        </a:rPr>
                        <a:t>1</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800">
                          <a:effectLst/>
                        </a:rPr>
                        <a:t>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800">
                          <a:effectLst/>
                        </a:rPr>
                        <a:t>5</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800" dirty="0">
                          <a:effectLst/>
                        </a:rPr>
                        <a:t>19</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673758201"/>
                  </a:ext>
                </a:extLst>
              </a:tr>
            </a:tbl>
          </a:graphicData>
        </a:graphic>
      </p:graphicFrame>
      <p:sp>
        <p:nvSpPr>
          <p:cNvPr id="6" name="Rectangle 2">
            <a:extLst>
              <a:ext uri="{FF2B5EF4-FFF2-40B4-BE49-F238E27FC236}">
                <a16:creationId xmlns:a16="http://schemas.microsoft.com/office/drawing/2014/main" id="{DE1CFCDA-2004-40CB-D780-5A78AFC50336}"/>
              </a:ext>
            </a:extLst>
          </p:cNvPr>
          <p:cNvSpPr>
            <a:spLocks noChangeArrowheads="1"/>
          </p:cNvSpPr>
          <p:nvPr/>
        </p:nvSpPr>
        <p:spPr bwMode="auto">
          <a:xfrm flipV="1">
            <a:off x="-1634970" y="3667124"/>
            <a:ext cx="1779254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325131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1E21-E580-83F1-C8D0-1CDE260C921C}"/>
              </a:ext>
            </a:extLst>
          </p:cNvPr>
          <p:cNvSpPr>
            <a:spLocks noGrp="1"/>
          </p:cNvSpPr>
          <p:nvPr>
            <p:ph type="title"/>
          </p:nvPr>
        </p:nvSpPr>
        <p:spPr>
          <a:xfrm>
            <a:off x="1097280" y="286603"/>
            <a:ext cx="10058400" cy="963077"/>
          </a:xfrm>
        </p:spPr>
        <p:txBody>
          <a:bodyPr>
            <a:normAutofit/>
          </a:bodyPr>
          <a:lstStyle/>
          <a:p>
            <a:pPr algn="ctr"/>
            <a:r>
              <a:rPr lang="en-US" sz="4000" b="0" dirty="0" err="1">
                <a:solidFill>
                  <a:srgbClr val="17A2B8"/>
                </a:solidFill>
                <a:effectLst/>
                <a:latin typeface="Segoe UI" panose="020B0502040204020203" pitchFamily="34" charset="0"/>
                <a:ea typeface="Times New Roman" panose="02020603050405020304" pitchFamily="18" charset="0"/>
              </a:rPr>
              <a:t>Thuộc</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tính</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và</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phương</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thức</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đối</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tượng</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mảng</a:t>
            </a:r>
            <a:endParaRPr lang="en-US" sz="8800" dirty="0"/>
          </a:p>
        </p:txBody>
      </p:sp>
      <p:sp>
        <p:nvSpPr>
          <p:cNvPr id="3" name="Content Placeholder 2">
            <a:extLst>
              <a:ext uri="{FF2B5EF4-FFF2-40B4-BE49-F238E27FC236}">
                <a16:creationId xmlns:a16="http://schemas.microsoft.com/office/drawing/2014/main" id="{B28C97DE-A87C-D343-5A3D-E3797B4B372E}"/>
              </a:ext>
            </a:extLst>
          </p:cNvPr>
          <p:cNvSpPr>
            <a:spLocks noGrp="1"/>
          </p:cNvSpPr>
          <p:nvPr>
            <p:ph idx="1"/>
          </p:nvPr>
        </p:nvSpPr>
        <p:spPr>
          <a:xfrm>
            <a:off x="1097280" y="1571414"/>
            <a:ext cx="10058400" cy="4023360"/>
          </a:xfrm>
        </p:spPr>
        <p:txBody>
          <a:bodyPr/>
          <a:lstStyle/>
          <a:p>
            <a:r>
              <a:rPr lang="en-US" sz="2400" dirty="0" err="1">
                <a:solidFill>
                  <a:srgbClr val="212529"/>
                </a:solidFill>
                <a:effectLst/>
                <a:latin typeface="Segoe UI" panose="020B0502040204020203" pitchFamily="34" charset="0"/>
                <a:ea typeface="Times New Roman" panose="02020603050405020304" pitchFamily="18" charset="0"/>
              </a:rPr>
              <a:t>Các</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biến</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mảng</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tạo</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ra</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từ</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lớp</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cơ</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sở</a:t>
            </a:r>
            <a:r>
              <a:rPr lang="en-US" sz="2400" dirty="0">
                <a:solidFill>
                  <a:srgbClr val="212529"/>
                </a:solidFill>
                <a:effectLst/>
                <a:latin typeface="Segoe UI" panose="020B0502040204020203" pitchFamily="34" charset="0"/>
                <a:ea typeface="Times New Roman" panose="02020603050405020304" pitchFamily="18" charset="0"/>
              </a:rPr>
              <a:t>  </a:t>
            </a:r>
            <a:r>
              <a:rPr lang="en-US" sz="2400" u="sng" dirty="0" err="1">
                <a:solidFill>
                  <a:srgbClr val="3F51B5"/>
                </a:solidFill>
                <a:effectLst/>
                <a:latin typeface="Segoe UI" panose="020B0502040204020203" pitchFamily="34" charset="0"/>
                <a:ea typeface="Times New Roman" panose="02020603050405020304" pitchFamily="18" charset="0"/>
                <a:hlinkClick r:id="rId3"/>
              </a:rPr>
              <a:t>System.Array</a:t>
            </a:r>
            <a:endParaRPr lang="en-US" sz="2400" u="sng" dirty="0">
              <a:solidFill>
                <a:srgbClr val="212529"/>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dirty="0"/>
          </a:p>
        </p:txBody>
      </p:sp>
      <p:graphicFrame>
        <p:nvGraphicFramePr>
          <p:cNvPr id="4" name="Table 3">
            <a:extLst>
              <a:ext uri="{FF2B5EF4-FFF2-40B4-BE49-F238E27FC236}">
                <a16:creationId xmlns:a16="http://schemas.microsoft.com/office/drawing/2014/main" id="{B005BF9C-EF81-A7AB-B4F8-AECC573FC11A}"/>
              </a:ext>
            </a:extLst>
          </p:cNvPr>
          <p:cNvGraphicFramePr>
            <a:graphicFrameLocks noGrp="1"/>
          </p:cNvGraphicFramePr>
          <p:nvPr>
            <p:extLst>
              <p:ext uri="{D42A27DB-BD31-4B8C-83A1-F6EECF244321}">
                <p14:modId xmlns:p14="http://schemas.microsoft.com/office/powerpoint/2010/main" val="590386211"/>
              </p:ext>
            </p:extLst>
          </p:nvPr>
        </p:nvGraphicFramePr>
        <p:xfrm>
          <a:off x="1097280" y="2540000"/>
          <a:ext cx="7827328" cy="3535871"/>
        </p:xfrm>
        <a:graphic>
          <a:graphicData uri="http://schemas.openxmlformats.org/drawingml/2006/table">
            <a:tbl>
              <a:tblPr firstRow="1" firstCol="1" bandRow="1">
                <a:tableStyleId>{5C22544A-7EE6-4342-B048-85BDC9FD1C3A}</a:tableStyleId>
              </a:tblPr>
              <a:tblGrid>
                <a:gridCol w="2569124">
                  <a:extLst>
                    <a:ext uri="{9D8B030D-6E8A-4147-A177-3AD203B41FA5}">
                      <a16:colId xmlns:a16="http://schemas.microsoft.com/office/drawing/2014/main" val="3608688815"/>
                    </a:ext>
                  </a:extLst>
                </a:gridCol>
                <a:gridCol w="5258204">
                  <a:extLst>
                    <a:ext uri="{9D8B030D-6E8A-4147-A177-3AD203B41FA5}">
                      <a16:colId xmlns:a16="http://schemas.microsoft.com/office/drawing/2014/main" val="596245237"/>
                    </a:ext>
                  </a:extLst>
                </a:gridCol>
              </a:tblGrid>
              <a:tr h="105113">
                <a:tc>
                  <a:txBody>
                    <a:bodyPr/>
                    <a:lstStyle/>
                    <a:p>
                      <a:pPr algn="ctr">
                        <a:lnSpc>
                          <a:spcPct val="107000"/>
                        </a:lnSpc>
                        <a:spcAft>
                          <a:spcPts val="800"/>
                        </a:spcAft>
                      </a:pPr>
                      <a:r>
                        <a:rPr lang="en-US" sz="2400" dirty="0">
                          <a:effectLst/>
                        </a:rPr>
                        <a:t>Member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gn="ctr">
                        <a:lnSpc>
                          <a:spcPct val="107000"/>
                        </a:lnSpc>
                        <a:spcAft>
                          <a:spcPts val="800"/>
                        </a:spcAft>
                      </a:pPr>
                      <a:r>
                        <a:rPr lang="en-US" sz="2400">
                          <a:effectLst/>
                        </a:rPr>
                        <a:t>Nội dung</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4217663142"/>
                  </a:ext>
                </a:extLst>
              </a:tr>
              <a:tr h="254873">
                <a:tc>
                  <a:txBody>
                    <a:bodyPr/>
                    <a:lstStyle/>
                    <a:p>
                      <a:pPr>
                        <a:lnSpc>
                          <a:spcPct val="107000"/>
                        </a:lnSpc>
                        <a:spcAft>
                          <a:spcPts val="800"/>
                        </a:spcAft>
                      </a:pPr>
                      <a:r>
                        <a:rPr lang="en-US" sz="2000" dirty="0">
                          <a:effectLst/>
                        </a:rPr>
                        <a:t>Length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400">
                          <a:effectLst/>
                        </a:rPr>
                        <a:t>Thuộc tính cho biết số lượng phần tử trong mảng</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3236816"/>
                  </a:ext>
                </a:extLst>
              </a:tr>
              <a:tr h="254873">
                <a:tc>
                  <a:txBody>
                    <a:bodyPr/>
                    <a:lstStyle/>
                    <a:p>
                      <a:pPr>
                        <a:lnSpc>
                          <a:spcPct val="107000"/>
                        </a:lnSpc>
                        <a:spcAft>
                          <a:spcPts val="800"/>
                        </a:spcAft>
                      </a:pPr>
                      <a:r>
                        <a:rPr lang="en-US" sz="2000" dirty="0">
                          <a:effectLst/>
                        </a:rPr>
                        <a:t>Rank</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400">
                          <a:effectLst/>
                        </a:rPr>
                        <a:t>Thuộc tính cho biết số chiều mảng</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465151219"/>
                  </a:ext>
                </a:extLst>
              </a:tr>
              <a:tr h="254873">
                <a:tc>
                  <a:txBody>
                    <a:bodyPr/>
                    <a:lstStyle/>
                    <a:p>
                      <a:pPr>
                        <a:lnSpc>
                          <a:spcPct val="107000"/>
                        </a:lnSpc>
                        <a:spcAft>
                          <a:spcPts val="800"/>
                        </a:spcAft>
                      </a:pPr>
                      <a:r>
                        <a:rPr lang="en-US" sz="2000">
                          <a:effectLst/>
                        </a:rPr>
                        <a:t>Clone()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400" dirty="0">
                          <a:effectLst/>
                        </a:rPr>
                        <a:t>Copy (</a:t>
                      </a:r>
                      <a:r>
                        <a:rPr lang="en-US" sz="2400" dirty="0" err="1">
                          <a:effectLst/>
                        </a:rPr>
                        <a:t>nhân</a:t>
                      </a:r>
                      <a:r>
                        <a:rPr lang="en-US" sz="2400" dirty="0">
                          <a:effectLst/>
                        </a:rPr>
                        <a:t> </a:t>
                      </a:r>
                      <a:r>
                        <a:rPr lang="en-US" sz="2400" dirty="0" err="1">
                          <a:effectLst/>
                        </a:rPr>
                        <a:t>bản</a:t>
                      </a:r>
                      <a:r>
                        <a:rPr lang="en-US" sz="2400" dirty="0">
                          <a:effectLst/>
                        </a:rPr>
                        <a:t>) </a:t>
                      </a:r>
                      <a:r>
                        <a:rPr lang="en-US" sz="2400" dirty="0" err="1">
                          <a:effectLst/>
                        </a:rPr>
                        <a:t>đối</a:t>
                      </a:r>
                      <a:r>
                        <a:rPr lang="en-US" sz="2400" dirty="0">
                          <a:effectLst/>
                        </a:rPr>
                        <a:t> </a:t>
                      </a:r>
                      <a:r>
                        <a:rPr lang="en-US" sz="2400" dirty="0" err="1">
                          <a:effectLst/>
                        </a:rPr>
                        <a:t>tượng</a:t>
                      </a:r>
                      <a:r>
                        <a:rPr lang="en-US" sz="2400" dirty="0">
                          <a:effectLst/>
                        </a:rPr>
                        <a:t> </a:t>
                      </a:r>
                      <a:r>
                        <a:rPr lang="en-US" sz="2400" dirty="0" err="1">
                          <a:effectLst/>
                        </a:rPr>
                        <a:t>mảng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765021234"/>
                  </a:ext>
                </a:extLst>
              </a:tr>
              <a:tr h="254873">
                <a:tc>
                  <a:txBody>
                    <a:bodyPr/>
                    <a:lstStyle/>
                    <a:p>
                      <a:pPr>
                        <a:lnSpc>
                          <a:spcPct val="107000"/>
                        </a:lnSpc>
                        <a:spcAft>
                          <a:spcPts val="800"/>
                        </a:spcAft>
                      </a:pPr>
                      <a:r>
                        <a:rPr lang="en-US" sz="2000">
                          <a:effectLst/>
                        </a:rPr>
                        <a:t>GetValue(index)</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400" dirty="0" err="1">
                          <a:effectLst/>
                        </a:rPr>
                        <a:t>Lấy</a:t>
                      </a:r>
                      <a:r>
                        <a:rPr lang="en-US" sz="2400" dirty="0">
                          <a:effectLst/>
                        </a:rPr>
                        <a:t> </a:t>
                      </a:r>
                      <a:r>
                        <a:rPr lang="en-US" sz="2400" dirty="0" err="1">
                          <a:effectLst/>
                        </a:rPr>
                        <a:t>giá</a:t>
                      </a:r>
                      <a:r>
                        <a:rPr lang="en-US" sz="2400" dirty="0">
                          <a:effectLst/>
                        </a:rPr>
                        <a:t> </a:t>
                      </a:r>
                      <a:r>
                        <a:rPr lang="en-US" sz="2400" dirty="0" err="1">
                          <a:effectLst/>
                        </a:rPr>
                        <a:t>trị</a:t>
                      </a:r>
                      <a:r>
                        <a:rPr lang="en-US" sz="2400" dirty="0">
                          <a:effectLst/>
                        </a:rPr>
                        <a:t> </a:t>
                      </a:r>
                      <a:r>
                        <a:rPr lang="en-US" sz="2400" dirty="0" err="1">
                          <a:effectLst/>
                        </a:rPr>
                        <a:t>phần</a:t>
                      </a:r>
                      <a:r>
                        <a:rPr lang="en-US" sz="2400" dirty="0">
                          <a:effectLst/>
                        </a:rPr>
                        <a:t> </a:t>
                      </a:r>
                      <a:r>
                        <a:rPr lang="en-US" sz="2400" dirty="0" err="1">
                          <a:effectLst/>
                        </a:rPr>
                        <a:t>tử</a:t>
                      </a:r>
                      <a:r>
                        <a:rPr lang="en-US" sz="2400" dirty="0">
                          <a:effectLst/>
                        </a:rPr>
                        <a:t> </a:t>
                      </a:r>
                      <a:r>
                        <a:rPr lang="en-US" sz="2400" dirty="0" err="1">
                          <a:effectLst/>
                        </a:rPr>
                        <a:t>trong</a:t>
                      </a:r>
                      <a:r>
                        <a:rPr lang="en-US" sz="2400" dirty="0">
                          <a:effectLst/>
                        </a:rPr>
                        <a:t> </a:t>
                      </a:r>
                      <a:r>
                        <a:rPr lang="en-US" sz="2400" dirty="0" err="1">
                          <a:effectLst/>
                        </a:rPr>
                        <a:t>mảng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36021368"/>
                  </a:ext>
                </a:extLst>
              </a:tr>
              <a:tr h="254873">
                <a:tc>
                  <a:txBody>
                    <a:bodyPr/>
                    <a:lstStyle/>
                    <a:p>
                      <a:pPr>
                        <a:lnSpc>
                          <a:spcPct val="107000"/>
                        </a:lnSpc>
                        <a:spcAft>
                          <a:spcPts val="800"/>
                        </a:spcAft>
                      </a:pPr>
                      <a:r>
                        <a:rPr lang="en-US" sz="2000">
                          <a:effectLst/>
                        </a:rPr>
                        <a:t>Min()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400" dirty="0" err="1">
                          <a:effectLst/>
                        </a:rPr>
                        <a:t>Trả</a:t>
                      </a:r>
                      <a:r>
                        <a:rPr lang="en-US" sz="2400" dirty="0">
                          <a:effectLst/>
                        </a:rPr>
                        <a:t> </a:t>
                      </a:r>
                      <a:r>
                        <a:rPr lang="en-US" sz="2400" dirty="0" err="1">
                          <a:effectLst/>
                        </a:rPr>
                        <a:t>về</a:t>
                      </a:r>
                      <a:r>
                        <a:rPr lang="en-US" sz="2400" dirty="0">
                          <a:effectLst/>
                        </a:rPr>
                        <a:t> </a:t>
                      </a:r>
                      <a:r>
                        <a:rPr lang="en-US" sz="2400" dirty="0" err="1">
                          <a:effectLst/>
                        </a:rPr>
                        <a:t>giá</a:t>
                      </a:r>
                      <a:r>
                        <a:rPr lang="en-US" sz="2400" dirty="0">
                          <a:effectLst/>
                        </a:rPr>
                        <a:t> </a:t>
                      </a:r>
                      <a:r>
                        <a:rPr lang="en-US" sz="2400" dirty="0" err="1">
                          <a:effectLst/>
                        </a:rPr>
                        <a:t>trị</a:t>
                      </a:r>
                      <a:r>
                        <a:rPr lang="en-US" sz="2400" dirty="0">
                          <a:effectLst/>
                        </a:rPr>
                        <a:t> </a:t>
                      </a:r>
                      <a:r>
                        <a:rPr lang="en-US" sz="2400" dirty="0" err="1">
                          <a:effectLst/>
                        </a:rPr>
                        <a:t>nhỏ</a:t>
                      </a:r>
                      <a:r>
                        <a:rPr lang="en-US" sz="2400" dirty="0">
                          <a:effectLst/>
                        </a:rPr>
                        <a:t> </a:t>
                      </a:r>
                      <a:r>
                        <a:rPr lang="en-US" sz="2400" dirty="0" err="1">
                          <a:effectLst/>
                        </a:rPr>
                        <a:t>nhất</a:t>
                      </a:r>
                      <a:r>
                        <a:rPr lang="en-US" sz="2400" dirty="0">
                          <a:effectLst/>
                        </a:rPr>
                        <a:t> </a:t>
                      </a:r>
                      <a:r>
                        <a:rPr lang="en-US" sz="2400" dirty="0" err="1">
                          <a:effectLst/>
                        </a:rPr>
                        <a:t>trong</a:t>
                      </a:r>
                      <a:r>
                        <a:rPr lang="en-US" sz="2400" dirty="0">
                          <a:effectLst/>
                        </a:rPr>
                        <a:t> </a:t>
                      </a:r>
                      <a:r>
                        <a:rPr lang="en-US" sz="2400" dirty="0" err="1">
                          <a:effectLst/>
                        </a:rPr>
                        <a:t>mảng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615005354"/>
                  </a:ext>
                </a:extLst>
              </a:tr>
              <a:tr h="254873">
                <a:tc>
                  <a:txBody>
                    <a:bodyPr/>
                    <a:lstStyle/>
                    <a:p>
                      <a:pPr>
                        <a:lnSpc>
                          <a:spcPct val="107000"/>
                        </a:lnSpc>
                        <a:spcAft>
                          <a:spcPts val="800"/>
                        </a:spcAft>
                      </a:pPr>
                      <a:r>
                        <a:rPr lang="en-US" sz="2000">
                          <a:effectLst/>
                        </a:rPr>
                        <a:t>Max()</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400" dirty="0" err="1">
                          <a:effectLst/>
                        </a:rPr>
                        <a:t>Trả</a:t>
                      </a:r>
                      <a:r>
                        <a:rPr lang="en-US" sz="2400" dirty="0">
                          <a:effectLst/>
                        </a:rPr>
                        <a:t> </a:t>
                      </a:r>
                      <a:r>
                        <a:rPr lang="en-US" sz="2400" dirty="0" err="1">
                          <a:effectLst/>
                        </a:rPr>
                        <a:t>về</a:t>
                      </a:r>
                      <a:r>
                        <a:rPr lang="en-US" sz="2400" dirty="0">
                          <a:effectLst/>
                        </a:rPr>
                        <a:t> </a:t>
                      </a:r>
                      <a:r>
                        <a:rPr lang="en-US" sz="2400" dirty="0" err="1">
                          <a:effectLst/>
                        </a:rPr>
                        <a:t>giá</a:t>
                      </a:r>
                      <a:r>
                        <a:rPr lang="en-US" sz="2400" dirty="0">
                          <a:effectLst/>
                        </a:rPr>
                        <a:t> </a:t>
                      </a:r>
                      <a:r>
                        <a:rPr lang="en-US" sz="2400" dirty="0" err="1">
                          <a:effectLst/>
                        </a:rPr>
                        <a:t>trị</a:t>
                      </a:r>
                      <a:r>
                        <a:rPr lang="en-US" sz="2400" dirty="0">
                          <a:effectLst/>
                        </a:rPr>
                        <a:t> </a:t>
                      </a:r>
                      <a:r>
                        <a:rPr lang="en-US" sz="2400" dirty="0" err="1">
                          <a:effectLst/>
                        </a:rPr>
                        <a:t>lớn</a:t>
                      </a:r>
                      <a:r>
                        <a:rPr lang="en-US" sz="2400" dirty="0">
                          <a:effectLst/>
                        </a:rPr>
                        <a:t> </a:t>
                      </a:r>
                      <a:r>
                        <a:rPr lang="en-US" sz="2400" dirty="0" err="1">
                          <a:effectLst/>
                        </a:rPr>
                        <a:t>nhất</a:t>
                      </a:r>
                      <a:r>
                        <a:rPr lang="en-US" sz="2400" dirty="0">
                          <a:effectLst/>
                        </a:rPr>
                        <a:t> </a:t>
                      </a:r>
                      <a:r>
                        <a:rPr lang="en-US" sz="2400" dirty="0" err="1">
                          <a:effectLst/>
                        </a:rPr>
                        <a:t>trong</a:t>
                      </a:r>
                      <a:r>
                        <a:rPr lang="en-US" sz="2400" dirty="0">
                          <a:effectLst/>
                        </a:rPr>
                        <a:t> </a:t>
                      </a:r>
                      <a:r>
                        <a:rPr lang="en-US" sz="2400" dirty="0" err="1">
                          <a:effectLst/>
                        </a:rPr>
                        <a:t>mảng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71161077"/>
                  </a:ext>
                </a:extLst>
              </a:tr>
              <a:tr h="254873">
                <a:tc>
                  <a:txBody>
                    <a:bodyPr/>
                    <a:lstStyle/>
                    <a:p>
                      <a:pPr>
                        <a:lnSpc>
                          <a:spcPct val="107000"/>
                        </a:lnSpc>
                        <a:spcAft>
                          <a:spcPts val="800"/>
                        </a:spcAft>
                      </a:pPr>
                      <a:r>
                        <a:rPr lang="en-US" sz="2000">
                          <a:effectLst/>
                        </a:rPr>
                        <a:t>Sum()</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2400" dirty="0" err="1">
                          <a:effectLst/>
                        </a:rPr>
                        <a:t>Trả</a:t>
                      </a:r>
                      <a:r>
                        <a:rPr lang="en-US" sz="2400" dirty="0">
                          <a:effectLst/>
                        </a:rPr>
                        <a:t> </a:t>
                      </a:r>
                      <a:r>
                        <a:rPr lang="en-US" sz="2400" dirty="0" err="1">
                          <a:effectLst/>
                        </a:rPr>
                        <a:t>về</a:t>
                      </a:r>
                      <a:r>
                        <a:rPr lang="en-US" sz="2400" dirty="0">
                          <a:effectLst/>
                        </a:rPr>
                        <a:t> </a:t>
                      </a:r>
                      <a:r>
                        <a:rPr lang="en-US" sz="2400" dirty="0" err="1">
                          <a:effectLst/>
                        </a:rPr>
                        <a:t>giá</a:t>
                      </a:r>
                      <a:r>
                        <a:rPr lang="en-US" sz="2400" dirty="0">
                          <a:effectLst/>
                        </a:rPr>
                        <a:t> </a:t>
                      </a:r>
                      <a:r>
                        <a:rPr lang="en-US" sz="2400" dirty="0" err="1">
                          <a:effectLst/>
                        </a:rPr>
                        <a:t>trị</a:t>
                      </a:r>
                      <a:r>
                        <a:rPr lang="en-US" sz="2400" dirty="0">
                          <a:effectLst/>
                        </a:rPr>
                        <a:t> </a:t>
                      </a:r>
                      <a:r>
                        <a:rPr lang="en-US" sz="2400" dirty="0" err="1">
                          <a:effectLst/>
                        </a:rPr>
                        <a:t>tổng</a:t>
                      </a:r>
                      <a:r>
                        <a:rPr lang="en-US" sz="2400" dirty="0">
                          <a:effectLst/>
                        </a:rPr>
                        <a:t> </a:t>
                      </a:r>
                      <a:r>
                        <a:rPr lang="en-US" sz="2400" dirty="0" err="1">
                          <a:effectLst/>
                        </a:rPr>
                        <a:t>cộng</a:t>
                      </a:r>
                      <a:r>
                        <a:rPr lang="en-US" sz="2400" dirty="0">
                          <a:effectLst/>
                        </a:rPr>
                        <a:t> </a:t>
                      </a:r>
                      <a:r>
                        <a:rPr lang="en-US" sz="2400" dirty="0" err="1">
                          <a:effectLst/>
                        </a:rPr>
                        <a:t>các</a:t>
                      </a:r>
                      <a:r>
                        <a:rPr lang="en-US" sz="2400" dirty="0">
                          <a:effectLst/>
                        </a:rPr>
                        <a:t> </a:t>
                      </a:r>
                      <a:r>
                        <a:rPr lang="en-US" sz="2400" dirty="0" err="1">
                          <a:effectLst/>
                        </a:rPr>
                        <a:t>phần</a:t>
                      </a:r>
                      <a:r>
                        <a:rPr lang="en-US" sz="2400" dirty="0">
                          <a:effectLst/>
                        </a:rPr>
                        <a:t> </a:t>
                      </a:r>
                      <a:r>
                        <a:rPr lang="en-US" sz="2400" dirty="0" err="1">
                          <a:effectLst/>
                        </a:rPr>
                        <a:t>tử</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725274104"/>
                  </a:ext>
                </a:extLst>
              </a:tr>
            </a:tbl>
          </a:graphicData>
        </a:graphic>
      </p:graphicFrame>
    </p:spTree>
    <p:extLst>
      <p:ext uri="{BB962C8B-B14F-4D97-AF65-F5344CB8AC3E}">
        <p14:creationId xmlns:p14="http://schemas.microsoft.com/office/powerpoint/2010/main" val="22806948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B440-7985-C9AE-37EF-FFE11E05DA57}"/>
              </a:ext>
            </a:extLst>
          </p:cNvPr>
          <p:cNvSpPr>
            <a:spLocks noGrp="1"/>
          </p:cNvSpPr>
          <p:nvPr>
            <p:ph type="title"/>
          </p:nvPr>
        </p:nvSpPr>
        <p:spPr>
          <a:xfrm>
            <a:off x="1097280" y="286603"/>
            <a:ext cx="10058400" cy="526197"/>
          </a:xfrm>
        </p:spPr>
        <p:txBody>
          <a:bodyPr>
            <a:normAutofit/>
          </a:bodyPr>
          <a:lstStyle/>
          <a:p>
            <a:r>
              <a:rPr lang="en-US" sz="2400" dirty="0" err="1">
                <a:solidFill>
                  <a:srgbClr val="212529"/>
                </a:solidFill>
                <a:effectLst/>
                <a:latin typeface="Segoe UI" panose="020B0502040204020203" pitchFamily="34" charset="0"/>
                <a:ea typeface="Times New Roman" panose="02020603050405020304" pitchFamily="18" charset="0"/>
              </a:rPr>
              <a:t>Một</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số</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phương</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thức</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tĩnh</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trong</a:t>
            </a:r>
            <a:r>
              <a:rPr lang="en-US" sz="2400" dirty="0">
                <a:solidFill>
                  <a:srgbClr val="212529"/>
                </a:solidFill>
                <a:effectLst/>
                <a:latin typeface="Segoe UI" panose="020B0502040204020203" pitchFamily="34" charset="0"/>
                <a:ea typeface="Times New Roman" panose="02020603050405020304" pitchFamily="18" charset="0"/>
              </a:rPr>
              <a:t> Array </a:t>
            </a:r>
            <a:r>
              <a:rPr lang="en-US" sz="2400" dirty="0" err="1">
                <a:solidFill>
                  <a:srgbClr val="212529"/>
                </a:solidFill>
                <a:effectLst/>
                <a:latin typeface="Segoe UI" panose="020B0502040204020203" pitchFamily="34" charset="0"/>
                <a:ea typeface="Times New Roman" panose="02020603050405020304" pitchFamily="18" charset="0"/>
              </a:rPr>
              <a:t>áp</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dụng</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vào</a:t>
            </a:r>
            <a:r>
              <a:rPr lang="en-US" sz="2400" dirty="0">
                <a:solidFill>
                  <a:srgbClr val="212529"/>
                </a:solidFill>
                <a:effectLst/>
                <a:latin typeface="Segoe UI" panose="020B0502040204020203" pitchFamily="34" charset="0"/>
                <a:ea typeface="Times New Roman" panose="02020603050405020304" pitchFamily="18" charset="0"/>
              </a:rPr>
              <a:t> </a:t>
            </a:r>
            <a:r>
              <a:rPr lang="en-US" sz="2400" dirty="0" err="1">
                <a:solidFill>
                  <a:srgbClr val="212529"/>
                </a:solidFill>
                <a:effectLst/>
                <a:latin typeface="Segoe UI" panose="020B0502040204020203" pitchFamily="34" charset="0"/>
                <a:ea typeface="Times New Roman" panose="02020603050405020304" pitchFamily="18" charset="0"/>
              </a:rPr>
              <a:t>mảng</a:t>
            </a:r>
            <a:r>
              <a:rPr lang="en-US" sz="2400" dirty="0">
                <a:solidFill>
                  <a:srgbClr val="212529"/>
                </a:solidFill>
                <a:effectLst/>
                <a:latin typeface="Segoe UI" panose="020B0502040204020203" pitchFamily="34" charset="0"/>
                <a:ea typeface="Times New Roman" panose="02020603050405020304" pitchFamily="18" charset="0"/>
              </a:rPr>
              <a:t>:</a:t>
            </a:r>
            <a:endParaRPr lang="en-US" sz="6000" dirty="0"/>
          </a:p>
        </p:txBody>
      </p:sp>
      <p:graphicFrame>
        <p:nvGraphicFramePr>
          <p:cNvPr id="6" name="Content Placeholder 5">
            <a:extLst>
              <a:ext uri="{FF2B5EF4-FFF2-40B4-BE49-F238E27FC236}">
                <a16:creationId xmlns:a16="http://schemas.microsoft.com/office/drawing/2014/main" id="{AA81690F-ED27-4B4E-0193-37FF7CA15742}"/>
              </a:ext>
            </a:extLst>
          </p:cNvPr>
          <p:cNvGraphicFramePr>
            <a:graphicFrameLocks noGrp="1"/>
          </p:cNvGraphicFramePr>
          <p:nvPr>
            <p:ph idx="1"/>
            <p:extLst>
              <p:ext uri="{D42A27DB-BD31-4B8C-83A1-F6EECF244321}">
                <p14:modId xmlns:p14="http://schemas.microsoft.com/office/powerpoint/2010/main" val="3792827420"/>
              </p:ext>
            </p:extLst>
          </p:nvPr>
        </p:nvGraphicFramePr>
        <p:xfrm>
          <a:off x="1097280" y="944880"/>
          <a:ext cx="10383520" cy="5228207"/>
        </p:xfrm>
        <a:graphic>
          <a:graphicData uri="http://schemas.openxmlformats.org/drawingml/2006/table">
            <a:tbl>
              <a:tblPr firstRow="1" firstCol="1" bandRow="1">
                <a:tableStyleId>{5C22544A-7EE6-4342-B048-85BDC9FD1C3A}</a:tableStyleId>
              </a:tblPr>
              <a:tblGrid>
                <a:gridCol w="4572000">
                  <a:extLst>
                    <a:ext uri="{9D8B030D-6E8A-4147-A177-3AD203B41FA5}">
                      <a16:colId xmlns:a16="http://schemas.microsoft.com/office/drawing/2014/main" val="1997435852"/>
                    </a:ext>
                  </a:extLst>
                </a:gridCol>
                <a:gridCol w="5811520">
                  <a:extLst>
                    <a:ext uri="{9D8B030D-6E8A-4147-A177-3AD203B41FA5}">
                      <a16:colId xmlns:a16="http://schemas.microsoft.com/office/drawing/2014/main" val="1232013287"/>
                    </a:ext>
                  </a:extLst>
                </a:gridCol>
              </a:tblGrid>
              <a:tr h="197558">
                <a:tc>
                  <a:txBody>
                    <a:bodyPr/>
                    <a:lstStyle/>
                    <a:p>
                      <a:pPr algn="ctr">
                        <a:lnSpc>
                          <a:spcPct val="107000"/>
                        </a:lnSpc>
                        <a:spcAft>
                          <a:spcPts val="800"/>
                        </a:spcAft>
                      </a:pPr>
                      <a:r>
                        <a:rPr lang="en-US" sz="1800" b="1">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Member</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gn="ctr">
                        <a:lnSpc>
                          <a:spcPct val="107000"/>
                        </a:lnSpc>
                        <a:spcAft>
                          <a:spcPts val="800"/>
                        </a:spcAft>
                      </a:pPr>
                      <a:r>
                        <a:rPr lang="en-US" sz="1800" b="1">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Nội dung</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555712874"/>
                  </a:ext>
                </a:extLst>
              </a:tr>
              <a:tr h="586179">
                <a:tc>
                  <a:txBody>
                    <a:bodyPr/>
                    <a:lstStyle/>
                    <a:p>
                      <a:pPr>
                        <a:lnSpc>
                          <a:spcPct val="107000"/>
                        </a:lnSpc>
                        <a:spcAft>
                          <a:spcPts val="800"/>
                        </a:spcAft>
                      </a:pPr>
                      <a:r>
                        <a:rPr lang="en-US" sz="1800" dirty="0" err="1">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Array.BinarySearch</a:t>
                      </a:r>
                      <a:r>
                        <a:rPr lang="en-US" sz="1800" dirty="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(array, value)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Tìm kiếm phần tử trong mảng đã được sắp xếp, trả về chỉ số nếu tìm thấy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534443801"/>
                  </a:ext>
                </a:extLst>
              </a:tr>
              <a:tr h="433565">
                <a:tc>
                  <a:txBody>
                    <a:bodyPr/>
                    <a:lstStyle/>
                    <a:p>
                      <a:pPr>
                        <a:lnSpc>
                          <a:spcPct val="107000"/>
                        </a:lnSpc>
                        <a:spcAft>
                          <a:spcPts val="800"/>
                        </a:spcAft>
                      </a:pPr>
                      <a:r>
                        <a:rPr lang="en-US" sz="180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CopyTo(array, indexStart)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Sao chép phần tử mảng này sang mảng khác</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658053540"/>
                  </a:ext>
                </a:extLst>
              </a:tr>
              <a:tr h="433565">
                <a:tc>
                  <a:txBody>
                    <a:bodyPr/>
                    <a:lstStyle/>
                    <a:p>
                      <a:pPr>
                        <a:lnSpc>
                          <a:spcPct val="107000"/>
                        </a:lnSpc>
                        <a:spcAft>
                          <a:spcPts val="800"/>
                        </a:spcAft>
                      </a:pPr>
                      <a:r>
                        <a:rPr lang="en-US" sz="1800" dirty="0" err="1">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Array.Clear</a:t>
                      </a:r>
                      <a:r>
                        <a:rPr lang="en-US" sz="1800" dirty="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(array, index, length)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Thiết lập phần tử mảng nhận giá trị mặc định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708986679"/>
                  </a:ext>
                </a:extLst>
              </a:tr>
              <a:tr h="433565">
                <a:tc>
                  <a:txBody>
                    <a:bodyPr/>
                    <a:lstStyle/>
                    <a:p>
                      <a:pPr>
                        <a:lnSpc>
                          <a:spcPct val="107000"/>
                        </a:lnSpc>
                        <a:spcAft>
                          <a:spcPts val="800"/>
                        </a:spcAft>
                      </a:pPr>
                      <a:r>
                        <a:rPr lang="en-US" sz="180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bool Exists&lt;T&gt; (array, Predicate&lt;T&gt; match);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Kiểm tra có phần tử trong mảng thỏa mãn match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393922030"/>
                  </a:ext>
                </a:extLst>
              </a:tr>
              <a:tr h="433565">
                <a:tc>
                  <a:txBody>
                    <a:bodyPr/>
                    <a:lstStyle/>
                    <a:p>
                      <a:pPr>
                        <a:lnSpc>
                          <a:spcPct val="107000"/>
                        </a:lnSpc>
                        <a:spcAft>
                          <a:spcPts val="800"/>
                        </a:spcAft>
                      </a:pPr>
                      <a:r>
                        <a:rPr lang="en-US" sz="180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Fill&lt;T&gt; (array, value);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Gán các phần tử của mảng bằng value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61586095"/>
                  </a:ext>
                </a:extLst>
              </a:tr>
              <a:tr h="433565">
                <a:tc>
                  <a:txBody>
                    <a:bodyPr/>
                    <a:lstStyle/>
                    <a:p>
                      <a:pPr>
                        <a:lnSpc>
                          <a:spcPct val="107000"/>
                        </a:lnSpc>
                        <a:spcAft>
                          <a:spcPts val="800"/>
                        </a:spcAft>
                      </a:pPr>
                      <a:r>
                        <a:rPr lang="en-US" sz="180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T Find&lt;T&gt; (array, Predicate&lt;T&gt; match);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Tìm phần tử mảng</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720371942"/>
                  </a:ext>
                </a:extLst>
              </a:tr>
              <a:tr h="433565">
                <a:tc>
                  <a:txBody>
                    <a:bodyPr/>
                    <a:lstStyle/>
                    <a:p>
                      <a:pPr>
                        <a:lnSpc>
                          <a:spcPct val="107000"/>
                        </a:lnSpc>
                        <a:spcAft>
                          <a:spcPts val="800"/>
                        </a:spcAft>
                      </a:pPr>
                      <a:r>
                        <a:rPr lang="en-US" sz="180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int FindIndex&lt;T&gt; (array, Predicate&lt;T&gt; match);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Tìm phần tử mảng, trả về chỉ số nếu thấy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32611630"/>
                  </a:ext>
                </a:extLst>
              </a:tr>
              <a:tr h="433565">
                <a:tc>
                  <a:txBody>
                    <a:bodyPr/>
                    <a:lstStyle/>
                    <a:p>
                      <a:pPr>
                        <a:lnSpc>
                          <a:spcPct val="107000"/>
                        </a:lnSpc>
                        <a:spcAft>
                          <a:spcPts val="800"/>
                        </a:spcAft>
                      </a:pPr>
                      <a:r>
                        <a:rPr lang="en-US" sz="180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T[] FindAll&lt;T&gt; (array, Predicate&lt;T&gt; match);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Tìm tất cả phần tử mảng</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32692543"/>
                  </a:ext>
                </a:extLst>
              </a:tr>
              <a:tr h="433565">
                <a:tc>
                  <a:txBody>
                    <a:bodyPr/>
                    <a:lstStyle/>
                    <a:p>
                      <a:pPr>
                        <a:lnSpc>
                          <a:spcPct val="107000"/>
                        </a:lnSpc>
                        <a:spcAft>
                          <a:spcPts val="800"/>
                        </a:spcAft>
                      </a:pPr>
                      <a:r>
                        <a:rPr lang="en-US" sz="180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int IndexOf(array, value)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Tìm chỉ số của phần tử</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50436348"/>
                  </a:ext>
                </a:extLst>
              </a:tr>
              <a:tr h="433565">
                <a:tc>
                  <a:txBody>
                    <a:bodyPr/>
                    <a:lstStyle/>
                    <a:p>
                      <a:pPr>
                        <a:lnSpc>
                          <a:spcPct val="107000"/>
                        </a:lnSpc>
                        <a:spcAft>
                          <a:spcPts val="800"/>
                        </a:spcAft>
                      </a:pPr>
                      <a:r>
                        <a:rPr lang="en-US" sz="180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ForEach(array, Action&lt;T&gt; action)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Thi hành action trên mỗi phần tử</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086781394"/>
                  </a:ext>
                </a:extLst>
              </a:tr>
              <a:tr h="433565">
                <a:tc>
                  <a:txBody>
                    <a:bodyPr/>
                    <a:lstStyle/>
                    <a:p>
                      <a:pPr>
                        <a:lnSpc>
                          <a:spcPct val="107000"/>
                        </a:lnSpc>
                        <a:spcAft>
                          <a:spcPts val="800"/>
                        </a:spcAft>
                      </a:pPr>
                      <a:r>
                        <a:rPr lang="en-US" sz="1800">
                          <a:solidFill>
                            <a:srgbClr val="3F51B5"/>
                          </a:solidFill>
                          <a:effectLst/>
                          <a:latin typeface="Calibri" panose="020F0502020204030204" pitchFamily="34" charset="0"/>
                          <a:ea typeface="Calibri" panose="020F0502020204030204" pitchFamily="34" charset="0"/>
                          <a:cs typeface="Times New Roman" panose="02020603050405020304" pitchFamily="18" charset="0"/>
                        </a:rPr>
                        <a:t>Sort(array)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800"/>
                        </a:spcAft>
                      </a:pPr>
                      <a:r>
                        <a:rPr lang="en-US" sz="1800" dirty="0" err="1">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Sắp</a:t>
                      </a:r>
                      <a:r>
                        <a:rPr lang="en-US" sz="1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solidFill>
                            <a:srgbClr val="212529"/>
                          </a:solidFill>
                          <a:effectLst/>
                          <a:latin typeface="Calibri" panose="020F0502020204030204" pitchFamily="34" charset="0"/>
                          <a:ea typeface="Calibri" panose="020F0502020204030204" pitchFamily="34" charset="0"/>
                          <a:cs typeface="Times New Roman" panose="02020603050405020304" pitchFamily="18" charset="0"/>
                        </a:rPr>
                        <a:t>xếp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862854272"/>
                  </a:ext>
                </a:extLst>
              </a:tr>
            </a:tbl>
          </a:graphicData>
        </a:graphic>
      </p:graphicFrame>
    </p:spTree>
    <p:extLst>
      <p:ext uri="{BB962C8B-B14F-4D97-AF65-F5344CB8AC3E}">
        <p14:creationId xmlns:p14="http://schemas.microsoft.com/office/powerpoint/2010/main" val="27623895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F6E2A-1ABE-5206-2016-95FA6C52BCF6}"/>
              </a:ext>
            </a:extLst>
          </p:cNvPr>
          <p:cNvSpPr>
            <a:spLocks noGrp="1"/>
          </p:cNvSpPr>
          <p:nvPr>
            <p:ph type="title"/>
          </p:nvPr>
        </p:nvSpPr>
        <p:spPr/>
        <p:txBody>
          <a:bodyPr>
            <a:normAutofit/>
          </a:bodyPr>
          <a:lstStyle/>
          <a:p>
            <a:r>
              <a:rPr lang="en-US" sz="4000" b="0" dirty="0" err="1">
                <a:solidFill>
                  <a:srgbClr val="17A2B8"/>
                </a:solidFill>
                <a:effectLst/>
                <a:latin typeface="Segoe UI" panose="020B0502040204020203" pitchFamily="34" charset="0"/>
                <a:ea typeface="Times New Roman" panose="02020603050405020304" pitchFamily="18" charset="0"/>
              </a:rPr>
              <a:t>Duyệt</a:t>
            </a:r>
            <a:r>
              <a:rPr lang="en-US" sz="4000" b="0" dirty="0">
                <a:solidFill>
                  <a:srgbClr val="17A2B8"/>
                </a:solidFill>
                <a:effectLst/>
                <a:latin typeface="Segoe UI" panose="020B0502040204020203" pitchFamily="34" charset="0"/>
                <a:ea typeface="Times New Roman" panose="02020603050405020304" pitchFamily="18" charset="0"/>
              </a:rPr>
              <a:t> qua </a:t>
            </a:r>
            <a:r>
              <a:rPr lang="en-US" sz="4000" b="0" dirty="0" err="1">
                <a:solidFill>
                  <a:srgbClr val="17A2B8"/>
                </a:solidFill>
                <a:effectLst/>
                <a:latin typeface="Segoe UI" panose="020B0502040204020203" pitchFamily="34" charset="0"/>
                <a:ea typeface="Times New Roman" panose="02020603050405020304" pitchFamily="18" charset="0"/>
              </a:rPr>
              <a:t>các</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phần</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tử</a:t>
            </a:r>
            <a:r>
              <a:rPr lang="en-US" sz="4000" b="0" dirty="0">
                <a:solidFill>
                  <a:srgbClr val="17A2B8"/>
                </a:solidFill>
                <a:effectLst/>
                <a:latin typeface="Segoe UI" panose="020B0502040204020203" pitchFamily="34" charset="0"/>
                <a:ea typeface="Times New Roman" panose="02020603050405020304" pitchFamily="18" charset="0"/>
              </a:rPr>
              <a:t> </a:t>
            </a:r>
            <a:r>
              <a:rPr lang="en-US" sz="4000" b="0" dirty="0" err="1">
                <a:solidFill>
                  <a:srgbClr val="17A2B8"/>
                </a:solidFill>
                <a:effectLst/>
                <a:latin typeface="Segoe UI" panose="020B0502040204020203" pitchFamily="34" charset="0"/>
                <a:ea typeface="Times New Roman" panose="02020603050405020304" pitchFamily="18" charset="0"/>
              </a:rPr>
              <a:t>mảng</a:t>
            </a:r>
            <a:endParaRPr lang="en-US" sz="8800" dirty="0"/>
          </a:p>
        </p:txBody>
      </p:sp>
      <p:sp>
        <p:nvSpPr>
          <p:cNvPr id="3" name="Content Placeholder 2">
            <a:extLst>
              <a:ext uri="{FF2B5EF4-FFF2-40B4-BE49-F238E27FC236}">
                <a16:creationId xmlns:a16="http://schemas.microsoft.com/office/drawing/2014/main" id="{935CFDCC-A93E-0A6E-BA7A-9187E18E3E75}"/>
              </a:ext>
            </a:extLst>
          </p:cNvPr>
          <p:cNvSpPr>
            <a:spLocks noGrp="1"/>
          </p:cNvSpPr>
          <p:nvPr>
            <p:ph idx="1"/>
          </p:nvPr>
        </p:nvSpPr>
        <p:spPr/>
        <p:txBody>
          <a:bodyPr>
            <a:normAutofit/>
          </a:bodyPr>
          <a:lstStyle/>
          <a:p>
            <a:r>
              <a:rPr kumimoji="0" lang="en-US" altLang="en-US" sz="2000" b="0" i="0" u="none" strike="noStrike" cap="none" normalizeH="0" baseline="0" dirty="0" err="1">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Cách</a:t>
            </a: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 1: </a:t>
            </a:r>
            <a:r>
              <a:rPr lang="en-US" altLang="en-US" sz="1800" b="1" dirty="0" err="1">
                <a:solidFill>
                  <a:srgbClr val="009688"/>
                </a:solidFill>
                <a:latin typeface="Segoe UI" panose="020B0502040204020203" pitchFamily="34" charset="0"/>
                <a:cs typeface="Times New Roman" panose="02020603050405020304" pitchFamily="18" charset="0"/>
              </a:rPr>
              <a:t>dùng</a:t>
            </a: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b="1" dirty="0" err="1">
                <a:solidFill>
                  <a:srgbClr val="009688"/>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1800" b="1" dirty="0">
                <a:solidFill>
                  <a:srgbClr val="009688"/>
                </a:solidFill>
                <a:effectLst/>
                <a:latin typeface="Segoe UI" panose="020B0502040204020203" pitchFamily="34" charset="0"/>
                <a:ea typeface="Times New Roman" panose="02020603050405020304" pitchFamily="18" charset="0"/>
                <a:cs typeface="Times New Roman" panose="02020603050405020304" pitchFamily="18" charset="0"/>
              </a:rPr>
              <a:t> for</a:t>
            </a:r>
            <a:endPar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endParaRPr>
          </a:p>
          <a:p>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myArray</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5</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19</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40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40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maxIndex</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myArray.Length</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r>
              <a:rPr kumimoji="0" lang="en-US" altLang="en-US" sz="20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for</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&lt;=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maxIndex</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Console.WriteLine</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myArray</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endParaRPr kumimoji="0" lang="en-US" altLang="en-US" sz="4400" b="0" i="0" u="none" strike="noStrike" cap="none" normalizeH="0" baseline="0" dirty="0">
              <a:ln>
                <a:noFill/>
              </a:ln>
              <a:solidFill>
                <a:schemeClr val="tx1"/>
              </a:solidFill>
              <a:effectLst/>
              <a:latin typeface="Arial" panose="020B0604020202020204" pitchFamily="34" charset="0"/>
            </a:endParaRPr>
          </a:p>
          <a:p>
            <a:r>
              <a:rPr lang="en-US" dirty="0" err="1"/>
              <a:t>Cách</a:t>
            </a:r>
            <a:r>
              <a:rPr lang="en-US" dirty="0"/>
              <a:t> 2:  </a:t>
            </a:r>
            <a:r>
              <a:rPr lang="en-US" sz="1800" b="1" dirty="0" err="1">
                <a:solidFill>
                  <a:srgbClr val="009688"/>
                </a:solidFill>
                <a:latin typeface="Segoe UI" panose="020B0502040204020203" pitchFamily="34" charset="0"/>
                <a:cs typeface="Times New Roman" panose="02020603050405020304" pitchFamily="18" charset="0"/>
              </a:rPr>
              <a:t>dùng</a:t>
            </a:r>
            <a:r>
              <a:rPr lang="en-US" dirty="0"/>
              <a:t> </a:t>
            </a:r>
            <a:r>
              <a:rPr lang="en-US" sz="1800" b="1" dirty="0" err="1">
                <a:solidFill>
                  <a:srgbClr val="009688"/>
                </a:solidFill>
                <a:effectLst/>
                <a:latin typeface="Segoe UI" panose="020B0502040204020203" pitchFamily="34" charset="0"/>
                <a:ea typeface="Times New Roman" panose="02020603050405020304" pitchFamily="18" charset="0"/>
                <a:cs typeface="Times New Roman" panose="02020603050405020304" pitchFamily="18" charset="0"/>
              </a:rPr>
              <a:t>lệnh</a:t>
            </a:r>
            <a:r>
              <a:rPr lang="en-US" sz="1800" b="1" dirty="0">
                <a:solidFill>
                  <a:srgbClr val="009688"/>
                </a:solidFill>
                <a:effectLst/>
                <a:latin typeface="Segoe UI" panose="020B0502040204020203" pitchFamily="34" charset="0"/>
                <a:ea typeface="Times New Roman" panose="02020603050405020304" pitchFamily="18" charset="0"/>
                <a:cs typeface="Times New Roman" panose="02020603050405020304" pitchFamily="18" charset="0"/>
              </a:rPr>
              <a:t> foreach</a:t>
            </a:r>
            <a:endParaRPr lang="en-US" dirty="0"/>
          </a:p>
          <a:p>
            <a:r>
              <a:rPr kumimoji="0" lang="en-US" altLang="en-US" sz="2000" b="0" i="0" u="none" strike="noStrike" cap="none" normalizeH="0" baseline="0" dirty="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myArray</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3</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5</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19</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10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20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40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a:ln>
                  <a:noFill/>
                </a:ln>
                <a:solidFill>
                  <a:srgbClr val="880000"/>
                </a:solidFill>
                <a:effectLst/>
                <a:latin typeface="Consolas" panose="020B0609020204030204" pitchFamily="49" charset="0"/>
                <a:ea typeface="Times New Roman" panose="02020603050405020304" pitchFamily="18" charset="0"/>
                <a:cs typeface="Courier New" panose="02070309020205020404" pitchFamily="49" charset="0"/>
              </a:rPr>
              <a:t>40</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p>
          <a:p>
            <a:r>
              <a:rPr kumimoji="0" lang="en-US" altLang="en-US" sz="2000" b="1"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foreach</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a:ln>
                  <a:noFill/>
                </a:ln>
                <a:solidFill>
                  <a:srgbClr val="397300"/>
                </a:solidFill>
                <a:effectLst/>
                <a:latin typeface="Consolas" panose="020B0609020204030204" pitchFamily="49" charset="0"/>
                <a:ea typeface="Times New Roman" panose="02020603050405020304" pitchFamily="18" charset="0"/>
                <a:cs typeface="Courier New" panose="02070309020205020404" pitchFamily="49" charset="0"/>
              </a:rPr>
              <a:t>int</a:t>
            </a:r>
            <a:r>
              <a:rPr kumimoji="0" lang="en-US" altLang="en-US" sz="2000" b="0" i="0" u="none" strike="noStrike" cap="none" normalizeH="0" baseline="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element </a:t>
            </a:r>
            <a:r>
              <a:rPr kumimoji="0" lang="en-US" altLang="en-US" sz="2000" b="1" i="0" u="none" strike="noStrike" cap="none" normalizeH="0" baseline="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in</a:t>
            </a:r>
            <a:r>
              <a:rPr kumimoji="0" lang="en-US" altLang="en-US" sz="2000" b="0" i="0" u="none" strike="noStrike" cap="none" normalizeH="0" baseline="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myArray</a:t>
            </a:r>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p>
          <a:p>
            <a:r>
              <a:rPr kumimoji="0" lang="en-US" altLang="en-US" sz="2000" b="0" i="0" u="none" strike="noStrike" cap="none" normalizeH="0" baseline="0" dirty="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 </a:t>
            </a:r>
            <a:r>
              <a:rPr kumimoji="0" lang="en-US" altLang="en-US" sz="2000" b="0" i="0" u="none" strike="noStrike" cap="none" normalizeH="0" baseline="0" dirty="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Console</a:t>
            </a:r>
            <a:r>
              <a:rPr kumimoji="0" lang="en-US" altLang="en-US" sz="2000" b="0" i="0" u="none" strike="noStrike" cap="none" normalizeH="0" baseline="0" err="1">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2000" b="0" i="0" u="none" strike="noStrike" cap="none" normalizeH="0" baseline="0">
                <a:ln>
                  <a:noFill/>
                </a:ln>
                <a:solidFill>
                  <a:srgbClr val="444444"/>
                </a:solidFill>
                <a:effectLst/>
                <a:latin typeface="Consolas" panose="020B0609020204030204" pitchFamily="49" charset="0"/>
                <a:ea typeface="Times New Roman" panose="02020603050405020304" pitchFamily="18" charset="0"/>
                <a:cs typeface="Courier New" panose="02070309020205020404" pitchFamily="49" charset="0"/>
              </a:rPr>
              <a:t>WriteLine(element);}</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21405313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307D-F122-17C2-9B84-E60FACC703BE}"/>
              </a:ext>
            </a:extLst>
          </p:cNvPr>
          <p:cNvSpPr>
            <a:spLocks noGrp="1"/>
          </p:cNvSpPr>
          <p:nvPr>
            <p:ph type="title"/>
          </p:nvPr>
        </p:nvSpPr>
        <p:spPr>
          <a:xfrm>
            <a:off x="1097280" y="191433"/>
            <a:ext cx="10058400" cy="550247"/>
          </a:xfrm>
        </p:spPr>
        <p:txBody>
          <a:bodyPr>
            <a:normAutofit fontScale="90000"/>
          </a:bodyPr>
          <a:lstStyle/>
          <a:p>
            <a:r>
              <a:rPr lang="en-US" dirty="0" err="1"/>
              <a:t>Nhập</a:t>
            </a:r>
            <a:r>
              <a:rPr lang="en-US" dirty="0"/>
              <a:t> </a:t>
            </a:r>
            <a:r>
              <a:rPr lang="en-US" dirty="0" err="1"/>
              <a:t>xuất</a:t>
            </a:r>
            <a:r>
              <a:rPr lang="en-US" dirty="0"/>
              <a:t> </a:t>
            </a:r>
            <a:r>
              <a:rPr lang="en-US" dirty="0" err="1"/>
              <a:t>mảng</a:t>
            </a:r>
            <a:r>
              <a:rPr lang="en-US" dirty="0"/>
              <a:t> 1 </a:t>
            </a:r>
            <a:r>
              <a:rPr lang="en-US" dirty="0" err="1"/>
              <a:t>chiều</a:t>
            </a:r>
            <a:endParaRPr lang="en-US" dirty="0"/>
          </a:p>
        </p:txBody>
      </p:sp>
      <p:pic>
        <p:nvPicPr>
          <p:cNvPr id="4" name="Content Placeholder 3" descr="ARRAY - Microsoft Visual Studio">
            <a:extLst>
              <a:ext uri="{FF2B5EF4-FFF2-40B4-BE49-F238E27FC236}">
                <a16:creationId xmlns:a16="http://schemas.microsoft.com/office/drawing/2014/main" id="{20A8CF04-A8C5-8EE3-93CB-637772AE257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0564" r="20504"/>
          <a:stretch/>
        </p:blipFill>
        <p:spPr>
          <a:xfrm>
            <a:off x="1036320" y="466556"/>
            <a:ext cx="9027478" cy="5677661"/>
          </a:xfrm>
          <a:prstGeom prst="rect">
            <a:avLst/>
          </a:prstGeom>
        </p:spPr>
      </p:pic>
    </p:spTree>
    <p:extLst>
      <p:ext uri="{BB962C8B-B14F-4D97-AF65-F5344CB8AC3E}">
        <p14:creationId xmlns:p14="http://schemas.microsoft.com/office/powerpoint/2010/main" val="17866732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8919B-2A4F-C609-3C44-BBB80930D426}"/>
              </a:ext>
            </a:extLst>
          </p:cNvPr>
          <p:cNvSpPr>
            <a:spLocks noGrp="1"/>
          </p:cNvSpPr>
          <p:nvPr>
            <p:ph type="title"/>
          </p:nvPr>
        </p:nvSpPr>
        <p:spPr/>
        <p:txBody>
          <a:bodyPr/>
          <a:lstStyle/>
          <a:p>
            <a:r>
              <a:rPr lang="en-US" sz="8000" dirty="0">
                <a:solidFill>
                  <a:srgbClr val="0070C0"/>
                </a:solidFill>
                <a:effectLst/>
                <a:latin typeface="Times New Roman" panose="02020603050405020304" pitchFamily="18" charset="0"/>
                <a:ea typeface="Times New Roman" panose="02020603050405020304" pitchFamily="18" charset="0"/>
              </a:rPr>
              <a:t>2.6.2	</a:t>
            </a:r>
            <a:r>
              <a:rPr lang="en-US" sz="8000" dirty="0" err="1">
                <a:solidFill>
                  <a:srgbClr val="0070C0"/>
                </a:solidFill>
                <a:effectLst/>
                <a:latin typeface="Times New Roman" panose="02020603050405020304" pitchFamily="18" charset="0"/>
                <a:ea typeface="Times New Roman" panose="02020603050405020304" pitchFamily="18" charset="0"/>
              </a:rPr>
              <a:t>Mảng</a:t>
            </a:r>
            <a:r>
              <a:rPr lang="en-US" sz="8000" dirty="0">
                <a:solidFill>
                  <a:srgbClr val="0070C0"/>
                </a:solidFill>
                <a:effectLst/>
                <a:latin typeface="Times New Roman" panose="02020603050405020304" pitchFamily="18" charset="0"/>
                <a:ea typeface="Times New Roman" panose="02020603050405020304" pitchFamily="18" charset="0"/>
              </a:rPr>
              <a:t> </a:t>
            </a:r>
            <a:r>
              <a:rPr lang="en-US" sz="8000" dirty="0" err="1">
                <a:solidFill>
                  <a:srgbClr val="0070C0"/>
                </a:solidFill>
                <a:effectLst/>
                <a:latin typeface="Times New Roman" panose="02020603050405020304" pitchFamily="18" charset="0"/>
                <a:ea typeface="Times New Roman" panose="02020603050405020304" pitchFamily="18" charset="0"/>
              </a:rPr>
              <a:t>nhiều</a:t>
            </a:r>
            <a:r>
              <a:rPr lang="en-US" sz="8000" dirty="0">
                <a:solidFill>
                  <a:srgbClr val="0070C0"/>
                </a:solidFill>
                <a:effectLst/>
                <a:latin typeface="Times New Roman" panose="02020603050405020304" pitchFamily="18" charset="0"/>
                <a:ea typeface="Times New Roman" panose="02020603050405020304" pitchFamily="18" charset="0"/>
              </a:rPr>
              <a:t> </a:t>
            </a:r>
            <a:r>
              <a:rPr lang="en-US" sz="8000" dirty="0" err="1">
                <a:solidFill>
                  <a:srgbClr val="0070C0"/>
                </a:solidFill>
                <a:effectLst/>
                <a:latin typeface="Times New Roman" panose="02020603050405020304" pitchFamily="18" charset="0"/>
                <a:ea typeface="Times New Roman" panose="02020603050405020304" pitchFamily="18" charset="0"/>
              </a:rPr>
              <a:t>chiều</a:t>
            </a:r>
            <a:r>
              <a:rPr lang="en-US" sz="8000" dirty="0">
                <a:solidFill>
                  <a:srgbClr val="0070C0"/>
                </a:solidFill>
                <a:effectLst/>
                <a:latin typeface="Times New Roman" panose="02020603050405020304" pitchFamily="18" charset="0"/>
                <a:ea typeface="Times New Roman" panose="02020603050405020304" pitchFamily="18" charset="0"/>
              </a:rPr>
              <a:t>.</a:t>
            </a:r>
            <a:endParaRPr lang="en-US" dirty="0"/>
          </a:p>
        </p:txBody>
      </p:sp>
      <p:sp>
        <p:nvSpPr>
          <p:cNvPr id="3" name="Text Placeholder 2">
            <a:extLst>
              <a:ext uri="{FF2B5EF4-FFF2-40B4-BE49-F238E27FC236}">
                <a16:creationId xmlns:a16="http://schemas.microsoft.com/office/drawing/2014/main" id="{30684FE4-9CAC-E480-5C8F-F8E8ED62413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49475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E34D4-B1C2-6351-DAD7-029BABC807A7}"/>
              </a:ext>
            </a:extLst>
          </p:cNvPr>
          <p:cNvSpPr>
            <a:spLocks noGrp="1"/>
          </p:cNvSpPr>
          <p:nvPr>
            <p:ph type="title"/>
          </p:nvPr>
        </p:nvSpPr>
        <p:spPr/>
        <p:txBody>
          <a:bodyPr>
            <a:normAutofit/>
          </a:bodyPr>
          <a:lstStyle/>
          <a:p>
            <a:r>
              <a:rPr lang="en-US" sz="4400" b="0" dirty="0" err="1">
                <a:solidFill>
                  <a:srgbClr val="17A2B8"/>
                </a:solidFill>
                <a:effectLst/>
                <a:latin typeface="Segoe UI" panose="020B0502040204020203" pitchFamily="34" charset="0"/>
                <a:ea typeface="Times New Roman" panose="02020603050405020304" pitchFamily="18" charset="0"/>
              </a:rPr>
              <a:t>Mảng</a:t>
            </a:r>
            <a:r>
              <a:rPr lang="en-US" sz="4400" b="0" dirty="0">
                <a:solidFill>
                  <a:srgbClr val="17A2B8"/>
                </a:solidFill>
                <a:effectLst/>
                <a:latin typeface="Segoe UI" panose="020B0502040204020203" pitchFamily="34" charset="0"/>
                <a:ea typeface="Times New Roman" panose="02020603050405020304" pitchFamily="18" charset="0"/>
              </a:rPr>
              <a:t> </a:t>
            </a:r>
            <a:r>
              <a:rPr lang="en-US" sz="4400" b="0" dirty="0" err="1">
                <a:solidFill>
                  <a:srgbClr val="17A2B8"/>
                </a:solidFill>
                <a:effectLst/>
                <a:latin typeface="Segoe UI" panose="020B0502040204020203" pitchFamily="34" charset="0"/>
                <a:ea typeface="Times New Roman" panose="02020603050405020304" pitchFamily="18" charset="0"/>
              </a:rPr>
              <a:t>nhiều</a:t>
            </a:r>
            <a:r>
              <a:rPr lang="en-US" sz="4400" b="0" dirty="0">
                <a:solidFill>
                  <a:srgbClr val="17A2B8"/>
                </a:solidFill>
                <a:effectLst/>
                <a:latin typeface="Segoe UI" panose="020B0502040204020203" pitchFamily="34" charset="0"/>
                <a:ea typeface="Times New Roman" panose="02020603050405020304" pitchFamily="18" charset="0"/>
              </a:rPr>
              <a:t> </a:t>
            </a:r>
            <a:r>
              <a:rPr lang="en-US" sz="4400" b="0" dirty="0" err="1">
                <a:solidFill>
                  <a:srgbClr val="17A2B8"/>
                </a:solidFill>
                <a:effectLst/>
                <a:latin typeface="Segoe UI" panose="020B0502040204020203" pitchFamily="34" charset="0"/>
                <a:ea typeface="Times New Roman" panose="02020603050405020304" pitchFamily="18" charset="0"/>
              </a:rPr>
              <a:t>chiều</a:t>
            </a:r>
            <a:r>
              <a:rPr lang="en-US" sz="4400" b="0" dirty="0">
                <a:solidFill>
                  <a:srgbClr val="17A2B8"/>
                </a:solidFill>
                <a:effectLst/>
                <a:latin typeface="Segoe UI" panose="020B0502040204020203" pitchFamily="34" charset="0"/>
                <a:ea typeface="Times New Roman" panose="02020603050405020304" pitchFamily="18" charset="0"/>
              </a:rPr>
              <a:t> (rank)</a:t>
            </a:r>
            <a:endParaRPr lang="en-US" sz="9600" dirty="0"/>
          </a:p>
        </p:txBody>
      </p:sp>
      <p:sp>
        <p:nvSpPr>
          <p:cNvPr id="3" name="Content Placeholder 2">
            <a:extLst>
              <a:ext uri="{FF2B5EF4-FFF2-40B4-BE49-F238E27FC236}">
                <a16:creationId xmlns:a16="http://schemas.microsoft.com/office/drawing/2014/main" id="{B6DF6AEA-DC2A-4FEB-0911-E110845A133D}"/>
              </a:ext>
            </a:extLst>
          </p:cNvPr>
          <p:cNvSpPr>
            <a:spLocks noGrp="1"/>
          </p:cNvSpPr>
          <p:nvPr>
            <p:ph idx="1"/>
          </p:nvPr>
        </p:nvSpPr>
        <p:spPr/>
        <p:txBody>
          <a:bodyPr>
            <a:normAutofit/>
          </a:bodyPr>
          <a:lstStyle/>
          <a:p>
            <a:r>
              <a:rPr lang="en-US" sz="3200" dirty="0" err="1">
                <a:solidFill>
                  <a:srgbClr val="212529"/>
                </a:solidFill>
                <a:effectLst/>
                <a:latin typeface="Segoe UI" panose="020B0502040204020203" pitchFamily="34" charset="0"/>
                <a:ea typeface="Times New Roman" panose="02020603050405020304" pitchFamily="18" charset="0"/>
              </a:rPr>
              <a:t>Cú</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pháp</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để</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khai</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báo</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mảng</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nhiều</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chiều</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như</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sau</a:t>
            </a:r>
            <a:r>
              <a:rPr lang="en-US" sz="3200" dirty="0">
                <a:solidFill>
                  <a:srgbClr val="212529"/>
                </a:solidFill>
                <a:effectLst/>
                <a:latin typeface="Segoe UI" panose="020B0502040204020203" pitchFamily="34" charset="0"/>
                <a:ea typeface="Times New Roman" panose="02020603050405020304" pitchFamily="18" charset="0"/>
              </a:rPr>
              <a:t>:</a:t>
            </a:r>
            <a:endParaRPr lang="en-US" sz="3200" dirty="0">
              <a:effectLst/>
              <a:latin typeface="Times New Roman" panose="02020603050405020304" pitchFamily="18" charset="0"/>
              <a:ea typeface="Times New Roman" panose="02020603050405020304" pitchFamily="18" charset="0"/>
            </a:endParaRPr>
          </a:p>
          <a:p>
            <a:pPr lvl="1"/>
            <a:r>
              <a:rPr lang="en-US" sz="3200" dirty="0"/>
              <a:t>type[, , … ,] </a:t>
            </a:r>
            <a:r>
              <a:rPr lang="en-US" sz="3200" dirty="0" err="1"/>
              <a:t>varname</a:t>
            </a:r>
            <a:r>
              <a:rPr lang="en-US" sz="3200" dirty="0"/>
              <a:t> = new type[size1, size2, …, </a:t>
            </a:r>
            <a:r>
              <a:rPr lang="en-US" sz="3200" dirty="0" err="1"/>
              <a:t>sizeN</a:t>
            </a:r>
            <a:r>
              <a:rPr lang="en-US" sz="3200" dirty="0"/>
              <a:t>];</a:t>
            </a:r>
          </a:p>
          <a:p>
            <a:pPr marL="201168" lvl="1" indent="0">
              <a:buNone/>
            </a:pPr>
            <a:r>
              <a:rPr lang="en-US" sz="3200" dirty="0" err="1">
                <a:solidFill>
                  <a:srgbClr val="212529"/>
                </a:solidFill>
                <a:effectLst/>
                <a:latin typeface="Segoe UI" panose="020B0502040204020203" pitchFamily="34" charset="0"/>
                <a:ea typeface="Times New Roman" panose="02020603050405020304" pitchFamily="18" charset="0"/>
              </a:rPr>
              <a:t>Ví</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dụ</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khai</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báo</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mảng</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số</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nguyên</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hai</a:t>
            </a:r>
            <a:r>
              <a:rPr lang="en-US" sz="3200" dirty="0">
                <a:solidFill>
                  <a:srgbClr val="212529"/>
                </a:solidFill>
                <a:effectLst/>
                <a:latin typeface="Segoe UI" panose="020B0502040204020203" pitchFamily="34" charset="0"/>
                <a:ea typeface="Times New Roman" panose="02020603050405020304" pitchFamily="18" charset="0"/>
              </a:rPr>
              <a:t> </a:t>
            </a:r>
            <a:r>
              <a:rPr lang="en-US" sz="3200" dirty="0" err="1">
                <a:solidFill>
                  <a:srgbClr val="212529"/>
                </a:solidFill>
                <a:effectLst/>
                <a:latin typeface="Segoe UI" panose="020B0502040204020203" pitchFamily="34" charset="0"/>
                <a:ea typeface="Times New Roman" panose="02020603050405020304" pitchFamily="18" charset="0"/>
              </a:rPr>
              <a:t>chiều</a:t>
            </a:r>
            <a:r>
              <a:rPr lang="en-US" sz="3200" dirty="0">
                <a:solidFill>
                  <a:srgbClr val="212529"/>
                </a:solidFill>
                <a:effectLst/>
                <a:latin typeface="Segoe UI" panose="020B0502040204020203" pitchFamily="34" charset="0"/>
                <a:ea typeface="Times New Roman" panose="02020603050405020304" pitchFamily="18" charset="0"/>
              </a:rPr>
              <a:t> 3x4 (3 </a:t>
            </a:r>
            <a:r>
              <a:rPr lang="en-US" sz="3200" dirty="0" err="1">
                <a:solidFill>
                  <a:srgbClr val="212529"/>
                </a:solidFill>
                <a:effectLst/>
                <a:latin typeface="Segoe UI" panose="020B0502040204020203" pitchFamily="34" charset="0"/>
                <a:ea typeface="Times New Roman" panose="02020603050405020304" pitchFamily="18" charset="0"/>
              </a:rPr>
              <a:t>hàng</a:t>
            </a:r>
            <a:r>
              <a:rPr lang="en-US" sz="3200" dirty="0">
                <a:solidFill>
                  <a:srgbClr val="212529"/>
                </a:solidFill>
                <a:effectLst/>
                <a:latin typeface="Segoe UI" panose="020B0502040204020203" pitchFamily="34" charset="0"/>
                <a:ea typeface="Times New Roman" panose="02020603050405020304" pitchFamily="18" charset="0"/>
              </a:rPr>
              <a:t> 4 </a:t>
            </a:r>
            <a:r>
              <a:rPr lang="en-US" sz="3200" dirty="0" err="1">
                <a:solidFill>
                  <a:srgbClr val="212529"/>
                </a:solidFill>
                <a:effectLst/>
                <a:latin typeface="Segoe UI" panose="020B0502040204020203" pitchFamily="34" charset="0"/>
                <a:ea typeface="Times New Roman" panose="02020603050405020304" pitchFamily="18" charset="0"/>
              </a:rPr>
              <a:t>cột</a:t>
            </a:r>
            <a:r>
              <a:rPr lang="en-US" sz="3200" dirty="0">
                <a:solidFill>
                  <a:srgbClr val="212529"/>
                </a:solidFill>
                <a:effectLst/>
                <a:latin typeface="Segoe UI" panose="020B0502040204020203" pitchFamily="34" charset="0"/>
                <a:ea typeface="Times New Roman" panose="02020603050405020304" pitchFamily="18" charset="0"/>
              </a:rPr>
              <a:t>)</a:t>
            </a:r>
            <a:endParaRPr lang="en-US" sz="3200" dirty="0">
              <a:effectLst/>
              <a:latin typeface="Times New Roman" panose="02020603050405020304" pitchFamily="18" charset="0"/>
              <a:ea typeface="Times New Roman" panose="02020603050405020304" pitchFamily="18" charset="0"/>
            </a:endParaRPr>
          </a:p>
          <a:p>
            <a:pPr marL="201168" lvl="1" indent="0">
              <a:buNone/>
            </a:pPr>
            <a:r>
              <a:rPr lang="en-US" sz="3200" dirty="0">
                <a:solidFill>
                  <a:srgbClr val="397300"/>
                </a:solidFill>
                <a:latin typeface="Consolas" panose="020B0609020204030204" pitchFamily="49" charset="0"/>
                <a:cs typeface="Times New Roman" panose="02020603050405020304" pitchFamily="18" charset="0"/>
              </a:rPr>
              <a:t>int</a:t>
            </a:r>
            <a:r>
              <a:rPr lang="en-US" sz="3200" dirty="0"/>
              <a:t>[,] </a:t>
            </a:r>
            <a:r>
              <a:rPr lang="en-US" sz="3200" dirty="0" err="1"/>
              <a:t>myvar</a:t>
            </a:r>
            <a:r>
              <a:rPr lang="en-US" sz="3200" dirty="0"/>
              <a:t> = new int[3,4];</a:t>
            </a:r>
          </a:p>
          <a:p>
            <a:pPr marL="201168" lvl="1" indent="0">
              <a:buNone/>
            </a:pPr>
            <a:r>
              <a:rPr lang="en-US" sz="3200" dirty="0"/>
              <a:t> // </a:t>
            </a:r>
            <a:r>
              <a:rPr lang="en-US" sz="3200" dirty="0" err="1"/>
              <a:t>khai</a:t>
            </a:r>
            <a:r>
              <a:rPr lang="en-US" sz="3200" dirty="0"/>
              <a:t> </a:t>
            </a:r>
            <a:r>
              <a:rPr lang="en-US" sz="3200" dirty="0" err="1"/>
              <a:t>báo</a:t>
            </a:r>
            <a:r>
              <a:rPr lang="en-US" sz="3200" dirty="0"/>
              <a:t> </a:t>
            </a:r>
            <a:r>
              <a:rPr lang="en-US" sz="3200" dirty="0" err="1"/>
              <a:t>và</a:t>
            </a:r>
            <a:r>
              <a:rPr lang="en-US" sz="3200" dirty="0"/>
              <a:t> </a:t>
            </a:r>
            <a:r>
              <a:rPr lang="en-US" sz="3200" dirty="0" err="1"/>
              <a:t>khởi</a:t>
            </a:r>
            <a:r>
              <a:rPr lang="en-US" sz="3200" dirty="0"/>
              <a:t> </a:t>
            </a:r>
            <a:r>
              <a:rPr lang="en-US" sz="3200" dirty="0" err="1"/>
              <a:t>tạo</a:t>
            </a:r>
            <a:r>
              <a:rPr lang="en-US" sz="3200" dirty="0"/>
              <a:t> </a:t>
            </a:r>
            <a:r>
              <a:rPr lang="en-US" sz="3200" dirty="0" err="1"/>
              <a:t>mảng</a:t>
            </a:r>
            <a:r>
              <a:rPr lang="en-US" sz="3200" dirty="0"/>
              <a:t> 2 </a:t>
            </a:r>
            <a:r>
              <a:rPr lang="en-US" sz="3200" dirty="0" err="1"/>
              <a:t>chiều</a:t>
            </a:r>
            <a:endParaRPr lang="en-US" sz="3200" dirty="0"/>
          </a:p>
          <a:p>
            <a:pPr marL="201168" lvl="1" indent="0">
              <a:buNone/>
            </a:pPr>
            <a:r>
              <a:rPr lang="en-US" sz="3200" dirty="0">
                <a:solidFill>
                  <a:srgbClr val="397300"/>
                </a:solidFill>
                <a:effectLst/>
                <a:latin typeface="Consolas" panose="020B0609020204030204" pitchFamily="49" charset="0"/>
                <a:ea typeface="Calibri" panose="020F0502020204030204" pitchFamily="34" charset="0"/>
                <a:cs typeface="Times New Roman" panose="02020603050405020304" pitchFamily="18" charset="0"/>
              </a:rPr>
              <a:t>int</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3200" dirty="0" err="1">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myvar</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 </a:t>
            </a:r>
            <a:r>
              <a:rPr lang="en-US" sz="3200" b="1"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new</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3200" dirty="0">
                <a:solidFill>
                  <a:srgbClr val="397300"/>
                </a:solidFill>
                <a:effectLst/>
                <a:latin typeface="Consolas" panose="020B0609020204030204" pitchFamily="49" charset="0"/>
                <a:ea typeface="Calibri" panose="020F0502020204030204" pitchFamily="34" charset="0"/>
                <a:cs typeface="Times New Roman" panose="02020603050405020304" pitchFamily="18" charset="0"/>
              </a:rPr>
              <a:t>int</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4</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1</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2</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4</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0</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1</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4</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2</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32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4</a:t>
            </a:r>
            <a:r>
              <a:rPr lang="en-US" sz="32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3200" dirty="0"/>
          </a:p>
        </p:txBody>
      </p:sp>
    </p:spTree>
    <p:extLst>
      <p:ext uri="{BB962C8B-B14F-4D97-AF65-F5344CB8AC3E}">
        <p14:creationId xmlns:p14="http://schemas.microsoft.com/office/powerpoint/2010/main" val="27987356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81A73-C46E-232B-544D-6386A11860AB}"/>
              </a:ext>
            </a:extLst>
          </p:cNvPr>
          <p:cNvSpPr>
            <a:spLocks noGrp="1"/>
          </p:cNvSpPr>
          <p:nvPr>
            <p:ph type="title"/>
          </p:nvPr>
        </p:nvSpPr>
        <p:spPr/>
        <p:txBody>
          <a:bodyPr/>
          <a:lstStyle/>
          <a:p>
            <a:r>
              <a:rPr lang="en-US" sz="4800" b="0" dirty="0" err="1">
                <a:solidFill>
                  <a:srgbClr val="17A2B8"/>
                </a:solidFill>
                <a:effectLst/>
                <a:latin typeface="Segoe UI" panose="020B0502040204020203" pitchFamily="34" charset="0"/>
                <a:ea typeface="Times New Roman" panose="02020603050405020304" pitchFamily="18" charset="0"/>
              </a:rPr>
              <a:t>Mảng</a:t>
            </a:r>
            <a:r>
              <a:rPr lang="en-US" sz="4800" b="0" dirty="0">
                <a:solidFill>
                  <a:srgbClr val="17A2B8"/>
                </a:solidFill>
                <a:effectLst/>
                <a:latin typeface="Segoe UI" panose="020B0502040204020203" pitchFamily="34" charset="0"/>
                <a:ea typeface="Times New Roman" panose="02020603050405020304" pitchFamily="18" charset="0"/>
              </a:rPr>
              <a:t> </a:t>
            </a:r>
            <a:r>
              <a:rPr lang="en-US" sz="4800" b="0" dirty="0" err="1">
                <a:solidFill>
                  <a:srgbClr val="17A2B8"/>
                </a:solidFill>
                <a:effectLst/>
                <a:latin typeface="Segoe UI" panose="020B0502040204020203" pitchFamily="34" charset="0"/>
                <a:ea typeface="Times New Roman" panose="02020603050405020304" pitchFamily="18" charset="0"/>
              </a:rPr>
              <a:t>nhiều</a:t>
            </a:r>
            <a:r>
              <a:rPr lang="en-US" sz="4800" b="0" dirty="0">
                <a:solidFill>
                  <a:srgbClr val="17A2B8"/>
                </a:solidFill>
                <a:effectLst/>
                <a:latin typeface="Segoe UI" panose="020B0502040204020203" pitchFamily="34" charset="0"/>
                <a:ea typeface="Times New Roman" panose="02020603050405020304" pitchFamily="18" charset="0"/>
              </a:rPr>
              <a:t> </a:t>
            </a:r>
            <a:r>
              <a:rPr lang="en-US" sz="4800" b="0" dirty="0" err="1">
                <a:solidFill>
                  <a:srgbClr val="17A2B8"/>
                </a:solidFill>
                <a:effectLst/>
                <a:latin typeface="Segoe UI" panose="020B0502040204020203" pitchFamily="34" charset="0"/>
                <a:ea typeface="Times New Roman" panose="02020603050405020304" pitchFamily="18" charset="0"/>
              </a:rPr>
              <a:t>chiều</a:t>
            </a:r>
            <a:r>
              <a:rPr lang="en-US" sz="4800" b="0" dirty="0">
                <a:solidFill>
                  <a:srgbClr val="17A2B8"/>
                </a:solidFill>
                <a:effectLst/>
                <a:latin typeface="Segoe UI" panose="020B0502040204020203" pitchFamily="34" charset="0"/>
                <a:ea typeface="Times New Roman" panose="02020603050405020304" pitchFamily="18" charset="0"/>
              </a:rPr>
              <a:t> (rank)</a:t>
            </a:r>
            <a:endParaRPr lang="en-US" dirty="0"/>
          </a:p>
        </p:txBody>
      </p:sp>
      <p:sp>
        <p:nvSpPr>
          <p:cNvPr id="3" name="Content Placeholder 2">
            <a:extLst>
              <a:ext uri="{FF2B5EF4-FFF2-40B4-BE49-F238E27FC236}">
                <a16:creationId xmlns:a16="http://schemas.microsoft.com/office/drawing/2014/main" id="{8E6BEE4C-441E-F2F8-035F-6193EC663347}"/>
              </a:ext>
            </a:extLst>
          </p:cNvPr>
          <p:cNvSpPr>
            <a:spLocks noGrp="1"/>
          </p:cNvSpPr>
          <p:nvPr>
            <p:ph idx="1"/>
          </p:nvPr>
        </p:nvSpPr>
        <p:spPr/>
        <p:txBody>
          <a:bodyPr>
            <a:normAutofit fontScale="85000" lnSpcReduction="20000"/>
          </a:bodyPr>
          <a:lstStyle/>
          <a:p>
            <a:r>
              <a:rPr lang="en-US" sz="2000" dirty="0">
                <a:solidFill>
                  <a:srgbClr val="397300"/>
                </a:solidFill>
                <a:effectLst/>
                <a:latin typeface="Consolas" panose="020B0609020204030204" pitchFamily="49" charset="0"/>
                <a:ea typeface="Calibri" panose="020F0502020204030204" pitchFamily="34" charset="0"/>
                <a:cs typeface="Times New Roman" panose="02020603050405020304" pitchFamily="18" charset="0"/>
              </a:rPr>
              <a:t>int</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2000" dirty="0" err="1">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myvar</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 </a:t>
            </a:r>
            <a:r>
              <a:rPr lang="en-US" sz="2000" b="1"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new</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2000" dirty="0">
                <a:solidFill>
                  <a:srgbClr val="397300"/>
                </a:solidFill>
                <a:effectLst/>
                <a:latin typeface="Consolas" panose="020B0609020204030204" pitchFamily="49" charset="0"/>
                <a:ea typeface="Calibri" panose="020F0502020204030204" pitchFamily="34" charset="0"/>
                <a:cs typeface="Times New Roman" panose="02020603050405020304" pitchFamily="18" charset="0"/>
              </a:rPr>
              <a:t>int</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4</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1</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2</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4</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0</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1</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4</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2</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3</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a:t>
            </a:r>
            <a:r>
              <a:rPr lang="en-US" sz="2000" dirty="0">
                <a:solidFill>
                  <a:srgbClr val="880000"/>
                </a:solidFill>
                <a:effectLst/>
                <a:latin typeface="Consolas" panose="020B0609020204030204" pitchFamily="49" charset="0"/>
                <a:ea typeface="Calibri" panose="020F0502020204030204" pitchFamily="34" charset="0"/>
                <a:cs typeface="Times New Roman" panose="02020603050405020304" pitchFamily="18" charset="0"/>
              </a:rPr>
              <a:t>4</a:t>
            </a:r>
            <a:r>
              <a:rPr lang="en-US" sz="2000" dirty="0">
                <a:solidFill>
                  <a:srgbClr val="444444"/>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dirty="0"/>
          </a:p>
          <a:p>
            <a:r>
              <a:rPr lang="en-US" dirty="0"/>
              <a:t>for (int </a:t>
            </a:r>
            <a:r>
              <a:rPr lang="en-US" dirty="0" err="1"/>
              <a:t>i</a:t>
            </a:r>
            <a:r>
              <a:rPr lang="en-US" dirty="0"/>
              <a:t> = 0; </a:t>
            </a:r>
            <a:r>
              <a:rPr lang="en-US" dirty="0" err="1"/>
              <a:t>i</a:t>
            </a:r>
            <a:r>
              <a:rPr lang="en-US" dirty="0"/>
              <a:t> &lt;= 2; </a:t>
            </a:r>
            <a:r>
              <a:rPr lang="en-US" dirty="0" err="1"/>
              <a:t>i</a:t>
            </a:r>
            <a:r>
              <a:rPr lang="en-US" dirty="0"/>
              <a:t> ++)                                           </a:t>
            </a:r>
          </a:p>
          <a:p>
            <a:r>
              <a:rPr lang="en-US" dirty="0"/>
              <a:t>// </a:t>
            </a:r>
            <a:r>
              <a:rPr lang="en-US" dirty="0" err="1"/>
              <a:t>duyệt</a:t>
            </a:r>
            <a:r>
              <a:rPr lang="en-US" dirty="0"/>
              <a:t> qua </a:t>
            </a:r>
            <a:r>
              <a:rPr lang="en-US" dirty="0" err="1"/>
              <a:t>từng</a:t>
            </a:r>
            <a:r>
              <a:rPr lang="en-US" dirty="0"/>
              <a:t> </a:t>
            </a:r>
            <a:r>
              <a:rPr lang="en-US" dirty="0" err="1"/>
              <a:t>hàng</a:t>
            </a:r>
            <a:endParaRPr lang="en-US" dirty="0"/>
          </a:p>
          <a:p>
            <a:r>
              <a:rPr lang="en-US" dirty="0"/>
              <a:t>{</a:t>
            </a:r>
          </a:p>
          <a:p>
            <a:r>
              <a:rPr lang="en-US" dirty="0"/>
              <a:t>    for(int j = 0; j &lt;=3; </a:t>
            </a:r>
            <a:r>
              <a:rPr lang="en-US" dirty="0" err="1"/>
              <a:t>j++</a:t>
            </a:r>
            <a:r>
              <a:rPr lang="en-US" dirty="0"/>
              <a:t>)                                          </a:t>
            </a:r>
          </a:p>
          <a:p>
            <a:r>
              <a:rPr lang="en-US" dirty="0"/>
              <a:t>	// </a:t>
            </a:r>
            <a:r>
              <a:rPr lang="en-US" dirty="0" err="1"/>
              <a:t>duyệt</a:t>
            </a:r>
            <a:r>
              <a:rPr lang="en-US" dirty="0"/>
              <a:t> qua </a:t>
            </a:r>
            <a:r>
              <a:rPr lang="en-US" dirty="0" err="1"/>
              <a:t>từng</a:t>
            </a:r>
            <a:r>
              <a:rPr lang="en-US" dirty="0"/>
              <a:t> </a:t>
            </a:r>
            <a:r>
              <a:rPr lang="en-US" dirty="0" err="1"/>
              <a:t>cột</a:t>
            </a:r>
            <a:endParaRPr lang="en-US" dirty="0"/>
          </a:p>
          <a:p>
            <a:r>
              <a:rPr lang="en-US" dirty="0"/>
              <a:t>    {</a:t>
            </a:r>
          </a:p>
          <a:p>
            <a:r>
              <a:rPr lang="en-US"/>
              <a:t>        Console.Write(myvar[i,j] + " ");</a:t>
            </a:r>
          </a:p>
          <a:p>
            <a:r>
              <a:rPr lang="en-US"/>
              <a:t>    }</a:t>
            </a:r>
          </a:p>
          <a:p>
            <a:r>
              <a:rPr lang="en-US"/>
              <a:t>    </a:t>
            </a:r>
            <a:r>
              <a:rPr lang="en-US" dirty="0" err="1"/>
              <a:t>Console.WriteLine</a:t>
            </a:r>
            <a:r>
              <a:rPr lang="en-US" dirty="0"/>
              <a:t>();</a:t>
            </a:r>
          </a:p>
          <a:p>
            <a:r>
              <a:rPr lang="en-US" dirty="0"/>
              <a:t>}</a:t>
            </a:r>
          </a:p>
          <a:p>
            <a:endParaRPr lang="en-US" dirty="0"/>
          </a:p>
        </p:txBody>
      </p:sp>
    </p:spTree>
    <p:extLst>
      <p:ext uri="{BB962C8B-B14F-4D97-AF65-F5344CB8AC3E}">
        <p14:creationId xmlns:p14="http://schemas.microsoft.com/office/powerpoint/2010/main" val="4131548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2474" y="98427"/>
            <a:ext cx="9362307" cy="460374"/>
          </a:xfrm>
        </p:spPr>
        <p:txBody>
          <a:bodyPr>
            <a:normAutofit fontScale="90000"/>
          </a:bodyPr>
          <a:lstStyle/>
          <a:p>
            <a:r>
              <a:rPr lang="en-US" b="1" dirty="0" err="1"/>
              <a:t>Ví</a:t>
            </a:r>
            <a:r>
              <a:rPr lang="en-US" b="1" dirty="0"/>
              <a:t> </a:t>
            </a:r>
            <a:r>
              <a:rPr lang="en-US" b="1" dirty="0" err="1"/>
              <a:t>dụ</a:t>
            </a:r>
            <a:r>
              <a:rPr lang="en-US" b="1" dirty="0"/>
              <a:t>: </a:t>
            </a:r>
            <a:r>
              <a:rPr lang="en-US" b="1" dirty="0" err="1"/>
              <a:t>Mảng</a:t>
            </a:r>
            <a:r>
              <a:rPr lang="en-US" b="1" dirty="0"/>
              <a:t> </a:t>
            </a:r>
            <a:r>
              <a:rPr lang="en-US" b="1" dirty="0" err="1"/>
              <a:t>nhập</a:t>
            </a:r>
            <a:r>
              <a:rPr lang="en-US" b="1" dirty="0"/>
              <a:t> </a:t>
            </a:r>
            <a:r>
              <a:rPr lang="en-US" b="1" dirty="0" err="1"/>
              <a:t>xuất</a:t>
            </a:r>
            <a:r>
              <a:rPr lang="en-US" b="1" dirty="0"/>
              <a:t> </a:t>
            </a:r>
            <a:r>
              <a:rPr lang="en-US" b="1" dirty="0" err="1"/>
              <a:t>mảng</a:t>
            </a:r>
            <a:r>
              <a:rPr lang="en-US" b="1" dirty="0"/>
              <a:t> </a:t>
            </a:r>
            <a:r>
              <a:rPr lang="en-US" b="1" dirty="0" err="1"/>
              <a:t>hai</a:t>
            </a:r>
            <a:r>
              <a:rPr lang="en-US" b="1" dirty="0"/>
              <a:t> </a:t>
            </a:r>
            <a:r>
              <a:rPr lang="en-US" b="1" dirty="0" err="1"/>
              <a:t>chiều</a:t>
            </a:r>
            <a:endParaRPr lang="en-US" b="1" dirty="0"/>
          </a:p>
        </p:txBody>
      </p:sp>
      <p:sp>
        <p:nvSpPr>
          <p:cNvPr id="5" name="Content Placeholder 4">
            <a:extLst>
              <a:ext uri="{FF2B5EF4-FFF2-40B4-BE49-F238E27FC236}">
                <a16:creationId xmlns:a16="http://schemas.microsoft.com/office/drawing/2014/main" id="{F62201D0-B02C-55C6-1EE2-862BCCC52867}"/>
              </a:ext>
            </a:extLst>
          </p:cNvPr>
          <p:cNvSpPr>
            <a:spLocks noGrp="1"/>
          </p:cNvSpPr>
          <p:nvPr>
            <p:ph idx="1"/>
          </p:nvPr>
        </p:nvSpPr>
        <p:spPr/>
        <p:txBody>
          <a:bodyPr/>
          <a:lstStyle/>
          <a:p>
            <a:endParaRPr lang="en-US"/>
          </a:p>
        </p:txBody>
      </p:sp>
      <p:pic>
        <p:nvPicPr>
          <p:cNvPr id="6" name="Content Placeholder 3" descr="ARRAY - Microsoft Visual Studio">
            <a:extLst>
              <a:ext uri="{FF2B5EF4-FFF2-40B4-BE49-F238E27FC236}">
                <a16:creationId xmlns:a16="http://schemas.microsoft.com/office/drawing/2014/main" id="{33AED562-6197-C7B5-EC75-D066F3DA05F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82" t="6695" r="5651" b="3763"/>
          <a:stretch/>
        </p:blipFill>
        <p:spPr>
          <a:xfrm>
            <a:off x="1097280" y="558801"/>
            <a:ext cx="9487530" cy="6494645"/>
          </a:xfrm>
          <a:prstGeom prst="rect">
            <a:avLst/>
          </a:prstGeom>
        </p:spPr>
      </p:pic>
    </p:spTree>
    <p:extLst>
      <p:ext uri="{BB962C8B-B14F-4D97-AF65-F5344CB8AC3E}">
        <p14:creationId xmlns:p14="http://schemas.microsoft.com/office/powerpoint/2010/main" val="20498680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919C1-6265-FDE8-8E18-4521B21EC8A8}"/>
              </a:ext>
            </a:extLst>
          </p:cNvPr>
          <p:cNvSpPr>
            <a:spLocks noGrp="1"/>
          </p:cNvSpPr>
          <p:nvPr>
            <p:ph type="title"/>
          </p:nvPr>
        </p:nvSpPr>
        <p:spPr/>
        <p:txBody>
          <a:bodyPr/>
          <a:lstStyle/>
          <a:p>
            <a:r>
              <a:rPr lang="en-US" sz="8000" dirty="0">
                <a:solidFill>
                  <a:srgbClr val="0070C0"/>
                </a:solidFill>
                <a:effectLst/>
                <a:latin typeface="Times New Roman" panose="02020603050405020304" pitchFamily="18" charset="0"/>
                <a:ea typeface="Times New Roman" panose="02020603050405020304" pitchFamily="18" charset="0"/>
              </a:rPr>
              <a:t>2.6.3	</a:t>
            </a:r>
            <a:r>
              <a:rPr lang="en-US" sz="8000" dirty="0" err="1">
                <a:solidFill>
                  <a:srgbClr val="0070C0"/>
                </a:solidFill>
                <a:effectLst/>
                <a:latin typeface="Times New Roman" panose="02020603050405020304" pitchFamily="18" charset="0"/>
                <a:ea typeface="Times New Roman" panose="02020603050405020304" pitchFamily="18" charset="0"/>
              </a:rPr>
              <a:t>Mảng</a:t>
            </a:r>
            <a:r>
              <a:rPr lang="en-US" sz="8000" dirty="0">
                <a:solidFill>
                  <a:srgbClr val="0070C0"/>
                </a:solidFill>
                <a:effectLst/>
                <a:latin typeface="Times New Roman" panose="02020603050405020304" pitchFamily="18" charset="0"/>
                <a:ea typeface="Times New Roman" panose="02020603050405020304" pitchFamily="18" charset="0"/>
              </a:rPr>
              <a:t> </a:t>
            </a:r>
            <a:r>
              <a:rPr lang="en-US" sz="8000" dirty="0" err="1">
                <a:solidFill>
                  <a:srgbClr val="0070C0"/>
                </a:solidFill>
                <a:effectLst/>
                <a:latin typeface="Times New Roman" panose="02020603050405020304" pitchFamily="18" charset="0"/>
                <a:ea typeface="Times New Roman" panose="02020603050405020304" pitchFamily="18" charset="0"/>
              </a:rPr>
              <a:t>ziczac</a:t>
            </a:r>
            <a:endParaRPr lang="en-US" dirty="0"/>
          </a:p>
        </p:txBody>
      </p:sp>
      <p:sp>
        <p:nvSpPr>
          <p:cNvPr id="3" name="Text Placeholder 2">
            <a:extLst>
              <a:ext uri="{FF2B5EF4-FFF2-40B4-BE49-F238E27FC236}">
                <a16:creationId xmlns:a16="http://schemas.microsoft.com/office/drawing/2014/main" id="{72C79CA2-F937-6534-2EDF-FD77A9AE3DC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146571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136775" y="228600"/>
            <a:ext cx="8153400" cy="990600"/>
          </a:xfrm>
        </p:spPr>
        <p:txBody>
          <a:bodyPr/>
          <a:lstStyle/>
          <a:p>
            <a:pPr eaLnBrk="1" hangingPunct="1"/>
            <a:r>
              <a:rPr lang="en-US" altLang="en-US"/>
              <a:t>Jagged Array</a:t>
            </a:r>
          </a:p>
        </p:txBody>
      </p:sp>
      <p:sp>
        <p:nvSpPr>
          <p:cNvPr id="60419" name="Slide Number Placeholder 3"/>
          <p:cNvSpPr>
            <a:spLocks noGrp="1"/>
          </p:cNvSpPr>
          <p:nvPr>
            <p:ph type="sldNum" sz="quarter" idx="12"/>
          </p:nvPr>
        </p:nvSpPr>
        <p:spPr bwMode="auto">
          <a:ln>
            <a:miter lim="800000"/>
            <a:headEnd/>
            <a:tailEnd/>
          </a:ln>
        </p:spPr>
        <p:txBody>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algn="ctr" defTabSz="914400" eaLnBrk="1" fontAlgn="base" hangingPunct="1">
              <a:lnSpc>
                <a:spcPct val="80000"/>
              </a:lnSpc>
              <a:spcBef>
                <a:spcPct val="0"/>
              </a:spcBef>
              <a:spcAft>
                <a:spcPct val="0"/>
              </a:spcAft>
              <a:defRPr/>
            </a:pPr>
            <a:fld id="{4BB97C1D-C902-4833-84BF-4FAB899E71A9}" type="slidenum">
              <a:rPr lang="en-US" altLang="en-US" sz="1200">
                <a:solidFill>
                  <a:srgbClr val="FFFFFF"/>
                </a:solidFill>
              </a:rPr>
              <a:pPr algn="ctr" defTabSz="914400" eaLnBrk="1" fontAlgn="base" hangingPunct="1">
                <a:lnSpc>
                  <a:spcPct val="80000"/>
                </a:lnSpc>
                <a:spcBef>
                  <a:spcPct val="0"/>
                </a:spcBef>
                <a:spcAft>
                  <a:spcPct val="0"/>
                </a:spcAft>
                <a:defRPr/>
              </a:pPr>
              <a:t>75</a:t>
            </a:fld>
            <a:endParaRPr lang="en-US" altLang="en-US" sz="1200">
              <a:solidFill>
                <a:srgbClr val="FFFFFF"/>
              </a:solidFill>
            </a:endParaRPr>
          </a:p>
        </p:txBody>
      </p:sp>
      <p:sp>
        <p:nvSpPr>
          <p:cNvPr id="61444" name="Rectangle 3"/>
          <p:cNvSpPr>
            <a:spLocks noGrp="1" noChangeArrowheads="1"/>
          </p:cNvSpPr>
          <p:nvPr>
            <p:ph sz="quarter" idx="1"/>
          </p:nvPr>
        </p:nvSpPr>
        <p:spPr>
          <a:xfrm>
            <a:off x="1905001" y="2557464"/>
            <a:ext cx="8410575" cy="1862137"/>
          </a:xfrm>
        </p:spPr>
        <p:txBody>
          <a:bodyPr>
            <a:normAutofit lnSpcReduction="10000"/>
          </a:bodyPr>
          <a:lstStyle/>
          <a:p>
            <a:pPr eaLnBrk="1" hangingPunct="1"/>
            <a:r>
              <a:rPr lang="en-US" altLang="en-US" sz="2800"/>
              <a:t>Jagged là mảng mà mỗi phần tử là một mảng có kích thước </a:t>
            </a:r>
            <a:r>
              <a:rPr lang="en-US" altLang="en-US" sz="2800">
                <a:solidFill>
                  <a:srgbClr val="FF0000"/>
                </a:solidFill>
              </a:rPr>
              <a:t>khác nhau</a:t>
            </a:r>
          </a:p>
          <a:p>
            <a:pPr eaLnBrk="1" hangingPunct="1"/>
            <a:r>
              <a:rPr lang="en-US" altLang="en-US" sz="2800"/>
              <a:t>Những mảng con này phải được khai báo riêng</a:t>
            </a:r>
          </a:p>
          <a:p>
            <a:pPr eaLnBrk="1" hangingPunct="1"/>
            <a:r>
              <a:rPr lang="en-US" altLang="en-US" sz="2800"/>
              <a:t>Khai báo mảng 3 dòng, mỗi dòng là một mảng 1 chiều</a:t>
            </a:r>
          </a:p>
          <a:p>
            <a:pPr lvl="1" eaLnBrk="1" hangingPunct="1"/>
            <a:endParaRPr lang="en-US" altLang="en-US" sz="2400"/>
          </a:p>
        </p:txBody>
      </p:sp>
      <p:sp>
        <p:nvSpPr>
          <p:cNvPr id="130052" name="Text Box 4"/>
          <p:cNvSpPr txBox="1">
            <a:spLocks noChangeArrowheads="1"/>
          </p:cNvSpPr>
          <p:nvPr/>
        </p:nvSpPr>
        <p:spPr bwMode="auto">
          <a:xfrm>
            <a:off x="3692526" y="1701800"/>
            <a:ext cx="4805363" cy="5842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spAutoFit/>
          </a:bodyPr>
          <a:lstStyle/>
          <a:p>
            <a:pPr defTabSz="914400" fontAlgn="base">
              <a:spcBef>
                <a:spcPct val="0"/>
              </a:spcBef>
              <a:spcAft>
                <a:spcPct val="0"/>
              </a:spcAft>
              <a:defRPr/>
            </a:pPr>
            <a:r>
              <a:rPr lang="en-US" sz="3200" b="1" dirty="0" err="1">
                <a:solidFill>
                  <a:prstClr val="white"/>
                </a:solidFill>
                <a:effectLst>
                  <a:outerShdw blurRad="38100" dist="38100" dir="2700000" algn="tl">
                    <a:srgbClr val="000000"/>
                  </a:outerShdw>
                </a:effectLst>
                <a:latin typeface="Tw Cen MT"/>
                <a:cs typeface="Arial" charset="0"/>
              </a:rPr>
              <a:t>Datatype</a:t>
            </a:r>
            <a:r>
              <a:rPr lang="en-US" sz="3200" b="1" dirty="0">
                <a:solidFill>
                  <a:prstClr val="white"/>
                </a:solidFill>
                <a:effectLst>
                  <a:outerShdw blurRad="38100" dist="38100" dir="2700000" algn="tl">
                    <a:srgbClr val="000000"/>
                  </a:outerShdw>
                </a:effectLst>
                <a:latin typeface="Tw Cen MT"/>
                <a:cs typeface="Arial" charset="0"/>
              </a:rPr>
              <a:t>[ ][ ]   array-name</a:t>
            </a:r>
          </a:p>
        </p:txBody>
      </p:sp>
      <p:sp>
        <p:nvSpPr>
          <p:cNvPr id="61446" name="Text Box 5"/>
          <p:cNvSpPr txBox="1">
            <a:spLocks noChangeArrowheads="1"/>
          </p:cNvSpPr>
          <p:nvPr/>
        </p:nvSpPr>
        <p:spPr bwMode="auto">
          <a:xfrm>
            <a:off x="3429000" y="4648200"/>
            <a:ext cx="4038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defTabSz="914400" eaLnBrk="1" fontAlgn="base" hangingPunct="1">
              <a:spcBef>
                <a:spcPct val="0"/>
              </a:spcBef>
              <a:spcAft>
                <a:spcPct val="0"/>
              </a:spcAft>
              <a:defRPr/>
            </a:pPr>
            <a:r>
              <a:rPr lang="en-US" altLang="en-US" sz="2400" b="0">
                <a:solidFill>
                  <a:prstClr val="black"/>
                </a:solidFill>
                <a:latin typeface="Bitstream Vera Serif" pitchFamily="18" charset="0"/>
                <a:cs typeface="Arial" panose="020B0604020202020204" pitchFamily="34" charset="0"/>
              </a:rPr>
              <a:t>int[][] a = new int[3][];</a:t>
            </a:r>
            <a:br>
              <a:rPr lang="en-US" altLang="en-US" sz="2400" b="0">
                <a:solidFill>
                  <a:prstClr val="black"/>
                </a:solidFill>
                <a:latin typeface="Bitstream Vera Serif" pitchFamily="18" charset="0"/>
                <a:cs typeface="Arial" panose="020B0604020202020204" pitchFamily="34" charset="0"/>
              </a:rPr>
            </a:br>
            <a:r>
              <a:rPr lang="en-US" altLang="en-US" sz="2400" b="0">
                <a:solidFill>
                  <a:prstClr val="black"/>
                </a:solidFill>
                <a:latin typeface="Bitstream Vera Serif" pitchFamily="18" charset="0"/>
                <a:cs typeface="Arial" panose="020B0604020202020204" pitchFamily="34" charset="0"/>
              </a:rPr>
              <a:t>a[0] = new int[4];</a:t>
            </a:r>
            <a:br>
              <a:rPr lang="en-US" altLang="en-US" sz="2400" b="0">
                <a:solidFill>
                  <a:prstClr val="black"/>
                </a:solidFill>
                <a:latin typeface="Bitstream Vera Serif" pitchFamily="18" charset="0"/>
                <a:cs typeface="Arial" panose="020B0604020202020204" pitchFamily="34" charset="0"/>
              </a:rPr>
            </a:br>
            <a:r>
              <a:rPr lang="en-US" altLang="en-US" sz="2400" b="0">
                <a:solidFill>
                  <a:prstClr val="black"/>
                </a:solidFill>
                <a:latin typeface="Bitstream Vera Serif" pitchFamily="18" charset="0"/>
                <a:cs typeface="Arial" panose="020B0604020202020204" pitchFamily="34" charset="0"/>
              </a:rPr>
              <a:t>a[1] = new int[3];</a:t>
            </a:r>
            <a:br>
              <a:rPr lang="en-US" altLang="en-US" sz="2400" b="0">
                <a:solidFill>
                  <a:prstClr val="black"/>
                </a:solidFill>
                <a:latin typeface="Bitstream Vera Serif" pitchFamily="18" charset="0"/>
                <a:cs typeface="Arial" panose="020B0604020202020204" pitchFamily="34" charset="0"/>
              </a:rPr>
            </a:br>
            <a:r>
              <a:rPr lang="en-US" altLang="en-US" sz="2400" b="0">
                <a:solidFill>
                  <a:prstClr val="black"/>
                </a:solidFill>
                <a:latin typeface="Bitstream Vera Serif" pitchFamily="18" charset="0"/>
                <a:cs typeface="Arial" panose="020B0604020202020204" pitchFamily="34" charset="0"/>
              </a:rPr>
              <a:t>a[2] = new int[1];</a:t>
            </a:r>
          </a:p>
        </p:txBody>
      </p:sp>
      <p:sp>
        <p:nvSpPr>
          <p:cNvPr id="60423" name="Line 6"/>
          <p:cNvSpPr>
            <a:spLocks noChangeShapeType="1"/>
          </p:cNvSpPr>
          <p:nvPr/>
        </p:nvSpPr>
        <p:spPr bwMode="auto">
          <a:xfrm>
            <a:off x="6502400" y="5029200"/>
            <a:ext cx="1447800" cy="4572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pPr algn="ctr" defTabSz="914400" fontAlgn="base">
              <a:spcBef>
                <a:spcPct val="0"/>
              </a:spcBef>
              <a:spcAft>
                <a:spcPct val="0"/>
              </a:spcAft>
              <a:defRPr/>
            </a:pPr>
            <a:endParaRPr lang="en-US" b="1">
              <a:solidFill>
                <a:prstClr val="black"/>
              </a:solidFill>
              <a:latin typeface="Tw Cen MT"/>
            </a:endParaRPr>
          </a:p>
        </p:txBody>
      </p:sp>
      <p:sp>
        <p:nvSpPr>
          <p:cNvPr id="61448" name="Text Box 7"/>
          <p:cNvSpPr txBox="1">
            <a:spLocks noChangeArrowheads="1"/>
          </p:cNvSpPr>
          <p:nvPr/>
        </p:nvSpPr>
        <p:spPr bwMode="auto">
          <a:xfrm>
            <a:off x="7880350" y="5321301"/>
            <a:ext cx="2597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defTabSz="914400" eaLnBrk="1" fontAlgn="base" hangingPunct="1">
              <a:spcBef>
                <a:spcPct val="0"/>
              </a:spcBef>
              <a:spcAft>
                <a:spcPct val="0"/>
              </a:spcAft>
              <a:defRPr/>
            </a:pPr>
            <a:r>
              <a:rPr lang="en-US" altLang="en-US" b="0">
                <a:solidFill>
                  <a:prstClr val="black"/>
                </a:solidFill>
                <a:cs typeface="Arial" panose="020B0604020202020204" pitchFamily="34" charset="0"/>
              </a:rPr>
              <a:t>Khai báo số dòng, hàng</a:t>
            </a:r>
          </a:p>
        </p:txBody>
      </p:sp>
      <p:sp>
        <p:nvSpPr>
          <p:cNvPr id="60425" name="Line 8"/>
          <p:cNvSpPr>
            <a:spLocks noChangeShapeType="1"/>
          </p:cNvSpPr>
          <p:nvPr/>
        </p:nvSpPr>
        <p:spPr bwMode="auto">
          <a:xfrm>
            <a:off x="6324600" y="5638800"/>
            <a:ext cx="1600200" cy="4572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pPr algn="ctr" defTabSz="914400" fontAlgn="base">
              <a:spcBef>
                <a:spcPct val="0"/>
              </a:spcBef>
              <a:spcAft>
                <a:spcPct val="0"/>
              </a:spcAft>
              <a:defRPr/>
            </a:pPr>
            <a:endParaRPr lang="en-US" b="1">
              <a:solidFill>
                <a:prstClr val="black"/>
              </a:solidFill>
              <a:latin typeface="Tw Cen MT"/>
            </a:endParaRPr>
          </a:p>
        </p:txBody>
      </p:sp>
      <p:sp>
        <p:nvSpPr>
          <p:cNvPr id="61450" name="Text Box 9"/>
          <p:cNvSpPr txBox="1">
            <a:spLocks noChangeArrowheads="1"/>
          </p:cNvSpPr>
          <p:nvPr/>
        </p:nvSpPr>
        <p:spPr bwMode="auto">
          <a:xfrm>
            <a:off x="7924800" y="5943600"/>
            <a:ext cx="2762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defTabSz="914400" eaLnBrk="1" fontAlgn="base" hangingPunct="1">
              <a:spcBef>
                <a:spcPct val="0"/>
              </a:spcBef>
              <a:spcAft>
                <a:spcPct val="0"/>
              </a:spcAft>
              <a:defRPr/>
            </a:pPr>
            <a:r>
              <a:rPr lang="en-US" altLang="en-US" b="0">
                <a:solidFill>
                  <a:prstClr val="black"/>
                </a:solidFill>
                <a:cs typeface="Arial" panose="020B0604020202020204" pitchFamily="34" charset="0"/>
              </a:rPr>
              <a:t>Khai báo số cột riêng cho</a:t>
            </a:r>
          </a:p>
          <a:p>
            <a:pPr defTabSz="914400" eaLnBrk="1" fontAlgn="base" hangingPunct="1">
              <a:spcBef>
                <a:spcPct val="0"/>
              </a:spcBef>
              <a:spcAft>
                <a:spcPct val="0"/>
              </a:spcAft>
              <a:defRPr/>
            </a:pPr>
            <a:r>
              <a:rPr lang="en-US" altLang="en-US" b="0">
                <a:solidFill>
                  <a:prstClr val="black"/>
                </a:solidFill>
                <a:cs typeface="Arial" panose="020B0604020202020204" pitchFamily="34" charset="0"/>
              </a:rPr>
              <a:t>từng dòng</a:t>
            </a:r>
          </a:p>
        </p:txBody>
      </p:sp>
    </p:spTree>
    <p:extLst>
      <p:ext uri="{BB962C8B-B14F-4D97-AF65-F5344CB8AC3E}">
        <p14:creationId xmlns:p14="http://schemas.microsoft.com/office/powerpoint/2010/main" val="12502950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a:xfrm>
            <a:off x="2136775" y="228600"/>
            <a:ext cx="8153400" cy="990600"/>
          </a:xfrm>
        </p:spPr>
        <p:txBody>
          <a:bodyPr/>
          <a:lstStyle/>
          <a:p>
            <a:endParaRPr lang="en-US" altLang="en-US"/>
          </a:p>
        </p:txBody>
      </p:sp>
      <p:sp>
        <p:nvSpPr>
          <p:cNvPr id="63491" name="Content Placeholder 2"/>
          <p:cNvSpPr>
            <a:spLocks noGrp="1"/>
          </p:cNvSpPr>
          <p:nvPr>
            <p:ph sz="quarter" idx="1"/>
          </p:nvPr>
        </p:nvSpPr>
        <p:spPr>
          <a:xfrm>
            <a:off x="2136775" y="1828800"/>
            <a:ext cx="8153400" cy="4267200"/>
          </a:xfrm>
        </p:spPr>
        <p:txBody>
          <a:bodyPr/>
          <a:lstStyle/>
          <a:p>
            <a:endParaRPr lang="en-US" altLang="en-US"/>
          </a:p>
        </p:txBody>
      </p:sp>
      <p:sp>
        <p:nvSpPr>
          <p:cNvPr id="4" name="Slide Number Placeholder 3"/>
          <p:cNvSpPr>
            <a:spLocks noGrp="1"/>
          </p:cNvSpPr>
          <p:nvPr>
            <p:ph type="sldNum" sz="quarter" idx="12"/>
          </p:nvPr>
        </p:nvSpPr>
        <p:spPr/>
        <p:txBody>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eaLnBrk="1" hangingPunct="1">
              <a:lnSpc>
                <a:spcPct val="80000"/>
              </a:lnSpc>
            </a:pPr>
            <a:fld id="{453C4065-4102-4D7E-8F39-C29DF8C1AB9A}" type="slidenum">
              <a:rPr lang="en-US" altLang="en-US" sz="1200">
                <a:solidFill>
                  <a:srgbClr val="FFFFFF"/>
                </a:solidFill>
              </a:rPr>
              <a:pPr eaLnBrk="1" hangingPunct="1">
                <a:lnSpc>
                  <a:spcPct val="80000"/>
                </a:lnSpc>
              </a:pPr>
              <a:t>76</a:t>
            </a:fld>
            <a:endParaRPr lang="en-US" altLang="en-US" sz="1200">
              <a:solidFill>
                <a:srgbClr val="FFFFFF"/>
              </a:solidFill>
            </a:endParaRPr>
          </a:p>
        </p:txBody>
      </p:sp>
      <p:pic>
        <p:nvPicPr>
          <p:cNvPr id="5" name="Picture 4"/>
          <p:cNvPicPr>
            <a:picLocks noChangeAspect="1" noChangeArrowheads="1"/>
          </p:cNvPicPr>
          <p:nvPr/>
        </p:nvPicPr>
        <p:blipFill>
          <a:blip r:embed="rId2"/>
          <a:srcRect/>
          <a:stretch>
            <a:fillRect/>
          </a:stretch>
        </p:blipFill>
        <p:spPr bwMode="auto">
          <a:xfrm>
            <a:off x="1524000" y="0"/>
            <a:ext cx="9144000" cy="6858000"/>
          </a:xfrm>
          <a:prstGeom prst="rect">
            <a:avLst/>
          </a:prstGeom>
          <a:ln>
            <a:headEnd/>
            <a:tailEnd/>
          </a:ln>
        </p:spPr>
        <p:style>
          <a:lnRef idx="3">
            <a:schemeClr val="lt1"/>
          </a:lnRef>
          <a:fillRef idx="1">
            <a:schemeClr val="accent1"/>
          </a:fillRef>
          <a:effectRef idx="1">
            <a:schemeClr val="accent1"/>
          </a:effectRef>
          <a:fontRef idx="minor">
            <a:schemeClr val="lt1"/>
          </a:fontRef>
        </p:style>
      </p:pic>
    </p:spTree>
    <p:extLst>
      <p:ext uri="{BB962C8B-B14F-4D97-AF65-F5344CB8AC3E}">
        <p14:creationId xmlns:p14="http://schemas.microsoft.com/office/powerpoint/2010/main" val="34576652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a:xfrm>
            <a:off x="2136775" y="228600"/>
            <a:ext cx="8153400" cy="990600"/>
          </a:xfrm>
        </p:spPr>
        <p:txBody>
          <a:bodyPr/>
          <a:lstStyle/>
          <a:p>
            <a:endParaRPr lang="en-US" altLang="en-US"/>
          </a:p>
        </p:txBody>
      </p:sp>
      <p:sp>
        <p:nvSpPr>
          <p:cNvPr id="64515" name="Content Placeholder 2"/>
          <p:cNvSpPr>
            <a:spLocks noGrp="1"/>
          </p:cNvSpPr>
          <p:nvPr>
            <p:ph sz="quarter" idx="1"/>
          </p:nvPr>
        </p:nvSpPr>
        <p:spPr>
          <a:xfrm>
            <a:off x="2136775" y="1828800"/>
            <a:ext cx="8153400" cy="4267200"/>
          </a:xfrm>
        </p:spPr>
        <p:txBody>
          <a:bodyPr/>
          <a:lstStyle/>
          <a:p>
            <a:endParaRPr lang="en-US" altLang="en-US"/>
          </a:p>
        </p:txBody>
      </p:sp>
      <p:sp>
        <p:nvSpPr>
          <p:cNvPr id="4" name="Slide Number Placeholder 3"/>
          <p:cNvSpPr>
            <a:spLocks noGrp="1"/>
          </p:cNvSpPr>
          <p:nvPr>
            <p:ph type="sldNum" sz="quarter" idx="12"/>
          </p:nvPr>
        </p:nvSpPr>
        <p:spPr/>
        <p:txBody>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eaLnBrk="1" hangingPunct="1">
              <a:lnSpc>
                <a:spcPct val="80000"/>
              </a:lnSpc>
            </a:pPr>
            <a:fld id="{67BF68D6-6547-48AE-9A50-72132275DC94}" type="slidenum">
              <a:rPr lang="en-US" altLang="en-US" sz="1200">
                <a:solidFill>
                  <a:srgbClr val="FFFFFF"/>
                </a:solidFill>
              </a:rPr>
              <a:pPr eaLnBrk="1" hangingPunct="1">
                <a:lnSpc>
                  <a:spcPct val="80000"/>
                </a:lnSpc>
              </a:pPr>
              <a:t>77</a:t>
            </a:fld>
            <a:endParaRPr lang="en-US" altLang="en-US" sz="1200">
              <a:solidFill>
                <a:srgbClr val="FFFFFF"/>
              </a:solidFill>
            </a:endParaRPr>
          </a:p>
        </p:txBody>
      </p:sp>
      <p:pic>
        <p:nvPicPr>
          <p:cNvPr id="5" name="Picture 5"/>
          <p:cNvPicPr>
            <a:picLocks noChangeAspect="1" noChangeArrowheads="1"/>
          </p:cNvPicPr>
          <p:nvPr/>
        </p:nvPicPr>
        <p:blipFill>
          <a:blip r:embed="rId2"/>
          <a:srcRect/>
          <a:stretch>
            <a:fillRect/>
          </a:stretch>
        </p:blipFill>
        <p:spPr bwMode="auto">
          <a:xfrm>
            <a:off x="1524000" y="107950"/>
            <a:ext cx="9144000" cy="6597650"/>
          </a:xfrm>
          <a:prstGeom prst="rect">
            <a:avLst/>
          </a:prstGeom>
          <a:ln>
            <a:headEnd/>
            <a:tailEnd/>
          </a:ln>
        </p:spPr>
        <p:style>
          <a:lnRef idx="3">
            <a:schemeClr val="lt1"/>
          </a:lnRef>
          <a:fillRef idx="1">
            <a:schemeClr val="accent1"/>
          </a:fillRef>
          <a:effectRef idx="1">
            <a:schemeClr val="accent1"/>
          </a:effectRef>
          <a:fontRef idx="minor">
            <a:schemeClr val="lt1"/>
          </a:fontRef>
        </p:style>
      </p:pic>
    </p:spTree>
    <p:extLst>
      <p:ext uri="{BB962C8B-B14F-4D97-AF65-F5344CB8AC3E}">
        <p14:creationId xmlns:p14="http://schemas.microsoft.com/office/powerpoint/2010/main" val="30839418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9150" y="58529"/>
            <a:ext cx="7886700" cy="662782"/>
          </a:xfrm>
        </p:spPr>
        <p:txBody>
          <a:bodyPr>
            <a:normAutofit fontScale="90000"/>
          </a:bodyPr>
          <a:lstStyle/>
          <a:p>
            <a:r>
              <a:rPr lang="en-US"/>
              <a:t>Ví dụ mảng ziczac</a:t>
            </a:r>
          </a:p>
        </p:txBody>
      </p:sp>
      <p:pic>
        <p:nvPicPr>
          <p:cNvPr id="4" name="Content Placeholder 3" descr="ARRAY - Microsoft Visual Studio"/>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a:stretch/>
        </p:blipFill>
        <p:spPr>
          <a:xfrm>
            <a:off x="769691" y="58529"/>
            <a:ext cx="9206159" cy="6660322"/>
          </a:xfrm>
        </p:spPr>
      </p:pic>
    </p:spTree>
    <p:extLst>
      <p:ext uri="{BB962C8B-B14F-4D97-AF65-F5344CB8AC3E}">
        <p14:creationId xmlns:p14="http://schemas.microsoft.com/office/powerpoint/2010/main" val="21933447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FF9F3-C41B-C70C-9BA7-6F948D68C500}"/>
              </a:ext>
            </a:extLst>
          </p:cNvPr>
          <p:cNvSpPr>
            <a:spLocks noGrp="1"/>
          </p:cNvSpPr>
          <p:nvPr>
            <p:ph type="title"/>
          </p:nvPr>
        </p:nvSpPr>
        <p:spPr/>
        <p:txBody>
          <a:bodyPr>
            <a:normAutofit/>
          </a:bodyPr>
          <a:lstStyle/>
          <a:p>
            <a:r>
              <a:rPr lang="en-US" i="1" dirty="0">
                <a:solidFill>
                  <a:srgbClr val="0070C0"/>
                </a:solidFill>
                <a:effectLst/>
                <a:latin typeface="Times New Roman" panose="02020603050405020304" pitchFamily="18" charset="0"/>
                <a:ea typeface="Times New Roman" panose="02020603050405020304" pitchFamily="18" charset="0"/>
              </a:rPr>
              <a:t>2.7	Struct </a:t>
            </a:r>
            <a:r>
              <a:rPr lang="en-US" i="1" dirty="0" err="1">
                <a:solidFill>
                  <a:srgbClr val="0070C0"/>
                </a:solidFill>
                <a:effectLst/>
                <a:latin typeface="Times New Roman" panose="02020603050405020304" pitchFamily="18" charset="0"/>
                <a:ea typeface="Times New Roman" panose="02020603050405020304" pitchFamily="18" charset="0"/>
              </a:rPr>
              <a:t>và</a:t>
            </a:r>
            <a:r>
              <a:rPr lang="en-US" i="1" dirty="0">
                <a:solidFill>
                  <a:srgbClr val="0070C0"/>
                </a:solidFill>
                <a:effectLst/>
                <a:latin typeface="Times New Roman" panose="02020603050405020304" pitchFamily="18" charset="0"/>
                <a:ea typeface="Times New Roman" panose="02020603050405020304" pitchFamily="18" charset="0"/>
              </a:rPr>
              <a:t> Enum </a:t>
            </a:r>
            <a:endParaRPr lang="en-US" sz="71400" dirty="0">
              <a:solidFill>
                <a:srgbClr val="0070C0"/>
              </a:solidFill>
            </a:endParaRPr>
          </a:p>
        </p:txBody>
      </p:sp>
      <p:sp>
        <p:nvSpPr>
          <p:cNvPr id="3" name="Text Placeholder 2">
            <a:extLst>
              <a:ext uri="{FF2B5EF4-FFF2-40B4-BE49-F238E27FC236}">
                <a16:creationId xmlns:a16="http://schemas.microsoft.com/office/drawing/2014/main" id="{B199CB8B-7C23-3E0E-941F-98B8ECDA401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580306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rotWithShape="1">
          <a:blip r:embed="rId2"/>
          <a:srcRect l="8101" t="17334" r="8932" b="8674"/>
          <a:stretch/>
        </p:blipFill>
        <p:spPr>
          <a:xfrm>
            <a:off x="1175655" y="891791"/>
            <a:ext cx="7777426" cy="5418574"/>
          </a:xfrm>
          <a:prstGeom prst="rect">
            <a:avLst/>
          </a:prstGeom>
        </p:spPr>
      </p:pic>
      <p:sp>
        <p:nvSpPr>
          <p:cNvPr id="4" name="Slide Number Placeholder 3"/>
          <p:cNvSpPr>
            <a:spLocks noGrp="1"/>
          </p:cNvSpPr>
          <p:nvPr>
            <p:ph type="sldNum" sz="quarter" idx="12"/>
          </p:nvPr>
        </p:nvSpPr>
        <p:spPr/>
        <p:txBody>
          <a:bodyPr/>
          <a:lstStyle/>
          <a:p>
            <a:fld id="{191AAFFC-71F7-4DEE-92F5-1956B01FBE72}" type="slidenum">
              <a:rPr lang="en-US" smtClean="0"/>
              <a:t>80</a:t>
            </a:fld>
            <a:endParaRPr lang="en-US"/>
          </a:p>
        </p:txBody>
      </p:sp>
      <p:sp>
        <p:nvSpPr>
          <p:cNvPr id="5" name="Title 4"/>
          <p:cNvSpPr>
            <a:spLocks noGrp="1"/>
          </p:cNvSpPr>
          <p:nvPr>
            <p:ph type="title"/>
          </p:nvPr>
        </p:nvSpPr>
        <p:spPr>
          <a:xfrm>
            <a:off x="1097280" y="286604"/>
            <a:ext cx="10058400" cy="718232"/>
          </a:xfrm>
        </p:spPr>
        <p:txBody>
          <a:bodyPr>
            <a:normAutofit fontScale="90000"/>
          </a:bodyPr>
          <a:lstStyle/>
          <a:p>
            <a:r>
              <a:rPr lang="en-US" b="1" dirty="0" err="1">
                <a:solidFill>
                  <a:srgbClr val="0070C0"/>
                </a:solidFill>
              </a:rPr>
              <a:t>Kiểu</a:t>
            </a:r>
            <a:r>
              <a:rPr lang="en-US" b="1" dirty="0">
                <a:solidFill>
                  <a:srgbClr val="0070C0"/>
                </a:solidFill>
              </a:rPr>
              <a:t> </a:t>
            </a:r>
            <a:r>
              <a:rPr lang="en-US" b="1" dirty="0" err="1">
                <a:solidFill>
                  <a:srgbClr val="0070C0"/>
                </a:solidFill>
              </a:rPr>
              <a:t>Liệt</a:t>
            </a:r>
            <a:r>
              <a:rPr lang="en-US" b="1" dirty="0">
                <a:solidFill>
                  <a:srgbClr val="0070C0"/>
                </a:solidFill>
              </a:rPr>
              <a:t> </a:t>
            </a:r>
            <a:r>
              <a:rPr lang="en-US" b="1" dirty="0" err="1">
                <a:solidFill>
                  <a:srgbClr val="0070C0"/>
                </a:solidFill>
              </a:rPr>
              <a:t>kê</a:t>
            </a:r>
            <a:endParaRPr lang="en-US" b="1" dirty="0">
              <a:solidFill>
                <a:srgbClr val="0070C0"/>
              </a:solidFill>
            </a:endParaRPr>
          </a:p>
        </p:txBody>
      </p:sp>
    </p:spTree>
    <p:extLst>
      <p:ext uri="{BB962C8B-B14F-4D97-AF65-F5344CB8AC3E}">
        <p14:creationId xmlns:p14="http://schemas.microsoft.com/office/powerpoint/2010/main" val="306674752"/>
      </p:ext>
    </p:extLst>
  </p:cSld>
  <p:clrMapOvr>
    <a:masterClrMapping/>
  </p:clrMapOvr>
  <p:transition>
    <p:cover dir="l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2450" y="76200"/>
            <a:ext cx="7886700" cy="4157663"/>
          </a:xfrm>
        </p:spPr>
        <p:txBody>
          <a:bodyPr>
            <a:noAutofit/>
          </a:bodyPr>
          <a:lstStyle/>
          <a:p>
            <a:pPr marL="0" indent="0">
              <a:lnSpc>
                <a:spcPct val="100000"/>
              </a:lnSpc>
              <a:spcBef>
                <a:spcPts val="0"/>
              </a:spcBef>
              <a:buNone/>
            </a:pPr>
            <a:r>
              <a:rPr lang="en-US" sz="2800" dirty="0">
                <a:solidFill>
                  <a:srgbClr val="FF0000"/>
                </a:solidFill>
              </a:rPr>
              <a:t> public </a:t>
            </a:r>
            <a:r>
              <a:rPr lang="en-US" sz="2800" dirty="0" err="1">
                <a:solidFill>
                  <a:srgbClr val="FF0000"/>
                </a:solidFill>
              </a:rPr>
              <a:t>enum</a:t>
            </a:r>
            <a:r>
              <a:rPr lang="en-US" sz="2800" dirty="0">
                <a:solidFill>
                  <a:srgbClr val="FF0000"/>
                </a:solidFill>
              </a:rPr>
              <a:t> </a:t>
            </a:r>
            <a:r>
              <a:rPr lang="en-US" sz="2800" dirty="0" err="1">
                <a:solidFill>
                  <a:srgbClr val="FF0000"/>
                </a:solidFill>
              </a:rPr>
              <a:t>mua</a:t>
            </a:r>
            <a:endParaRPr lang="en-US" sz="2800" dirty="0">
              <a:solidFill>
                <a:srgbClr val="FF0000"/>
              </a:solidFill>
            </a:endParaRPr>
          </a:p>
          <a:p>
            <a:pPr marL="0" indent="0">
              <a:lnSpc>
                <a:spcPct val="100000"/>
              </a:lnSpc>
              <a:spcBef>
                <a:spcPts val="0"/>
              </a:spcBef>
              <a:buNone/>
            </a:pPr>
            <a:r>
              <a:rPr lang="en-US" sz="2800" dirty="0">
                <a:solidFill>
                  <a:srgbClr val="FF0000"/>
                </a:solidFill>
              </a:rPr>
              <a:t>    {</a:t>
            </a:r>
          </a:p>
          <a:p>
            <a:pPr marL="0" indent="0">
              <a:lnSpc>
                <a:spcPct val="100000"/>
              </a:lnSpc>
              <a:spcBef>
                <a:spcPts val="0"/>
              </a:spcBef>
              <a:buNone/>
            </a:pPr>
            <a:r>
              <a:rPr lang="en-US" sz="2800" dirty="0">
                <a:solidFill>
                  <a:srgbClr val="FF0000"/>
                </a:solidFill>
              </a:rPr>
              <a:t>        Xuan=0, Ha=1, Thu=2, Dong=3</a:t>
            </a:r>
          </a:p>
          <a:p>
            <a:pPr marL="0" indent="0">
              <a:lnSpc>
                <a:spcPct val="100000"/>
              </a:lnSpc>
              <a:spcBef>
                <a:spcPts val="0"/>
              </a:spcBef>
              <a:buNone/>
            </a:pPr>
            <a:r>
              <a:rPr lang="en-US" sz="2800" dirty="0">
                <a:solidFill>
                  <a:srgbClr val="FF0000"/>
                </a:solidFill>
              </a:rPr>
              <a:t>    </a:t>
            </a:r>
            <a:r>
              <a:rPr lang="en-US" sz="2800" dirty="0"/>
              <a:t>}</a:t>
            </a:r>
          </a:p>
          <a:p>
            <a:pPr marL="0" indent="0">
              <a:lnSpc>
                <a:spcPct val="100000"/>
              </a:lnSpc>
              <a:spcBef>
                <a:spcPts val="0"/>
              </a:spcBef>
              <a:buNone/>
            </a:pPr>
            <a:r>
              <a:rPr lang="en-US" sz="2800" dirty="0"/>
              <a:t>    class Program</a:t>
            </a:r>
          </a:p>
          <a:p>
            <a:pPr marL="0" indent="0">
              <a:lnSpc>
                <a:spcPct val="100000"/>
              </a:lnSpc>
              <a:spcBef>
                <a:spcPts val="0"/>
              </a:spcBef>
              <a:buNone/>
            </a:pPr>
            <a:r>
              <a:rPr lang="en-US" sz="2800" dirty="0"/>
              <a:t>    {</a:t>
            </a:r>
          </a:p>
          <a:p>
            <a:pPr marL="0" indent="0">
              <a:lnSpc>
                <a:spcPct val="100000"/>
              </a:lnSpc>
              <a:spcBef>
                <a:spcPts val="0"/>
              </a:spcBef>
              <a:buNone/>
            </a:pPr>
            <a:r>
              <a:rPr lang="en-US" sz="2800" dirty="0"/>
              <a:t>        static void Main(string[] </a:t>
            </a:r>
            <a:r>
              <a:rPr lang="en-US" sz="2800" dirty="0" err="1"/>
              <a:t>args</a:t>
            </a:r>
            <a:r>
              <a:rPr lang="en-US" sz="2800" dirty="0"/>
              <a:t>)</a:t>
            </a:r>
          </a:p>
          <a:p>
            <a:pPr marL="0" indent="0">
              <a:lnSpc>
                <a:spcPct val="100000"/>
              </a:lnSpc>
              <a:spcBef>
                <a:spcPts val="0"/>
              </a:spcBef>
              <a:buNone/>
            </a:pPr>
            <a:r>
              <a:rPr lang="en-US" sz="2800" dirty="0"/>
              <a:t>        {</a:t>
            </a:r>
          </a:p>
          <a:p>
            <a:pPr marL="0" indent="0">
              <a:lnSpc>
                <a:spcPct val="100000"/>
              </a:lnSpc>
              <a:spcBef>
                <a:spcPts val="0"/>
              </a:spcBef>
              <a:buNone/>
            </a:pPr>
            <a:r>
              <a:rPr lang="en-US" sz="2800" dirty="0"/>
              <a:t>            </a:t>
            </a:r>
            <a:r>
              <a:rPr lang="en-US" sz="2800" dirty="0" err="1"/>
              <a:t>mua</a:t>
            </a:r>
            <a:r>
              <a:rPr lang="en-US" sz="2800" dirty="0"/>
              <a:t> a=</a:t>
            </a:r>
            <a:r>
              <a:rPr lang="en-US" sz="2800" dirty="0" err="1"/>
              <a:t>mua.Ha</a:t>
            </a:r>
            <a:r>
              <a:rPr lang="en-US" sz="2800" dirty="0"/>
              <a:t>;</a:t>
            </a:r>
          </a:p>
          <a:p>
            <a:pPr marL="0" indent="0">
              <a:lnSpc>
                <a:spcPct val="100000"/>
              </a:lnSpc>
              <a:spcBef>
                <a:spcPts val="0"/>
              </a:spcBef>
              <a:buNone/>
            </a:pPr>
            <a:r>
              <a:rPr lang="en-US" sz="2800" dirty="0"/>
              <a:t>            if (a==</a:t>
            </a:r>
            <a:r>
              <a:rPr lang="en-US" sz="2800" dirty="0" err="1"/>
              <a:t>mua.Xuan</a:t>
            </a:r>
            <a:r>
              <a:rPr lang="en-US" sz="2800" dirty="0"/>
              <a:t>)</a:t>
            </a:r>
          </a:p>
          <a:p>
            <a:pPr marL="0" indent="0">
              <a:lnSpc>
                <a:spcPct val="100000"/>
              </a:lnSpc>
              <a:spcBef>
                <a:spcPts val="0"/>
              </a:spcBef>
              <a:buNone/>
            </a:pPr>
            <a:r>
              <a:rPr lang="en-US" sz="2800" dirty="0"/>
              <a:t>            </a:t>
            </a:r>
            <a:r>
              <a:rPr lang="en-US" sz="2800" dirty="0" err="1"/>
              <a:t>Console.WriteLine</a:t>
            </a:r>
            <a:r>
              <a:rPr lang="en-US" sz="2800" dirty="0"/>
              <a:t>(" a la </a:t>
            </a:r>
            <a:r>
              <a:rPr lang="en-US" sz="2800" dirty="0" err="1"/>
              <a:t>mua</a:t>
            </a:r>
            <a:r>
              <a:rPr lang="en-US" sz="2800" dirty="0"/>
              <a:t> </a:t>
            </a:r>
            <a:r>
              <a:rPr lang="en-US" sz="2800" dirty="0" err="1"/>
              <a:t>xuan</a:t>
            </a:r>
            <a:r>
              <a:rPr lang="en-US" sz="2800" dirty="0"/>
              <a:t>");</a:t>
            </a:r>
          </a:p>
          <a:p>
            <a:pPr marL="0" indent="0">
              <a:lnSpc>
                <a:spcPct val="100000"/>
              </a:lnSpc>
              <a:spcBef>
                <a:spcPts val="0"/>
              </a:spcBef>
              <a:buNone/>
            </a:pPr>
            <a:r>
              <a:rPr lang="en-US" sz="2800" dirty="0"/>
              <a:t>            else</a:t>
            </a:r>
          </a:p>
          <a:p>
            <a:pPr marL="0" indent="0">
              <a:lnSpc>
                <a:spcPct val="100000"/>
              </a:lnSpc>
              <a:spcBef>
                <a:spcPts val="0"/>
              </a:spcBef>
              <a:buNone/>
            </a:pPr>
            <a:r>
              <a:rPr lang="en-US" sz="2800" dirty="0"/>
              <a:t>            </a:t>
            </a:r>
            <a:r>
              <a:rPr lang="en-US" sz="2800" dirty="0" err="1"/>
              <a:t>Console.WriteLine</a:t>
            </a:r>
            <a:r>
              <a:rPr lang="en-US" sz="2800" dirty="0"/>
              <a:t>(" a ko la </a:t>
            </a:r>
            <a:r>
              <a:rPr lang="en-US" sz="2800" dirty="0" err="1"/>
              <a:t>mua</a:t>
            </a:r>
            <a:r>
              <a:rPr lang="en-US" sz="2800" dirty="0"/>
              <a:t> </a:t>
            </a:r>
            <a:r>
              <a:rPr lang="en-US" sz="2800" dirty="0" err="1"/>
              <a:t>xuan</a:t>
            </a:r>
            <a:r>
              <a:rPr lang="en-US" sz="2800" dirty="0"/>
              <a:t>");</a:t>
            </a:r>
          </a:p>
          <a:p>
            <a:pPr marL="0" indent="0">
              <a:lnSpc>
                <a:spcPct val="100000"/>
              </a:lnSpc>
              <a:spcBef>
                <a:spcPts val="0"/>
              </a:spcBef>
              <a:buNone/>
            </a:pPr>
            <a:r>
              <a:rPr lang="en-US" sz="2800" dirty="0"/>
              <a:t>            </a:t>
            </a:r>
            <a:r>
              <a:rPr lang="en-US" sz="2800" dirty="0" err="1"/>
              <a:t>Console.ReadKey</a:t>
            </a:r>
            <a:r>
              <a:rPr lang="en-US" sz="2800" dirty="0"/>
              <a:t>();</a:t>
            </a:r>
          </a:p>
          <a:p>
            <a:pPr marL="0" indent="0">
              <a:lnSpc>
                <a:spcPct val="100000"/>
              </a:lnSpc>
              <a:spcBef>
                <a:spcPts val="0"/>
              </a:spcBef>
              <a:buNone/>
            </a:pPr>
            <a:r>
              <a:rPr lang="en-US" sz="2800" dirty="0"/>
              <a:t>        }</a:t>
            </a:r>
          </a:p>
          <a:p>
            <a:pPr marL="0" indent="0">
              <a:lnSpc>
                <a:spcPct val="100000"/>
              </a:lnSpc>
              <a:spcBef>
                <a:spcPts val="0"/>
              </a:spcBef>
              <a:buNone/>
            </a:pPr>
            <a:r>
              <a:rPr lang="en-US" sz="2800" dirty="0"/>
              <a:t>    }</a:t>
            </a:r>
          </a:p>
          <a:p>
            <a:pPr marL="0" indent="0">
              <a:lnSpc>
                <a:spcPct val="100000"/>
              </a:lnSpc>
              <a:spcBef>
                <a:spcPts val="0"/>
              </a:spcBef>
              <a:buNone/>
            </a:pPr>
            <a:endParaRPr lang="en-US" sz="2800" dirty="0"/>
          </a:p>
        </p:txBody>
      </p:sp>
    </p:spTree>
    <p:extLst>
      <p:ext uri="{BB962C8B-B14F-4D97-AF65-F5344CB8AC3E}">
        <p14:creationId xmlns:p14="http://schemas.microsoft.com/office/powerpoint/2010/main" val="41660045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019300" y="161008"/>
            <a:ext cx="8153400" cy="990600"/>
          </a:xfrm>
        </p:spPr>
        <p:txBody>
          <a:bodyPr/>
          <a:lstStyle/>
          <a:p>
            <a:pPr eaLnBrk="1" hangingPunct="1"/>
            <a:r>
              <a:rPr lang="en-US" altLang="en-US" dirty="0"/>
              <a:t>Enumeration</a:t>
            </a:r>
          </a:p>
        </p:txBody>
      </p:sp>
      <p:sp>
        <p:nvSpPr>
          <p:cNvPr id="64515" name="Slide Number Placeholder 3"/>
          <p:cNvSpPr>
            <a:spLocks noGrp="1"/>
          </p:cNvSpPr>
          <p:nvPr>
            <p:ph type="sldNum" sz="quarter" idx="4294967295"/>
          </p:nvPr>
        </p:nvSpPr>
        <p:spPr bwMode="auto">
          <a:ln>
            <a:miter lim="800000"/>
            <a:headEnd/>
            <a:tailEnd/>
          </a:ln>
        </p:spPr>
        <p:txBody>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eaLnBrk="1" hangingPunct="1">
              <a:lnSpc>
                <a:spcPct val="80000"/>
              </a:lnSpc>
            </a:pPr>
            <a:fld id="{9D9A6DB0-5E67-4AF6-A6E4-8F6C0F858AC1}" type="slidenum">
              <a:rPr lang="en-US" altLang="en-US" sz="1200">
                <a:solidFill>
                  <a:srgbClr val="FFFFFF"/>
                </a:solidFill>
              </a:rPr>
              <a:pPr eaLnBrk="1" hangingPunct="1">
                <a:lnSpc>
                  <a:spcPct val="80000"/>
                </a:lnSpc>
              </a:pPr>
              <a:t>82</a:t>
            </a:fld>
            <a:endParaRPr lang="en-US" altLang="en-US" sz="1200">
              <a:solidFill>
                <a:srgbClr val="FFFFFF"/>
              </a:solidFill>
            </a:endParaRPr>
          </a:p>
        </p:txBody>
      </p:sp>
      <p:sp>
        <p:nvSpPr>
          <p:cNvPr id="73732" name="Rectangle 3"/>
          <p:cNvSpPr>
            <a:spLocks noGrp="1" noChangeArrowheads="1"/>
          </p:cNvSpPr>
          <p:nvPr>
            <p:ph sz="quarter" idx="1"/>
          </p:nvPr>
        </p:nvSpPr>
        <p:spPr>
          <a:xfrm>
            <a:off x="2136775" y="1828800"/>
            <a:ext cx="8153400" cy="4267200"/>
          </a:xfrm>
        </p:spPr>
        <p:txBody>
          <a:bodyPr/>
          <a:lstStyle/>
          <a:p>
            <a:pPr eaLnBrk="1" hangingPunct="1"/>
            <a:endParaRPr lang="en-US" altLang="en-US"/>
          </a:p>
        </p:txBody>
      </p:sp>
      <p:pic>
        <p:nvPicPr>
          <p:cNvPr id="7373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3090" y="410493"/>
            <a:ext cx="477393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98107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136775" y="228600"/>
            <a:ext cx="8153400" cy="990600"/>
          </a:xfrm>
        </p:spPr>
        <p:txBody>
          <a:bodyPr/>
          <a:lstStyle/>
          <a:p>
            <a:pPr eaLnBrk="1" hangingPunct="1"/>
            <a:r>
              <a:rPr lang="en-US" altLang="en-US"/>
              <a:t>Enumeration</a:t>
            </a:r>
          </a:p>
        </p:txBody>
      </p:sp>
      <p:sp>
        <p:nvSpPr>
          <p:cNvPr id="64515" name="Slide Number Placeholder 3"/>
          <p:cNvSpPr>
            <a:spLocks noGrp="1"/>
          </p:cNvSpPr>
          <p:nvPr>
            <p:ph type="sldNum" sz="quarter" idx="4294967295"/>
          </p:nvPr>
        </p:nvSpPr>
        <p:spPr bwMode="auto">
          <a:ln>
            <a:miter lim="800000"/>
            <a:headEnd/>
            <a:tailEnd/>
          </a:ln>
        </p:spPr>
        <p:txBody>
          <a:bodyPr/>
          <a:lstStyle>
            <a:lvl1pPr eaLnBrk="0" hangingPunct="0">
              <a:defRPr b="1">
                <a:solidFill>
                  <a:schemeClr val="tx2"/>
                </a:solidFill>
                <a:latin typeface="Arial" panose="020B0604020202020204" pitchFamily="34" charset="0"/>
              </a:defRPr>
            </a:lvl1pPr>
            <a:lvl2pPr marL="742950" indent="-285750" eaLnBrk="0" hangingPunct="0">
              <a:defRPr b="1">
                <a:solidFill>
                  <a:schemeClr val="tx2"/>
                </a:solidFill>
                <a:latin typeface="Arial" panose="020B0604020202020204" pitchFamily="34" charset="0"/>
              </a:defRPr>
            </a:lvl2pPr>
            <a:lvl3pPr marL="1143000" indent="-228600" eaLnBrk="0" hangingPunct="0">
              <a:defRPr b="1">
                <a:solidFill>
                  <a:schemeClr val="tx2"/>
                </a:solidFill>
                <a:latin typeface="Arial" panose="020B0604020202020204" pitchFamily="34" charset="0"/>
              </a:defRPr>
            </a:lvl3pPr>
            <a:lvl4pPr marL="1600200" indent="-228600" eaLnBrk="0" hangingPunct="0">
              <a:defRPr b="1">
                <a:solidFill>
                  <a:schemeClr val="tx2"/>
                </a:solidFill>
                <a:latin typeface="Arial" panose="020B0604020202020204" pitchFamily="34" charset="0"/>
              </a:defRPr>
            </a:lvl4pPr>
            <a:lvl5pPr marL="2057400" indent="-228600" eaLnBrk="0" hangingPunct="0">
              <a:defRPr b="1">
                <a:solidFill>
                  <a:schemeClr val="tx2"/>
                </a:solidFill>
                <a:latin typeface="Arial" panose="020B0604020202020204" pitchFamily="34" charset="0"/>
              </a:defRPr>
            </a:lvl5pPr>
            <a:lvl6pPr marL="2514600" indent="-228600" algn="ctr" eaLnBrk="0" fontAlgn="base" hangingPunct="0">
              <a:spcBef>
                <a:spcPct val="0"/>
              </a:spcBef>
              <a:spcAft>
                <a:spcPct val="0"/>
              </a:spcAft>
              <a:defRPr b="1">
                <a:solidFill>
                  <a:schemeClr val="tx2"/>
                </a:solidFill>
                <a:latin typeface="Arial" panose="020B0604020202020204" pitchFamily="34" charset="0"/>
              </a:defRPr>
            </a:lvl6pPr>
            <a:lvl7pPr marL="2971800" indent="-228600" algn="ctr" eaLnBrk="0" fontAlgn="base" hangingPunct="0">
              <a:spcBef>
                <a:spcPct val="0"/>
              </a:spcBef>
              <a:spcAft>
                <a:spcPct val="0"/>
              </a:spcAft>
              <a:defRPr b="1">
                <a:solidFill>
                  <a:schemeClr val="tx2"/>
                </a:solidFill>
                <a:latin typeface="Arial" panose="020B0604020202020204" pitchFamily="34" charset="0"/>
              </a:defRPr>
            </a:lvl7pPr>
            <a:lvl8pPr marL="3429000" indent="-228600" algn="ctr" eaLnBrk="0" fontAlgn="base" hangingPunct="0">
              <a:spcBef>
                <a:spcPct val="0"/>
              </a:spcBef>
              <a:spcAft>
                <a:spcPct val="0"/>
              </a:spcAft>
              <a:defRPr b="1">
                <a:solidFill>
                  <a:schemeClr val="tx2"/>
                </a:solidFill>
                <a:latin typeface="Arial" panose="020B0604020202020204" pitchFamily="34" charset="0"/>
              </a:defRPr>
            </a:lvl8pPr>
            <a:lvl9pPr marL="3886200" indent="-228600" algn="ctr" eaLnBrk="0" fontAlgn="base" hangingPunct="0">
              <a:spcBef>
                <a:spcPct val="0"/>
              </a:spcBef>
              <a:spcAft>
                <a:spcPct val="0"/>
              </a:spcAft>
              <a:defRPr b="1">
                <a:solidFill>
                  <a:schemeClr val="tx2"/>
                </a:solidFill>
                <a:latin typeface="Arial" panose="020B0604020202020204" pitchFamily="34" charset="0"/>
              </a:defRPr>
            </a:lvl9pPr>
          </a:lstStyle>
          <a:p>
            <a:pPr eaLnBrk="1" hangingPunct="1">
              <a:lnSpc>
                <a:spcPct val="80000"/>
              </a:lnSpc>
            </a:pPr>
            <a:fld id="{9D9A6DB0-5E67-4AF6-A6E4-8F6C0F858AC1}" type="slidenum">
              <a:rPr lang="en-US" altLang="en-US" sz="1200">
                <a:solidFill>
                  <a:srgbClr val="FFFFFF"/>
                </a:solidFill>
              </a:rPr>
              <a:pPr eaLnBrk="1" hangingPunct="1">
                <a:lnSpc>
                  <a:spcPct val="80000"/>
                </a:lnSpc>
              </a:pPr>
              <a:t>83</a:t>
            </a:fld>
            <a:endParaRPr lang="en-US" altLang="en-US" sz="1200">
              <a:solidFill>
                <a:srgbClr val="FFFFFF"/>
              </a:solidFill>
            </a:endParaRPr>
          </a:p>
        </p:txBody>
      </p:sp>
      <p:sp>
        <p:nvSpPr>
          <p:cNvPr id="73732" name="Rectangle 3"/>
          <p:cNvSpPr>
            <a:spLocks noGrp="1" noChangeArrowheads="1"/>
          </p:cNvSpPr>
          <p:nvPr>
            <p:ph sz="quarter" idx="1"/>
          </p:nvPr>
        </p:nvSpPr>
        <p:spPr>
          <a:xfrm>
            <a:off x="2136775" y="1828800"/>
            <a:ext cx="8153400" cy="4267200"/>
          </a:xfrm>
        </p:spPr>
        <p:txBody>
          <a:bodyPr/>
          <a:lstStyle/>
          <a:p>
            <a:pPr eaLnBrk="1" hangingPunct="1"/>
            <a:endParaRPr lang="en-US" altLang="en-US"/>
          </a:p>
        </p:txBody>
      </p:sp>
      <p:pic>
        <p:nvPicPr>
          <p:cNvPr id="7373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545" y="470253"/>
            <a:ext cx="4853940" cy="580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74297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0070C0"/>
                </a:solidFill>
                <a:latin typeface="Tahoma" panose="020B0604030504040204" pitchFamily="34" charset="0"/>
                <a:ea typeface="Tahoma" panose="020B0604030504040204" pitchFamily="34" charset="0"/>
                <a:cs typeface="Tahoma" panose="020B0604030504040204" pitchFamily="34" charset="0"/>
              </a:rPr>
              <a:t>Cấu trúc (struct) trong C#</a:t>
            </a:r>
          </a:p>
        </p:txBody>
      </p:sp>
      <p:sp>
        <p:nvSpPr>
          <p:cNvPr id="3" name="Content Placeholder 2"/>
          <p:cNvSpPr>
            <a:spLocks noGrp="1"/>
          </p:cNvSpPr>
          <p:nvPr>
            <p:ph idx="1"/>
          </p:nvPr>
        </p:nvSpPr>
        <p:spPr>
          <a:xfrm>
            <a:off x="2152650" y="1981934"/>
            <a:ext cx="8324850" cy="4589463"/>
          </a:xfrm>
        </p:spPr>
        <p:txBody>
          <a:bodyPr>
            <a:normAutofit/>
          </a:bodyPr>
          <a:lstStyle/>
          <a:p>
            <a:pPr marL="0" indent="0">
              <a:buNone/>
            </a:pPr>
            <a:r>
              <a:rPr lang="en-US" sz="2400" dirty="0" err="1"/>
              <a:t>Cú</a:t>
            </a:r>
            <a:r>
              <a:rPr lang="en-US" sz="2400" dirty="0"/>
              <a:t> </a:t>
            </a:r>
            <a:r>
              <a:rPr lang="en-US" sz="2400" dirty="0" err="1"/>
              <a:t>pháp</a:t>
            </a:r>
            <a:r>
              <a:rPr lang="en-US" sz="2400" dirty="0"/>
              <a:t>: struct &lt;</a:t>
            </a:r>
            <a:r>
              <a:rPr lang="en-US" sz="2400" dirty="0" err="1"/>
              <a:t>tên_cấu_trúc</a:t>
            </a:r>
            <a:r>
              <a:rPr lang="en-US" sz="2400" dirty="0"/>
              <a:t>&gt;</a:t>
            </a:r>
          </a:p>
          <a:p>
            <a:pPr marL="0" indent="0">
              <a:buNone/>
            </a:pPr>
            <a:r>
              <a:rPr lang="en-US" sz="2400" dirty="0"/>
              <a:t>{</a:t>
            </a:r>
          </a:p>
          <a:p>
            <a:pPr marL="0" indent="0">
              <a:buNone/>
            </a:pPr>
            <a:r>
              <a:rPr lang="en-US" sz="2400" dirty="0"/>
              <a:t>	public &lt;</a:t>
            </a:r>
            <a:r>
              <a:rPr lang="en-US" sz="2400" dirty="0" err="1"/>
              <a:t>kiểu_dữ_liệu</a:t>
            </a:r>
            <a:r>
              <a:rPr lang="en-US" sz="2400" dirty="0"/>
              <a:t>&gt; &lt;tên_biến_thành_phần1&gt;</a:t>
            </a:r>
          </a:p>
          <a:p>
            <a:pPr marL="0" indent="0">
              <a:buNone/>
            </a:pPr>
            <a:r>
              <a:rPr lang="en-US" sz="2400" dirty="0"/>
              <a:t>	public &lt;</a:t>
            </a:r>
            <a:r>
              <a:rPr lang="en-US" sz="2400" dirty="0" err="1"/>
              <a:t>kiểu_dữ_liệu</a:t>
            </a:r>
            <a:r>
              <a:rPr lang="en-US" sz="2400" dirty="0"/>
              <a:t>&gt; &lt;tên_biến_thành_phần2&gt;</a:t>
            </a:r>
          </a:p>
          <a:p>
            <a:pPr marL="0" indent="0">
              <a:buNone/>
            </a:pPr>
            <a:r>
              <a:rPr lang="en-US" sz="2400" dirty="0"/>
              <a:t>	…….</a:t>
            </a:r>
          </a:p>
          <a:p>
            <a:pPr marL="0" indent="0">
              <a:buNone/>
            </a:pPr>
            <a:r>
              <a:rPr lang="en-US" sz="2400" dirty="0"/>
              <a:t>	public &lt;</a:t>
            </a:r>
            <a:r>
              <a:rPr lang="en-US" sz="2400" dirty="0" err="1"/>
              <a:t>kiểu_dữ_liệu</a:t>
            </a:r>
            <a:r>
              <a:rPr lang="en-US" sz="2400" dirty="0"/>
              <a:t>&gt; &lt;</a:t>
            </a:r>
            <a:r>
              <a:rPr lang="en-US" sz="2400" dirty="0" err="1"/>
              <a:t>tên_biến_thành_phầnm</a:t>
            </a:r>
            <a:r>
              <a:rPr lang="en-US" sz="2400" dirty="0"/>
              <a:t>&gt;</a:t>
            </a:r>
          </a:p>
          <a:p>
            <a:pPr marL="0" indent="0">
              <a:buNone/>
            </a:pPr>
            <a:r>
              <a:rPr lang="en-US" sz="2400" dirty="0"/>
              <a:t> }</a:t>
            </a:r>
          </a:p>
          <a:p>
            <a:pPr marL="0" indent="0">
              <a:buNone/>
            </a:pPr>
            <a:endParaRPr lang="en-US" sz="2400" dirty="0"/>
          </a:p>
        </p:txBody>
      </p:sp>
    </p:spTree>
    <p:extLst>
      <p:ext uri="{BB962C8B-B14F-4D97-AF65-F5344CB8AC3E}">
        <p14:creationId xmlns:p14="http://schemas.microsoft.com/office/powerpoint/2010/main" val="3152742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descr="ARRAY - Microsoft Visual Studio"/>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a:stretch/>
        </p:blipFill>
        <p:spPr>
          <a:xfrm>
            <a:off x="936675" y="0"/>
            <a:ext cx="9100876" cy="6393947"/>
          </a:xfrm>
        </p:spPr>
      </p:pic>
    </p:spTree>
    <p:extLst>
      <p:ext uri="{BB962C8B-B14F-4D97-AF65-F5344CB8AC3E}">
        <p14:creationId xmlns:p14="http://schemas.microsoft.com/office/powerpoint/2010/main" val="7547853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8278-4A71-6FF1-5F6C-5C1B6871588B}"/>
              </a:ext>
            </a:extLst>
          </p:cNvPr>
          <p:cNvSpPr>
            <a:spLocks noGrp="1"/>
          </p:cNvSpPr>
          <p:nvPr>
            <p:ph type="title"/>
          </p:nvPr>
        </p:nvSpPr>
        <p:spPr/>
        <p:txBody>
          <a:bodyPr/>
          <a:lstStyle/>
          <a:p>
            <a:r>
              <a:rPr lang="en-US" sz="8000" b="1" i="1" dirty="0">
                <a:solidFill>
                  <a:srgbClr val="0070C0"/>
                </a:solidFill>
                <a:effectLst/>
                <a:latin typeface="Times New Roman" panose="02020603050405020304" pitchFamily="18" charset="0"/>
                <a:ea typeface="Times New Roman" panose="02020603050405020304" pitchFamily="18" charset="0"/>
              </a:rPr>
              <a:t>2.8	</a:t>
            </a:r>
            <a:r>
              <a:rPr lang="en-US" sz="8000" b="1" i="1" dirty="0" err="1">
                <a:solidFill>
                  <a:srgbClr val="0070C0"/>
                </a:solidFill>
                <a:effectLst/>
                <a:latin typeface="Times New Roman" panose="02020603050405020304" pitchFamily="18" charset="0"/>
                <a:ea typeface="Times New Roman" panose="02020603050405020304" pitchFamily="18" charset="0"/>
              </a:rPr>
              <a:t>Xử</a:t>
            </a:r>
            <a:r>
              <a:rPr lang="en-US" sz="8000" b="1" i="1" dirty="0">
                <a:solidFill>
                  <a:srgbClr val="0070C0"/>
                </a:solidFill>
                <a:effectLst/>
                <a:latin typeface="Times New Roman" panose="02020603050405020304" pitchFamily="18" charset="0"/>
                <a:ea typeface="Times New Roman" panose="02020603050405020304" pitchFamily="18" charset="0"/>
              </a:rPr>
              <a:t> </a:t>
            </a:r>
            <a:r>
              <a:rPr lang="en-US" sz="8000" b="1" i="1" dirty="0" err="1">
                <a:solidFill>
                  <a:srgbClr val="0070C0"/>
                </a:solidFill>
                <a:effectLst/>
                <a:latin typeface="Times New Roman" panose="02020603050405020304" pitchFamily="18" charset="0"/>
                <a:ea typeface="Times New Roman" panose="02020603050405020304" pitchFamily="18" charset="0"/>
              </a:rPr>
              <a:t>lý</a:t>
            </a:r>
            <a:r>
              <a:rPr lang="en-US" sz="8000" b="1" i="1" dirty="0">
                <a:solidFill>
                  <a:srgbClr val="0070C0"/>
                </a:solidFill>
                <a:effectLst/>
                <a:latin typeface="Times New Roman" panose="02020603050405020304" pitchFamily="18" charset="0"/>
                <a:ea typeface="Times New Roman" panose="02020603050405020304" pitchFamily="18" charset="0"/>
              </a:rPr>
              <a:t> </a:t>
            </a:r>
            <a:r>
              <a:rPr lang="en-US" sz="8000" b="1" i="1" dirty="0" err="1">
                <a:solidFill>
                  <a:srgbClr val="0070C0"/>
                </a:solidFill>
                <a:effectLst/>
                <a:latin typeface="Times New Roman" panose="02020603050405020304" pitchFamily="18" charset="0"/>
                <a:ea typeface="Times New Roman" panose="02020603050405020304" pitchFamily="18" charset="0"/>
              </a:rPr>
              <a:t>ngoại</a:t>
            </a:r>
            <a:r>
              <a:rPr lang="en-US" sz="8000" b="1" i="1" dirty="0">
                <a:solidFill>
                  <a:srgbClr val="0070C0"/>
                </a:solidFill>
                <a:effectLst/>
                <a:latin typeface="Times New Roman" panose="02020603050405020304" pitchFamily="18" charset="0"/>
                <a:ea typeface="Times New Roman" panose="02020603050405020304" pitchFamily="18" charset="0"/>
              </a:rPr>
              <a:t> </a:t>
            </a:r>
            <a:r>
              <a:rPr lang="en-US" sz="8000" b="1" i="1" dirty="0" err="1">
                <a:solidFill>
                  <a:srgbClr val="0070C0"/>
                </a:solidFill>
                <a:effectLst/>
                <a:latin typeface="Times New Roman" panose="02020603050405020304" pitchFamily="18" charset="0"/>
                <a:ea typeface="Times New Roman" panose="02020603050405020304" pitchFamily="18" charset="0"/>
              </a:rPr>
              <a:t>lệ</a:t>
            </a:r>
            <a:endParaRPr lang="en-US" dirty="0"/>
          </a:p>
        </p:txBody>
      </p:sp>
      <p:sp>
        <p:nvSpPr>
          <p:cNvPr id="3" name="Text Placeholder 2">
            <a:extLst>
              <a:ext uri="{FF2B5EF4-FFF2-40B4-BE49-F238E27FC236}">
                <a16:creationId xmlns:a16="http://schemas.microsoft.com/office/drawing/2014/main" id="{48777A3C-DC74-285E-90A4-B628AEB665F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046556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rotWithShape="1">
          <a:blip r:embed="rId2"/>
          <a:srcRect l="3046" t="16388" r="1784" b="8427"/>
          <a:stretch/>
        </p:blipFill>
        <p:spPr>
          <a:xfrm>
            <a:off x="984738" y="695849"/>
            <a:ext cx="9085091" cy="5084466"/>
          </a:xfrm>
          <a:prstGeom prst="rect">
            <a:avLst/>
          </a:prstGeom>
        </p:spPr>
      </p:pic>
      <p:sp>
        <p:nvSpPr>
          <p:cNvPr id="4" name="Slide Number Placeholder 3"/>
          <p:cNvSpPr>
            <a:spLocks noGrp="1"/>
          </p:cNvSpPr>
          <p:nvPr>
            <p:ph type="sldNum" sz="quarter" idx="12"/>
          </p:nvPr>
        </p:nvSpPr>
        <p:spPr/>
        <p:txBody>
          <a:bodyPr/>
          <a:lstStyle/>
          <a:p>
            <a:fld id="{191AAFFC-71F7-4DEE-92F5-1956B01FBE72}" type="slidenum">
              <a:rPr lang="en-US" smtClean="0"/>
              <a:t>87</a:t>
            </a:fld>
            <a:endParaRPr lang="en-US"/>
          </a:p>
        </p:txBody>
      </p:sp>
    </p:spTree>
    <p:extLst>
      <p:ext uri="{BB962C8B-B14F-4D97-AF65-F5344CB8AC3E}">
        <p14:creationId xmlns:p14="http://schemas.microsoft.com/office/powerpoint/2010/main" val="28125707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rotWithShape="1">
          <a:blip r:embed="rId2"/>
          <a:srcRect t="16995" r="2930" b="8426"/>
          <a:stretch/>
        </p:blipFill>
        <p:spPr>
          <a:xfrm>
            <a:off x="760326" y="572755"/>
            <a:ext cx="8876044" cy="5114612"/>
          </a:xfrm>
          <a:prstGeom prst="rect">
            <a:avLst/>
          </a:prstGeom>
        </p:spPr>
      </p:pic>
      <p:sp>
        <p:nvSpPr>
          <p:cNvPr id="4" name="Slide Number Placeholder 3"/>
          <p:cNvSpPr>
            <a:spLocks noGrp="1"/>
          </p:cNvSpPr>
          <p:nvPr>
            <p:ph type="sldNum" sz="quarter" idx="12"/>
          </p:nvPr>
        </p:nvSpPr>
        <p:spPr/>
        <p:txBody>
          <a:bodyPr/>
          <a:lstStyle/>
          <a:p>
            <a:fld id="{191AAFFC-71F7-4DEE-92F5-1956B01FBE72}" type="slidenum">
              <a:rPr lang="en-US" smtClean="0"/>
              <a:t>88</a:t>
            </a:fld>
            <a:endParaRPr lang="en-US"/>
          </a:p>
        </p:txBody>
      </p:sp>
    </p:spTree>
    <p:extLst>
      <p:ext uri="{BB962C8B-B14F-4D97-AF65-F5344CB8AC3E}">
        <p14:creationId xmlns:p14="http://schemas.microsoft.com/office/powerpoint/2010/main" val="33493287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rotWithShape="1">
          <a:blip r:embed="rId3"/>
          <a:srcRect t="17436" r="4029"/>
          <a:stretch/>
        </p:blipFill>
        <p:spPr>
          <a:xfrm>
            <a:off x="860809" y="226088"/>
            <a:ext cx="8775560" cy="5662246"/>
          </a:xfrm>
          <a:prstGeom prst="rect">
            <a:avLst/>
          </a:prstGeom>
        </p:spPr>
      </p:pic>
      <p:sp>
        <p:nvSpPr>
          <p:cNvPr id="4" name="Slide Number Placeholder 3"/>
          <p:cNvSpPr>
            <a:spLocks noGrp="1"/>
          </p:cNvSpPr>
          <p:nvPr>
            <p:ph type="sldNum" sz="quarter" idx="12"/>
          </p:nvPr>
        </p:nvSpPr>
        <p:spPr/>
        <p:txBody>
          <a:bodyPr/>
          <a:lstStyle/>
          <a:p>
            <a:fld id="{191AAFFC-71F7-4DEE-92F5-1956B01FBE72}" type="slidenum">
              <a:rPr lang="en-US" smtClean="0"/>
              <a:t>89</a:t>
            </a:fld>
            <a:endParaRPr lang="en-US"/>
          </a:p>
        </p:txBody>
      </p:sp>
    </p:spTree>
    <p:extLst>
      <p:ext uri="{BB962C8B-B14F-4D97-AF65-F5344CB8AC3E}">
        <p14:creationId xmlns:p14="http://schemas.microsoft.com/office/powerpoint/2010/main" val="37436629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rotWithShape="1">
          <a:blip r:embed="rId2"/>
          <a:srcRect l="3333" t="16703" r="8394" b="2565"/>
          <a:stretch/>
        </p:blipFill>
        <p:spPr>
          <a:xfrm>
            <a:off x="1467058" y="753627"/>
            <a:ext cx="8071659" cy="5536642"/>
          </a:xfrm>
          <a:prstGeom prst="rect">
            <a:avLst/>
          </a:prstGeom>
        </p:spPr>
      </p:pic>
      <p:sp>
        <p:nvSpPr>
          <p:cNvPr id="4" name="Slide Number Placeholder 3"/>
          <p:cNvSpPr>
            <a:spLocks noGrp="1"/>
          </p:cNvSpPr>
          <p:nvPr>
            <p:ph type="sldNum" sz="quarter" idx="12"/>
          </p:nvPr>
        </p:nvSpPr>
        <p:spPr/>
        <p:txBody>
          <a:bodyPr/>
          <a:lstStyle/>
          <a:p>
            <a:fld id="{191AAFFC-71F7-4DEE-92F5-1956B01FBE72}" type="slidenum">
              <a:rPr lang="en-US" smtClean="0"/>
              <a:t>90</a:t>
            </a:fld>
            <a:endParaRPr lang="en-US"/>
          </a:p>
        </p:txBody>
      </p:sp>
      <p:sp>
        <p:nvSpPr>
          <p:cNvPr id="5" name="Title 4"/>
          <p:cNvSpPr>
            <a:spLocks noGrp="1"/>
          </p:cNvSpPr>
          <p:nvPr>
            <p:ph type="title"/>
          </p:nvPr>
        </p:nvSpPr>
        <p:spPr>
          <a:xfrm>
            <a:off x="1097280" y="286604"/>
            <a:ext cx="10058400" cy="587601"/>
          </a:xfrm>
        </p:spPr>
        <p:txBody>
          <a:bodyPr>
            <a:normAutofit fontScale="90000"/>
          </a:bodyPr>
          <a:lstStyle/>
          <a:p>
            <a:endParaRPr lang="en-US" dirty="0"/>
          </a:p>
        </p:txBody>
      </p:sp>
    </p:spTree>
    <p:extLst>
      <p:ext uri="{BB962C8B-B14F-4D97-AF65-F5344CB8AC3E}">
        <p14:creationId xmlns:p14="http://schemas.microsoft.com/office/powerpoint/2010/main" val="31196763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rotWithShape="1">
          <a:blip r:embed="rId2"/>
          <a:srcRect l="9048" t="16850" r="5238" b="5807"/>
          <a:stretch/>
        </p:blipFill>
        <p:spPr>
          <a:xfrm>
            <a:off x="1027762" y="522516"/>
            <a:ext cx="7837715" cy="5304224"/>
          </a:xfrm>
          <a:prstGeom prst="rect">
            <a:avLst/>
          </a:prstGeom>
        </p:spPr>
      </p:pic>
      <p:sp>
        <p:nvSpPr>
          <p:cNvPr id="4" name="Slide Number Placeholder 3"/>
          <p:cNvSpPr>
            <a:spLocks noGrp="1"/>
          </p:cNvSpPr>
          <p:nvPr>
            <p:ph type="sldNum" sz="quarter" idx="12"/>
          </p:nvPr>
        </p:nvSpPr>
        <p:spPr/>
        <p:txBody>
          <a:bodyPr/>
          <a:lstStyle/>
          <a:p>
            <a:fld id="{191AAFFC-71F7-4DEE-92F5-1956B01FBE72}" type="slidenum">
              <a:rPr lang="en-US" smtClean="0"/>
              <a:t>91</a:t>
            </a:fld>
            <a:endParaRPr lang="en-US"/>
          </a:p>
        </p:txBody>
      </p:sp>
    </p:spTree>
    <p:extLst>
      <p:ext uri="{BB962C8B-B14F-4D97-AF65-F5344CB8AC3E}">
        <p14:creationId xmlns:p14="http://schemas.microsoft.com/office/powerpoint/2010/main" val="25462548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683" y="110534"/>
            <a:ext cx="11884031" cy="1617783"/>
          </a:xfrm>
        </p:spPr>
        <p:txBody>
          <a:bodyPr>
            <a:noAutofit/>
          </a:bodyPr>
          <a:lstStyle/>
          <a:p>
            <a:r>
              <a:rPr lang="en-US" sz="2800" b="1" dirty="0" err="1">
                <a:latin typeface="Times New Roman" panose="02020603050405020304" pitchFamily="18" charset="0"/>
                <a:cs typeface="Times New Roman" panose="02020603050405020304" pitchFamily="18" charset="0"/>
              </a:rPr>
              <a:t>Ví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a:t>
            </a:r>
            <a:r>
              <a:rPr lang="vi-VN" sz="2800" dirty="0" err="1">
                <a:latin typeface="Times New Roman" panose="02020603050405020304" pitchFamily="18" charset="0"/>
                <a:cs typeface="Times New Roman" panose="02020603050405020304" pitchFamily="18" charset="0"/>
              </a:rPr>
              <a:t>rình</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bày</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việc</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tính</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bình</a:t>
            </a:r>
            <a:r>
              <a:rPr lang="vi-VN" sz="2800" dirty="0">
                <a:latin typeface="Times New Roman" panose="02020603050405020304" pitchFamily="18" charset="0"/>
                <a:cs typeface="Times New Roman" panose="02020603050405020304" pitchFamily="18" charset="0"/>
              </a:rPr>
              <a:t> phương </a:t>
            </a:r>
            <a:r>
              <a:rPr lang="vi-VN" sz="2800" dirty="0" err="1">
                <a:latin typeface="Times New Roman" panose="02020603050405020304" pitchFamily="18" charset="0"/>
                <a:cs typeface="Times New Roman" panose="02020603050405020304" pitchFamily="18" charset="0"/>
              </a:rPr>
              <a:t>của</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một</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số</a:t>
            </a:r>
            <a:r>
              <a:rPr lang="vi-VN" sz="2800" dirty="0">
                <a:latin typeface="Times New Roman" panose="02020603050405020304" pitchFamily="18" charset="0"/>
                <a:cs typeface="Times New Roman" panose="02020603050405020304" pitchFamily="18" charset="0"/>
              </a:rPr>
              <a:t> nguyên </a:t>
            </a:r>
            <a:r>
              <a:rPr lang="vi-VN" sz="2800" dirty="0" err="1">
                <a:latin typeface="Times New Roman" panose="02020603050405020304" pitchFamily="18" charset="0"/>
                <a:cs typeface="Times New Roman" panose="02020603050405020304" pitchFamily="18" charset="0"/>
              </a:rPr>
              <a:t>được</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nhập</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từ</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bàn</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phím</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Nếu</a:t>
            </a:r>
            <a:r>
              <a:rPr lang="en-US"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dữ</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liệu</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nhập</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vào</a:t>
            </a:r>
            <a:r>
              <a:rPr lang="vi-VN" sz="2800" dirty="0">
                <a:latin typeface="Times New Roman" panose="02020603050405020304" pitchFamily="18" charset="0"/>
                <a:cs typeface="Times New Roman" panose="02020603050405020304" pitchFamily="18" charset="0"/>
              </a:rPr>
              <a:t> không </a:t>
            </a:r>
            <a:r>
              <a:rPr lang="vi-VN" sz="2800" dirty="0" err="1">
                <a:latin typeface="Times New Roman" panose="02020603050405020304" pitchFamily="18" charset="0"/>
                <a:cs typeface="Times New Roman" panose="02020603050405020304" pitchFamily="18" charset="0"/>
              </a:rPr>
              <a:t>phải</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số</a:t>
            </a:r>
            <a:r>
              <a:rPr lang="vi-VN" sz="2800" dirty="0">
                <a:latin typeface="Times New Roman" panose="02020603050405020304" pitchFamily="18" charset="0"/>
                <a:cs typeface="Times New Roman" panose="02020603050405020304" pitchFamily="18" charset="0"/>
              </a:rPr>
              <a:t> nguyên </a:t>
            </a:r>
            <a:r>
              <a:rPr lang="vi-VN" sz="2800" dirty="0" err="1">
                <a:latin typeface="Times New Roman" panose="02020603050405020304" pitchFamily="18" charset="0"/>
                <a:cs typeface="Times New Roman" panose="02020603050405020304" pitchFamily="18" charset="0"/>
              </a:rPr>
              <a:t>thì</a:t>
            </a:r>
            <a:r>
              <a:rPr lang="vi-VN" sz="2800" dirty="0">
                <a:latin typeface="Times New Roman" panose="02020603050405020304" pitchFamily="18" charset="0"/>
                <a:cs typeface="Times New Roman" panose="02020603050405020304" pitchFamily="18" charset="0"/>
              </a:rPr>
              <a:t> chương </a:t>
            </a:r>
            <a:r>
              <a:rPr lang="vi-VN" sz="2800" dirty="0" err="1">
                <a:latin typeface="Times New Roman" panose="02020603050405020304" pitchFamily="18" charset="0"/>
                <a:cs typeface="Times New Roman" panose="02020603050405020304" pitchFamily="18" charset="0"/>
              </a:rPr>
              <a:t>trình</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sẽ</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báo</a:t>
            </a:r>
            <a:r>
              <a:rPr lang="vi-VN" sz="2800" dirty="0">
                <a:latin typeface="Times New Roman" panose="02020603050405020304" pitchFamily="18" charset="0"/>
                <a:cs typeface="Times New Roman" panose="02020603050405020304" pitchFamily="18" charset="0"/>
              </a:rPr>
              <a:t> </a:t>
            </a:r>
            <a:r>
              <a:rPr lang="vi-VN" sz="2800" dirty="0" err="1">
                <a:latin typeface="Times New Roman" panose="02020603050405020304" pitchFamily="18" charset="0"/>
                <a:cs typeface="Times New Roman" panose="02020603050405020304" pitchFamily="18" charset="0"/>
              </a:rPr>
              <a:t>lỗi</a:t>
            </a:r>
            <a:r>
              <a:rPr lang="vi-VN" sz="2800" dirty="0">
                <a:latin typeface="Times New Roman" panose="02020603050405020304" pitchFamily="18" charset="0"/>
                <a:cs typeface="Times New Roman" panose="02020603050405020304" pitchFamily="18" charset="0"/>
              </a:rPr>
              <a:t>. </a:t>
            </a:r>
            <a:br>
              <a:rPr lang="vi-VN" sz="2800"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349213" y="1365106"/>
            <a:ext cx="8782965" cy="4521923"/>
          </a:xfrm>
          <a:prstGeom prst="rect">
            <a:avLst/>
          </a:prstGeom>
        </p:spPr>
      </p:pic>
      <p:sp>
        <p:nvSpPr>
          <p:cNvPr id="4" name="Slide Number Placeholder 3"/>
          <p:cNvSpPr>
            <a:spLocks noGrp="1"/>
          </p:cNvSpPr>
          <p:nvPr>
            <p:ph type="sldNum" sz="quarter" idx="12"/>
          </p:nvPr>
        </p:nvSpPr>
        <p:spPr/>
        <p:txBody>
          <a:bodyPr/>
          <a:lstStyle/>
          <a:p>
            <a:fld id="{191AAFFC-71F7-4DEE-92F5-1956B01FBE72}" type="slidenum">
              <a:rPr lang="en-US" smtClean="0"/>
              <a:t>92</a:t>
            </a:fld>
            <a:endParaRPr lang="en-US"/>
          </a:p>
        </p:txBody>
      </p:sp>
    </p:spTree>
    <p:extLst>
      <p:ext uri="{BB962C8B-B14F-4D97-AF65-F5344CB8AC3E}">
        <p14:creationId xmlns:p14="http://schemas.microsoft.com/office/powerpoint/2010/main" val="326608373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9017</TotalTime>
  <Words>6487</Words>
  <Application>Microsoft Office PowerPoint</Application>
  <PresentationFormat>Widescreen</PresentationFormat>
  <Paragraphs>673</Paragraphs>
  <Slides>92</Slides>
  <Notes>6</Notes>
  <HiddenSlides>1</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92</vt:i4>
      </vt:variant>
    </vt:vector>
  </HeadingPairs>
  <TitlesOfParts>
    <vt:vector size="107" baseType="lpstr">
      <vt:lpstr>-apple-system</vt:lpstr>
      <vt:lpstr>Arial</vt:lpstr>
      <vt:lpstr>Arial Black</vt:lpstr>
      <vt:lpstr>Bitstream Vera Serif</vt:lpstr>
      <vt:lpstr>Calibri</vt:lpstr>
      <vt:lpstr>Calibri Light</vt:lpstr>
      <vt:lpstr>Consolas</vt:lpstr>
      <vt:lpstr>Segoe UI</vt:lpstr>
      <vt:lpstr>SFMono-Regular</vt:lpstr>
      <vt:lpstr>Symbol</vt:lpstr>
      <vt:lpstr>Tahoma</vt:lpstr>
      <vt:lpstr>Times New Roman</vt:lpstr>
      <vt:lpstr>Tw Cen MT</vt:lpstr>
      <vt:lpstr>Wingdings</vt:lpstr>
      <vt:lpstr>Retrospect</vt:lpstr>
      <vt:lpstr>Chương 2:  Lập trình căn bản với c# .net core</vt:lpstr>
      <vt:lpstr>Chương 2: Lập trình căn bản với c# .net core</vt:lpstr>
      <vt:lpstr>2.1 Cấu trúc của chương trình c#, chương trình c# đầu tiên, Namespace</vt:lpstr>
      <vt:lpstr>Tạo project</vt:lpstr>
      <vt:lpstr>Tạo project</vt:lpstr>
      <vt:lpstr>PowerPoint Presentation</vt:lpstr>
      <vt:lpstr>Tạo project</vt:lpstr>
      <vt:lpstr>Chương trình đầu tiên</vt:lpstr>
      <vt:lpstr>Chương trình đầu tiên</vt:lpstr>
      <vt:lpstr>Cấu trúc chương trình C#</vt:lpstr>
      <vt:lpstr>Cấu trúc chương trình C#</vt:lpstr>
      <vt:lpstr>Một số thành phần cơ bản của ứng dụng code C#</vt:lpstr>
      <vt:lpstr>Một số thành phần cơ bản của ứng dụng code C#</vt:lpstr>
      <vt:lpstr>Một số thành phần cơ bản của ứng dụng code C#</vt:lpstr>
      <vt:lpstr>Một số thành phần cơ bản của ứng dụng code C#</vt:lpstr>
      <vt:lpstr>2.2 Chú thích, Biến, hằng số, kiểu dữ liệu và nhập xuất dữ liệu C# .NET Core</vt:lpstr>
      <vt:lpstr>a. Chú thích</vt:lpstr>
      <vt:lpstr>b. Biến trong C#</vt:lpstr>
      <vt:lpstr>Các từ khóa trong C#</vt:lpstr>
      <vt:lpstr>Khai báo biến</vt:lpstr>
      <vt:lpstr>Khai báo biến kiểu ngầm định với var</vt:lpstr>
      <vt:lpstr>c. Kiểu dữ liệu C# định nghĩa sẵn</vt:lpstr>
      <vt:lpstr>d. Xuất dữ liệu ra màn hình Console</vt:lpstr>
      <vt:lpstr>d. Xuất dữ liệu ra màn hình Console</vt:lpstr>
      <vt:lpstr>d. Xuất dữ liệu ra màn hình Console</vt:lpstr>
      <vt:lpstr>e. Nhập dữ liệu trong C#</vt:lpstr>
      <vt:lpstr>e. Nhập dữ liệu trong C#</vt:lpstr>
      <vt:lpstr>Chuyển kiểu dữ liệu</vt:lpstr>
      <vt:lpstr>Chuyển đổi kiểu dữ liệu</vt:lpstr>
      <vt:lpstr>Chuyển đổi kiểu dữ liệu</vt:lpstr>
      <vt:lpstr>Chuyển đổi kiểu dữ liệu</vt:lpstr>
      <vt:lpstr>f. Hằng số trong C#</vt:lpstr>
      <vt:lpstr>2.3 Các toán tử</vt:lpstr>
      <vt:lpstr>Toán Tử toán học:</vt:lpstr>
      <vt:lpstr>Thứ tự ưu tiên của các toán tử trong biểu thức</vt:lpstr>
      <vt:lpstr>Toán tử gán trong C#</vt:lpstr>
      <vt:lpstr>Toán tử tăng ++ và giảm --</vt:lpstr>
      <vt:lpstr>Các toán tử so sánh trong C#</vt:lpstr>
      <vt:lpstr>Các toán tử logic</vt:lpstr>
      <vt:lpstr>2.4 Câu lệnh rẽ nhánh if, switch</vt:lpstr>
      <vt:lpstr>Câu lệnh if</vt:lpstr>
      <vt:lpstr>Ví dụ 1: Câu lệnh if</vt:lpstr>
      <vt:lpstr>Ví dụ 2: Câu lệnh if</vt:lpstr>
      <vt:lpstr>Câu lệnh ba thành phần với toán tử ? :</vt:lpstr>
      <vt:lpstr>Câu lệnh rẽ nhánh switch</vt:lpstr>
      <vt:lpstr>Ví dụ: Câu lệnh rẽ nhánh switch</vt:lpstr>
      <vt:lpstr>Ví dụ: Câu lệnh rẽ nhánh switch</vt:lpstr>
      <vt:lpstr>2.5 Vòng lặp trong trong C# và câu lệnh break continue goto </vt:lpstr>
      <vt:lpstr>Vòng lặp for c#</vt:lpstr>
      <vt:lpstr>Ví dụ Vòng lặp for c#</vt:lpstr>
      <vt:lpstr>Ví dụ Vòng lặp for c#</vt:lpstr>
      <vt:lpstr>Ví dụ Vòng lặp for c#</vt:lpstr>
      <vt:lpstr>Vòng lặp while c#</vt:lpstr>
      <vt:lpstr>Ví dụ Vòng lặp while</vt:lpstr>
      <vt:lpstr>Vòng lặp do ... while </vt:lpstr>
      <vt:lpstr>Vòng lặp do ... while </vt:lpstr>
      <vt:lpstr>Lệnh break và continue trong C#</vt:lpstr>
      <vt:lpstr>Lệnh break và continue trong C#</vt:lpstr>
      <vt:lpstr>2.6 Dữ liệu kiểu mảng</vt:lpstr>
      <vt:lpstr>2.6 Dữ liệu kiểu mảng </vt:lpstr>
      <vt:lpstr>2.6.1 Mảng một chiều  </vt:lpstr>
      <vt:lpstr>Khai báo mảng một chiều </vt:lpstr>
      <vt:lpstr>Khởi tạo mảng 1 chiều</vt:lpstr>
      <vt:lpstr>Khởi tạo mảng 1 chiều</vt:lpstr>
      <vt:lpstr>Truy cập phần tử mảng 1 chiều</vt:lpstr>
      <vt:lpstr>Thuộc tính và phương thức đối tượng mảng</vt:lpstr>
      <vt:lpstr>Một số phương thức tĩnh trong Array áp dụng vào mảng:</vt:lpstr>
      <vt:lpstr>Duyệt qua các phần tử mảng</vt:lpstr>
      <vt:lpstr>Nhập xuất mảng 1 chiều</vt:lpstr>
      <vt:lpstr>2.6.2 Mảng nhiều chiều.</vt:lpstr>
      <vt:lpstr>Mảng nhiều chiều (rank)</vt:lpstr>
      <vt:lpstr>Mảng nhiều chiều (rank)</vt:lpstr>
      <vt:lpstr>Ví dụ: Mảng nhập xuất mảng hai chiều</vt:lpstr>
      <vt:lpstr>2.6.3 Mảng ziczac</vt:lpstr>
      <vt:lpstr>Jagged Array</vt:lpstr>
      <vt:lpstr>PowerPoint Presentation</vt:lpstr>
      <vt:lpstr>PowerPoint Presentation</vt:lpstr>
      <vt:lpstr>Ví dụ mảng ziczac</vt:lpstr>
      <vt:lpstr>2.7 Struct và Enum </vt:lpstr>
      <vt:lpstr>Kiểu Liệt kê</vt:lpstr>
      <vt:lpstr>PowerPoint Presentation</vt:lpstr>
      <vt:lpstr>Enumeration</vt:lpstr>
      <vt:lpstr>Enumeration</vt:lpstr>
      <vt:lpstr>Cấu trúc (struct) trong C#</vt:lpstr>
      <vt:lpstr>PowerPoint Presentation</vt:lpstr>
      <vt:lpstr>2.8 Xử lý ngoại lệ</vt:lpstr>
      <vt:lpstr>PowerPoint Presentation</vt:lpstr>
      <vt:lpstr>PowerPoint Presentation</vt:lpstr>
      <vt:lpstr>PowerPoint Presentation</vt:lpstr>
      <vt:lpstr>PowerPoint Presentation</vt:lpstr>
      <vt:lpstr>PowerPoint Presentation</vt:lpstr>
      <vt:lpstr>Ví dụ: Trình bày việc tính bình phương của một số nguyên được nhập từ bàn phím. Nếu dữ liệu nhập vào không phải số nguyên thì chương trình sẽ báo lỗi.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Lập trình căn bản với c# .net core</dc:title>
  <dc:creator>ThinkCentre</dc:creator>
  <cp:lastModifiedBy>hien le</cp:lastModifiedBy>
  <cp:revision>36</cp:revision>
  <dcterms:created xsi:type="dcterms:W3CDTF">2025-01-02T07:11:14Z</dcterms:created>
  <dcterms:modified xsi:type="dcterms:W3CDTF">2026-02-27T01:14:33Z</dcterms:modified>
</cp:coreProperties>
</file>